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sldIdLst>
    <p:sldId id="256" r:id="rId12"/>
    <p:sldId id="257" r:id="rId13"/>
    <p:sldId id="258" r:id="rId14"/>
    <p:sldId id="259" r:id="rId15"/>
    <p:sldId id="260" r:id="rId16"/>
    <p:sldId id="261" r:id="rId17"/>
    <p:sldId id="262" r:id="rId18"/>
    <p:sldId id="263" r:id="rId19"/>
    <p:sldId id="264" r:id="rId20"/>
    <p:sldId id="265" r:id="rId21"/>
    <p:sldId id="266" r:id="rId22"/>
  </p:sldIdLst>
  <p:sldSz cx="12192000" cy="6858000"/>
  <p:notesSz cx="6797675" cy="9926638"/>
  <p:custDataLst>
    <p:tags r:id="rId30"/>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stafa Alper Aydın (Kurumsal Mimari Grup Başkanlığı)" initials="MAA(MG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969B"/>
    <a:srgbClr val="B4BEC3"/>
    <a:srgbClr val="D2DCE1"/>
    <a:srgbClr val="D7E6EB"/>
    <a:srgbClr val="870F00"/>
    <a:srgbClr val="B90F0A"/>
    <a:srgbClr val="FFFFFF"/>
    <a:srgbClr val="E10514"/>
    <a:srgbClr val="F0AE90"/>
    <a:srgbClr val="F967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ema Uygulanmış Stil 1 - Vurgu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6800" autoAdjust="0"/>
  </p:normalViewPr>
  <p:slideViewPr>
    <p:cSldViewPr>
      <p:cViewPr varScale="1">
        <p:scale>
          <a:sx n="70" d="100"/>
          <a:sy n="70" d="100"/>
        </p:scale>
        <p:origin x="592" y="52"/>
      </p:cViewPr>
      <p:guideLst>
        <p:guide orient="horz" pos="2160"/>
        <p:guide pos="3840"/>
      </p:guideLst>
    </p:cSldViewPr>
  </p:slideViewPr>
  <p:notesTextViewPr>
    <p:cViewPr>
      <p:scale>
        <a:sx n="1" d="1"/>
        <a:sy n="1" d="1"/>
      </p:scale>
      <p:origin x="0" y="0"/>
    </p:cViewPr>
  </p:notesTextViewPr>
  <p:gridSpacing cx="90001" cy="90001"/>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9" Type="http://schemas.openxmlformats.org/officeDocument/2006/relationships/notesMaster" Target="notesMasters/notesMaster1.xml"/><Relationship Id="rId30" Type="http://schemas.openxmlformats.org/officeDocument/2006/relationships/tags" Target="tags/tag1.xml"/><Relationship Id="rId31" Type="http://schemas.openxmlformats.org/officeDocument/2006/relationships/commentAuthors" Target="commentAuthors.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42478B06-6A38-4D9A-8235-039CB031A12B}" type="datetimeFigureOut">
              <a:rPr lang="tr-TR" smtClean="0"/>
              <a:t>3.10.2025</a:t>
            </a:fld>
            <a:endParaRPr lang="tr-TR"/>
          </a:p>
        </p:txBody>
      </p:sp>
      <p:sp>
        <p:nvSpPr>
          <p:cNvPr id="4" name="Slayt Görüntüsü Yer Tutucusu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322CD1B9-83A6-4443-98F3-89FCB3552544}" type="slidenum">
              <a:rPr lang="tr-TR" smtClean="0"/>
              <a:t>‹#›</a:t>
            </a:fld>
            <a:endParaRPr lang="tr-TR"/>
          </a:p>
        </p:txBody>
      </p:sp>
    </p:spTree>
    <p:extLst>
      <p:ext uri="{BB962C8B-B14F-4D97-AF65-F5344CB8AC3E}">
        <p14:creationId xmlns:p14="http://schemas.microsoft.com/office/powerpoint/2010/main" val="322657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 Merhaba, biz AI Overflow. Projemizin adı Mercek: soruna odaklanır, çözümü netleştirir.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0:10–0:20 · Takımı tek cümleyle tanıtın. (Ad, birim ve rolleri doldurun; fotoğraf eklenecekse daire içine yerleştirin.)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0:20–0:40 · Şube personeli işlem yapamadığında hata mı kural mı bilemiyor, çağrı açıyor. L1 ve L2 Kibana'da log arıyor, aynı kurum sorunu için onlarca çağrı açılıyor, bilinen çözümler kişilerde kalıyor. Yeni talepler de bu sorunlardan habersiz planlanıyor.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0:40–0:50 · Tek cümle çözüm. İki modül ve köprü: loglar, çağrı ve müşteri verisi talep kapsamına giriyor. Mercek'i müşteri değil banka çalışanları kullanıyor.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0:50–0:58 · Mercek çağrıyı kaydetmekle kalmıyor: açıklıyor, birleştiriyor, koda bağlıyor ve talebi gerekçelendiriyor. AI'ın rolü sınırlı ve denetlenebilir.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0:58–1:05 · Mercek hibrit RAG kullanır: AI Search geçmiş çözümleri, talepleri ve duyuruları anlam benzerliğiyle bulur (vektör + kelime, Türkçe analizör, Foundry embedding); Azure SQL o anki gerçek rakamları parametreli sorgularla getirir. SQL'e yazılan çözüm ve talepler AI Search indexer'ıyla birkaç dakikada kendiliğinden indekse girer; embedding'i Search, Foundry ile kendisi üretir. Foundry ikisini bağlam olarak alıp cevabı yazar; rakam uydurmaz çünkü her sayı SQL'den gelir. Model SQL yazmaz (text-to-SQL yok). CI/CD her PR'da test ve güvenlik taraması yapıyor. Sağda AI'ın ve kuralların işi. (Yalnızca gerçekten çalışan servisler bu slaytta kalmalı.)</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1:05–1:20 · Mercek'in altı kullanım senaryosu. 'CANLI' etiketliler birazdan canlı gösterilecek; diğerleri ekran görüntüsü veya kısa videoyla. (2. gün 12:00 kod dondurmada etiketleri gerçek duruma göre güncelleyin: canlı demoya yalnızca deploy edilmiş ortamda doğrulaması yeşil ve 3 provada hatasız olan senaryolar girer.)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1:20–4:15 · CANLI DEMO (~3 dk), önce demo_reset çalıştırılmış olmalı. A: Elif KRDTKULL 400.000 / 3 ay → Sorun yaşıyorum → iş kuralı kartı → Bana göster. B: Mehmet ODMTFATR Başkentgaz (odm-dogalgaz turu) → Zeynep Mercek'e yazar → müşteriye söylenecek metin, CAG-2051 bağlı vaka 12 → Kerem %93 eşleşme. C: Elif İSKİ metni → 412 / %97 / 13 hane, duyuru → Kerem: %35, kod analizi, diff, ASKİ. D: Fatma talebi → analiz kartları → önerileri kabul et → 18 a/g, 9 Kasım–2 Aralık → köprü → Evet → 20 a/g, 4 Aralık. Canlıda olmayan sahneyi ekran görüntüsüyle 15 sn'de geçin; bir sahne bozulursa videosuna geçin.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4:15–4:45 · Önce/sonra. Demo sırasında artan sayaçları ve ölçülen analiz süresini söyleyin. Varsayımları açıkça belirtin.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4:45–4:55 · 'Tamamlanan' listesini 2. gün 12:00'de gerçek duruma göre güncelleyin. S-C: AI yanlışsa → eşik, kaynak, sayı doğrulaması, insan onayı. Maliyet → küçük model, kısa bağlam, analiz başına ölçülen token.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4:55–5:00 · Sloganla kapatın. Bağlantıları sunumdan önce doldurun; şifre, anahtar veya gerçek müşteri verisi görünmediğini kontrol edin.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graphicFrame>
        <p:nvGraphicFramePr>
          <p:cNvPr id="7" name="Nesne 6" hidden="1"/>
          <p:cNvGraphicFramePr>
            <a:graphicFrameLocks noChangeAspect="1"/>
          </p:cNvGraphicFramePr>
          <p:nvPr userDrawn="1">
            <p:custDataLst>
              <p:tags r:id="rId1"/>
            </p:custDataLst>
            <p:extLst>
              <p:ext uri="{D42A27DB-BD31-4B8C-83A1-F6EECF244321}">
                <p14:modId xmlns:p14="http://schemas.microsoft.com/office/powerpoint/2010/main" val="26545864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5" name="Altbilgi Yer Tutucusu 4"/>
          <p:cNvSpPr>
            <a:spLocks noGrp="1"/>
          </p:cNvSpPr>
          <p:nvPr>
            <p:ph type="ftr" sz="quarter" idx="11"/>
          </p:nvPr>
        </p:nvSpPr>
        <p:spPr/>
        <p:txBody>
          <a:bodyPr/>
          <a:lstStyle/>
          <a:p>
            <a:endParaRPr lang="tr-TR" dirty="0"/>
          </a:p>
        </p:txBody>
      </p:sp>
      <p:sp>
        <p:nvSpPr>
          <p:cNvPr id="6" name="Slayt Numarası Yer Tutucusu 5"/>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706309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graphicFrame>
        <p:nvGraphicFramePr>
          <p:cNvPr id="7" name="Nesne 6" hidden="1"/>
          <p:cNvGraphicFramePr>
            <a:graphicFrameLocks noChangeAspect="1"/>
          </p:cNvGraphicFramePr>
          <p:nvPr userDrawn="1">
            <p:custDataLst>
              <p:tags r:id="rId1"/>
            </p:custDataLst>
            <p:extLst>
              <p:ext uri="{D42A27DB-BD31-4B8C-83A1-F6EECF244321}">
                <p14:modId xmlns:p14="http://schemas.microsoft.com/office/powerpoint/2010/main" val="38300454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5" name="Altbilgi Yer Tutucusu 4"/>
          <p:cNvSpPr>
            <a:spLocks noGrp="1"/>
          </p:cNvSpPr>
          <p:nvPr>
            <p:ph type="ftr" sz="quarter" idx="11"/>
          </p:nvPr>
        </p:nvSpPr>
        <p:spPr/>
        <p:txBody>
          <a:bodyPr/>
          <a:lstStyle/>
          <a:p>
            <a:endParaRPr lang="tr-TR" dirty="0"/>
          </a:p>
        </p:txBody>
      </p:sp>
      <p:sp>
        <p:nvSpPr>
          <p:cNvPr id="6" name="Slayt Numarası Yer Tutucusu 5"/>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2629582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graphicFrame>
        <p:nvGraphicFramePr>
          <p:cNvPr id="8" name="Nesne 7" hidden="1"/>
          <p:cNvGraphicFramePr>
            <a:graphicFrameLocks noChangeAspect="1"/>
          </p:cNvGraphicFramePr>
          <p:nvPr userDrawn="1">
            <p:custDataLst>
              <p:tags r:id="rId1"/>
            </p:custDataLst>
            <p:extLst>
              <p:ext uri="{D42A27DB-BD31-4B8C-83A1-F6EECF244321}">
                <p14:modId xmlns:p14="http://schemas.microsoft.com/office/powerpoint/2010/main" val="16446485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Unvan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5" name="Altbilgi Yer Tutucusu 4"/>
          <p:cNvSpPr>
            <a:spLocks noGrp="1"/>
          </p:cNvSpPr>
          <p:nvPr>
            <p:ph type="ftr" sz="quarter" idx="11"/>
          </p:nvPr>
        </p:nvSpPr>
        <p:spPr/>
        <p:txBody>
          <a:bodyPr/>
          <a:lstStyle/>
          <a:p>
            <a:endParaRPr lang="tr-TR" dirty="0"/>
          </a:p>
        </p:txBody>
      </p:sp>
      <p:sp>
        <p:nvSpPr>
          <p:cNvPr id="6" name="Slayt Numarası Yer Tutucusu 5"/>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2501065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6" name="Altbilgi Yer Tutucusu 5"/>
          <p:cNvSpPr>
            <a:spLocks noGrp="1"/>
          </p:cNvSpPr>
          <p:nvPr>
            <p:ph type="ftr" sz="quarter" idx="11"/>
          </p:nvPr>
        </p:nvSpPr>
        <p:spPr/>
        <p:txBody>
          <a:bodyPr/>
          <a:lstStyle/>
          <a:p>
            <a:endParaRPr lang="tr-TR" dirty="0"/>
          </a:p>
        </p:txBody>
      </p:sp>
      <p:sp>
        <p:nvSpPr>
          <p:cNvPr id="7" name="Slayt Numarası Yer Tutucusu 6"/>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3073176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8" name="Altbilgi Yer Tutucusu 7"/>
          <p:cNvSpPr>
            <a:spLocks noGrp="1"/>
          </p:cNvSpPr>
          <p:nvPr>
            <p:ph type="ftr" sz="quarter" idx="11"/>
          </p:nvPr>
        </p:nvSpPr>
        <p:spPr/>
        <p:txBody>
          <a:bodyPr/>
          <a:lstStyle/>
          <a:p>
            <a:endParaRPr lang="tr-TR" dirty="0"/>
          </a:p>
        </p:txBody>
      </p:sp>
      <p:sp>
        <p:nvSpPr>
          <p:cNvPr id="9" name="Slayt Numarası Yer Tutucusu 8"/>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327081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4" name="Altbilgi Yer Tutucusu 3"/>
          <p:cNvSpPr>
            <a:spLocks noGrp="1"/>
          </p:cNvSpPr>
          <p:nvPr>
            <p:ph type="ftr" sz="quarter" idx="11"/>
          </p:nvPr>
        </p:nvSpPr>
        <p:spPr/>
        <p:txBody>
          <a:bodyPr/>
          <a:lstStyle/>
          <a:p>
            <a:endParaRPr lang="tr-TR" dirty="0"/>
          </a:p>
        </p:txBody>
      </p:sp>
      <p:sp>
        <p:nvSpPr>
          <p:cNvPr id="5" name="Slayt Numarası Yer Tutucusu 4"/>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2535046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3" name="Altbilgi Yer Tutucusu 2"/>
          <p:cNvSpPr>
            <a:spLocks noGrp="1"/>
          </p:cNvSpPr>
          <p:nvPr>
            <p:ph type="ftr" sz="quarter" idx="11"/>
          </p:nvPr>
        </p:nvSpPr>
        <p:spPr/>
        <p:txBody>
          <a:bodyPr/>
          <a:lstStyle/>
          <a:p>
            <a:endParaRPr lang="tr-TR" dirty="0"/>
          </a:p>
        </p:txBody>
      </p:sp>
      <p:sp>
        <p:nvSpPr>
          <p:cNvPr id="4" name="Slayt Numarası Yer Tutucusu 3"/>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256463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6" name="Altbilgi Yer Tutucusu 5"/>
          <p:cNvSpPr>
            <a:spLocks noGrp="1"/>
          </p:cNvSpPr>
          <p:nvPr>
            <p:ph type="ftr" sz="quarter" idx="11"/>
          </p:nvPr>
        </p:nvSpPr>
        <p:spPr/>
        <p:txBody>
          <a:bodyPr/>
          <a:lstStyle/>
          <a:p>
            <a:endParaRPr lang="tr-TR" dirty="0"/>
          </a:p>
        </p:txBody>
      </p:sp>
      <p:sp>
        <p:nvSpPr>
          <p:cNvPr id="7" name="Slayt Numarası Yer Tutucusu 6"/>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1453501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dirty="0"/>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6" name="Altbilgi Yer Tutucusu 5"/>
          <p:cNvSpPr>
            <a:spLocks noGrp="1"/>
          </p:cNvSpPr>
          <p:nvPr>
            <p:ph type="ftr" sz="quarter" idx="11"/>
          </p:nvPr>
        </p:nvSpPr>
        <p:spPr/>
        <p:txBody>
          <a:bodyPr/>
          <a:lstStyle/>
          <a:p>
            <a:endParaRPr lang="tr-TR" dirty="0"/>
          </a:p>
        </p:txBody>
      </p:sp>
      <p:sp>
        <p:nvSpPr>
          <p:cNvPr id="7" name="Slayt Numarası Yer Tutucusu 6"/>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1492694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5" name="Altbilgi Yer Tutucusu 4"/>
          <p:cNvSpPr>
            <a:spLocks noGrp="1"/>
          </p:cNvSpPr>
          <p:nvPr>
            <p:ph type="ftr" sz="quarter" idx="11"/>
          </p:nvPr>
        </p:nvSpPr>
        <p:spPr/>
        <p:txBody>
          <a:bodyPr/>
          <a:lstStyle/>
          <a:p>
            <a:endParaRPr lang="tr-TR" dirty="0"/>
          </a:p>
        </p:txBody>
      </p:sp>
      <p:sp>
        <p:nvSpPr>
          <p:cNvPr id="6" name="Slayt Numarası Yer Tutucusu 5"/>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1013179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08896AB5-6331-4D15-9B8F-6E61C0B1DA97}" type="datetimeFigureOut">
              <a:rPr lang="tr-TR" smtClean="0"/>
              <a:t>3.10.2025</a:t>
            </a:fld>
            <a:endParaRPr lang="tr-TR" dirty="0"/>
          </a:p>
        </p:txBody>
      </p:sp>
      <p:sp>
        <p:nvSpPr>
          <p:cNvPr id="5" name="Altbilgi Yer Tutucusu 4"/>
          <p:cNvSpPr>
            <a:spLocks noGrp="1"/>
          </p:cNvSpPr>
          <p:nvPr>
            <p:ph type="ftr" sz="quarter" idx="11"/>
          </p:nvPr>
        </p:nvSpPr>
        <p:spPr/>
        <p:txBody>
          <a:bodyPr/>
          <a:lstStyle/>
          <a:p>
            <a:endParaRPr lang="tr-TR" dirty="0"/>
          </a:p>
        </p:txBody>
      </p:sp>
      <p:sp>
        <p:nvSpPr>
          <p:cNvPr id="6" name="Slayt Numarası Yer Tutucusu 5"/>
          <p:cNvSpPr>
            <a:spLocks noGrp="1"/>
          </p:cNvSpPr>
          <p:nvPr>
            <p:ph type="sldNum" sz="quarter" idx="12"/>
          </p:nvPr>
        </p:nvSpPr>
        <p:spPr/>
        <p:txBody>
          <a:bodyPr/>
          <a:lstStyle/>
          <a:p>
            <a:fld id="{1B160DAF-6CD0-4F84-B624-AA1D29C488AF}" type="slidenum">
              <a:rPr lang="tr-TR" smtClean="0"/>
              <a:t>‹#›</a:t>
            </a:fld>
            <a:endParaRPr lang="tr-TR" dirty="0"/>
          </a:p>
        </p:txBody>
      </p:sp>
    </p:spTree>
    <p:extLst>
      <p:ext uri="{BB962C8B-B14F-4D97-AF65-F5344CB8AC3E}">
        <p14:creationId xmlns:p14="http://schemas.microsoft.com/office/powerpoint/2010/main" val="416299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graphicFrame>
        <p:nvGraphicFramePr>
          <p:cNvPr id="2" name="Nesne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ntent Placeholder 4"/>
          <p:cNvSpPr>
            <a:spLocks noGrp="1"/>
          </p:cNvSpPr>
          <p:nvPr>
            <p:ph sz="quarter" idx="11"/>
          </p:nvPr>
        </p:nvSpPr>
        <p:spPr bwMode="gray">
          <a:xfrm>
            <a:off x="460375" y="1325564"/>
            <a:ext cx="11272838" cy="46608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bwMode="auto">
          <a:xfrm>
            <a:off x="460375" y="228600"/>
            <a:ext cx="11272838" cy="535531"/>
          </a:xfrm>
          <a:prstGeom prst="rect">
            <a:avLst/>
          </a:prstGeom>
        </p:spPr>
        <p:txBody>
          <a:bodyPr>
            <a:spAutoFit/>
          </a:bodyPr>
          <a:lstStyle/>
          <a:p>
            <a:r>
              <a:rPr lang="en-US"/>
              <a:t>Click to edit Master title style</a:t>
            </a:r>
            <a:endParaRPr lang="en-US" dirty="0"/>
          </a:p>
        </p:txBody>
      </p:sp>
    </p:spTree>
    <p:extLst>
      <p:ext uri="{BB962C8B-B14F-4D97-AF65-F5344CB8AC3E}">
        <p14:creationId xmlns:p14="http://schemas.microsoft.com/office/powerpoint/2010/main" val="141594647"/>
      </p:ext>
    </p:extLst>
  </p:cSld>
  <p:clrMapOvr>
    <a:masterClrMapping/>
  </p:clrMapOvr>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2.xml"/><Relationship Id="rId15" Type="http://schemas.openxmlformats.org/officeDocument/2006/relationships/image" Target="../media/image1.png"/><Relationship Id="rId16" Type="http://schemas.openxmlformats.org/officeDocument/2006/relationships/oleObject" Target="../embeddings/oleObject1.bin"/><Relationship Id="rId17"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6EE8CAE-E084-41A3-8171-2677F1F6650B}"/>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55935" y="6399033"/>
            <a:ext cx="1854959" cy="324000"/>
          </a:xfrm>
          <a:prstGeom prst="rect">
            <a:avLst/>
          </a:prstGeom>
        </p:spPr>
      </p:pic>
      <p:graphicFrame>
        <p:nvGraphicFramePr>
          <p:cNvPr id="8" name="Nesne 7" hidden="1"/>
          <p:cNvGraphicFramePr>
            <a:graphicFrameLocks noChangeAspect="1"/>
          </p:cNvGraphicFramePr>
          <p:nvPr>
            <p:custDataLst>
              <p:tags r:id="rId14"/>
            </p:custDataLst>
            <p:extLst>
              <p:ext uri="{D42A27DB-BD31-4B8C-83A1-F6EECF244321}">
                <p14:modId xmlns:p14="http://schemas.microsoft.com/office/powerpoint/2010/main" val="34681298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0" name=""/>
                      <p:cNvPicPr/>
                      <p:nvPr/>
                    </p:nvPicPr>
                    <p:blipFill>
                      <a:blip r:embed="rId17"/>
                      <a:stretch>
                        <a:fillRect/>
                      </a:stretch>
                    </p:blipFill>
                    <p:spPr>
                      <a:xfrm>
                        <a:off x="1588" y="1588"/>
                        <a:ext cx="1587" cy="1587"/>
                      </a:xfrm>
                      <a:prstGeom prst="rect">
                        <a:avLst/>
                      </a:prstGeom>
                    </p:spPr>
                  </p:pic>
                </p:oleObj>
              </mc:Fallback>
            </mc:AlternateContent>
          </a:graphicData>
        </a:graphic>
      </p:graphicFrame>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2315958" y="6356350"/>
            <a:ext cx="126544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896AB5-6331-4D15-9B8F-6E61C0B1DA97}" type="datetimeFigureOut">
              <a:rPr lang="tr-TR" smtClean="0"/>
              <a:t>3.10.2025</a:t>
            </a:fld>
            <a:endParaRPr lang="tr-TR" dirty="0"/>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dirty="0"/>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160DAF-6CD0-4F84-B624-AA1D29C488AF}" type="slidenum">
              <a:rPr lang="tr-TR" smtClean="0"/>
              <a:t>‹#›</a:t>
            </a:fld>
            <a:endParaRPr lang="tr-TR" dirty="0"/>
          </a:p>
        </p:txBody>
      </p:sp>
    </p:spTree>
    <p:extLst>
      <p:ext uri="{BB962C8B-B14F-4D97-AF65-F5344CB8AC3E}">
        <p14:creationId xmlns:p14="http://schemas.microsoft.com/office/powerpoint/2010/main" val="942725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4.png"/><Relationship Id="rId7"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417320"/>
            <a:ext cx="6217920" cy="365760"/>
          </a:xfrm>
          <a:prstGeom prst="rect">
            <a:avLst/>
          </a:prstGeom>
          <a:noFill/>
        </p:spPr>
        <p:txBody>
          <a:bodyPr wrap="square" anchor="t" lIns="0" rIns="0" tIns="0" bIns="0">
            <a:spAutoFit/>
          </a:bodyPr>
          <a:lstStyle/>
          <a:p>
            <a:pPr algn="l">
              <a:spcAft>
                <a:spcPts val="400"/>
              </a:spcAft>
            </a:pPr>
            <a:r>
              <a:rPr sz="1400" b="1" i="0">
                <a:solidFill>
                  <a:srgbClr val="E10514"/>
                </a:solidFill>
                <a:latin typeface="Calibri"/>
              </a:rPr>
              <a:t>ZİRAAT TEKNOLOJİ YAPAY ZEKÂ HACKATHONU · TEMA 2</a:t>
            </a:r>
          </a:p>
        </p:txBody>
      </p:sp>
      <p:sp>
        <p:nvSpPr>
          <p:cNvPr id="3" name="TextBox 2"/>
          <p:cNvSpPr txBox="1"/>
          <p:nvPr/>
        </p:nvSpPr>
        <p:spPr>
          <a:xfrm>
            <a:off x="914400" y="1828800"/>
            <a:ext cx="6217920" cy="1188720"/>
          </a:xfrm>
          <a:prstGeom prst="rect">
            <a:avLst/>
          </a:prstGeom>
          <a:noFill/>
        </p:spPr>
        <p:txBody>
          <a:bodyPr wrap="square" anchor="t" lIns="0" rIns="0" tIns="0" bIns="0">
            <a:spAutoFit/>
          </a:bodyPr>
          <a:lstStyle/>
          <a:p>
            <a:pPr algn="l">
              <a:spcAft>
                <a:spcPts val="400"/>
              </a:spcAft>
            </a:pPr>
            <a:r>
              <a:rPr sz="7200" b="1" i="0">
                <a:solidFill>
                  <a:srgbClr val="1E1E1E"/>
                </a:solidFill>
                <a:latin typeface="Calibri"/>
              </a:rPr>
              <a:t>MERCEK</a:t>
            </a:r>
          </a:p>
        </p:txBody>
      </p:sp>
      <p:sp>
        <p:nvSpPr>
          <p:cNvPr id="4" name="Rectangle 3"/>
          <p:cNvSpPr/>
          <p:nvPr/>
        </p:nvSpPr>
        <p:spPr>
          <a:xfrm>
            <a:off x="960120" y="3063240"/>
            <a:ext cx="1097280" cy="64008"/>
          </a:xfrm>
          <a:prstGeom prst="rect">
            <a:avLst/>
          </a:prstGeom>
          <a:solidFill>
            <a:srgbClr val="E10514"/>
          </a:solidFill>
          <a:ln>
            <a:noFill/>
          </a:ln>
          <a:effectLst/>
        </p:spPr>
        <p:txBody>
          <a:bodyPr rtlCol="0" anchor="ctr"/>
          <a:lstStyle/>
          <a:p/>
        </p:txBody>
      </p:sp>
      <p:sp>
        <p:nvSpPr>
          <p:cNvPr id="5" name="TextBox 4"/>
          <p:cNvSpPr txBox="1"/>
          <p:nvPr/>
        </p:nvSpPr>
        <p:spPr>
          <a:xfrm>
            <a:off x="914400" y="3291840"/>
            <a:ext cx="6217920" cy="548640"/>
          </a:xfrm>
          <a:prstGeom prst="rect">
            <a:avLst/>
          </a:prstGeom>
          <a:noFill/>
        </p:spPr>
        <p:txBody>
          <a:bodyPr wrap="square" anchor="t" lIns="0" rIns="0" tIns="0" bIns="0">
            <a:spAutoFit/>
          </a:bodyPr>
          <a:lstStyle/>
          <a:p>
            <a:pPr algn="l">
              <a:spcAft>
                <a:spcPts val="400"/>
              </a:spcAft>
            </a:pPr>
            <a:r>
              <a:rPr sz="2600" b="0" i="1">
                <a:solidFill>
                  <a:srgbClr val="B90F0A"/>
                </a:solidFill>
                <a:latin typeface="Calibri"/>
              </a:rPr>
              <a:t>Soruna odaklanır, çözümü netleştirir.</a:t>
            </a:r>
          </a:p>
        </p:txBody>
      </p:sp>
      <p:sp>
        <p:nvSpPr>
          <p:cNvPr id="6" name="TextBox 5"/>
          <p:cNvSpPr txBox="1"/>
          <p:nvPr/>
        </p:nvSpPr>
        <p:spPr>
          <a:xfrm>
            <a:off x="914400" y="4343400"/>
            <a:ext cx="6217920" cy="822960"/>
          </a:xfrm>
          <a:prstGeom prst="rect">
            <a:avLst/>
          </a:prstGeom>
          <a:noFill/>
        </p:spPr>
        <p:txBody>
          <a:bodyPr wrap="square" anchor="t" lIns="0" rIns="0" tIns="0" bIns="0">
            <a:spAutoFit/>
          </a:bodyPr>
          <a:lstStyle/>
          <a:p>
            <a:pPr algn="l">
              <a:spcAft>
                <a:spcPts val="400"/>
              </a:spcAft>
            </a:pPr>
            <a:r>
              <a:rPr sz="2000" b="1" i="0">
                <a:solidFill>
                  <a:srgbClr val="1E1E1E"/>
                </a:solidFill>
                <a:latin typeface="Calibri"/>
              </a:rPr>
              <a:t>AI Overflow Takımı</a:t>
            </a:r>
          </a:p>
          <a:p>
            <a:pPr algn="l">
              <a:spcAft>
                <a:spcPts val="400"/>
              </a:spcAft>
            </a:pPr>
            <a:r>
              <a:rPr sz="1600" b="0" i="0">
                <a:solidFill>
                  <a:srgbClr val="91969B"/>
                </a:solidFill>
                <a:latin typeface="Calibri"/>
              </a:rPr>
              <a:t>17 Ekim 2026</a:t>
            </a:r>
          </a:p>
        </p:txBody>
      </p:sp>
      <p:pic>
        <p:nvPicPr>
          <p:cNvPr id="7" name="Picture 6" descr="mercek-logo.png"/>
          <p:cNvPicPr>
            <a:picLocks noChangeAspect="1"/>
          </p:cNvPicPr>
          <p:nvPr/>
        </p:nvPicPr>
        <p:blipFill>
          <a:blip r:embed="rId2"/>
          <a:stretch>
            <a:fillRect/>
          </a:stretch>
        </p:blipFill>
        <p:spPr>
          <a:xfrm>
            <a:off x="7086600" y="914400"/>
            <a:ext cx="4206240" cy="42062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 y="91440"/>
            <a:ext cx="10058400" cy="566928"/>
          </a:xfrm>
          <a:prstGeom prst="rect">
            <a:avLst/>
          </a:prstGeom>
          <a:noFill/>
        </p:spPr>
        <p:txBody>
          <a:bodyPr wrap="square" anchor="t" lIns="0" rIns="0" tIns="0" bIns="0">
            <a:spAutoFit/>
          </a:bodyPr>
          <a:lstStyle/>
          <a:p>
            <a:pPr algn="l">
              <a:spcAft>
                <a:spcPts val="400"/>
              </a:spcAft>
            </a:pPr>
            <a:r>
              <a:rPr sz="3200" b="1" i="0">
                <a:solidFill>
                  <a:srgbClr val="1E1E1E"/>
                </a:solidFill>
                <a:latin typeface="Calibri"/>
              </a:rPr>
              <a:t>AI Overflow Takımı</a:t>
            </a:r>
          </a:p>
        </p:txBody>
      </p:sp>
      <p:pic>
        <p:nvPicPr>
          <p:cNvPr id="3" name="Picture 2" descr="mercek-logo-kucuk.png"/>
          <p:cNvPicPr>
            <a:picLocks noChangeAspect="1"/>
          </p:cNvPicPr>
          <p:nvPr/>
        </p:nvPicPr>
        <p:blipFill>
          <a:blip r:embed="rId2"/>
          <a:stretch>
            <a:fillRect/>
          </a:stretch>
        </p:blipFill>
        <p:spPr>
          <a:xfrm>
            <a:off x="10561320" y="155448"/>
            <a:ext cx="351129" cy="351129"/>
          </a:xfrm>
          <a:prstGeom prst="rect">
            <a:avLst/>
          </a:prstGeom>
        </p:spPr>
      </p:pic>
      <p:sp>
        <p:nvSpPr>
          <p:cNvPr id="4" name="TextBox 3"/>
          <p:cNvSpPr txBox="1"/>
          <p:nvPr/>
        </p:nvSpPr>
        <p:spPr>
          <a:xfrm>
            <a:off x="10978286" y="155448"/>
            <a:ext cx="1645919" cy="351129"/>
          </a:xfrm>
          <a:prstGeom prst="rect">
            <a:avLst/>
          </a:prstGeom>
          <a:noFill/>
        </p:spPr>
        <p:txBody>
          <a:bodyPr wrap="square" anchor="ctr" lIns="0" rIns="0" tIns="0" bIns="0">
            <a:spAutoFit/>
          </a:bodyPr>
          <a:lstStyle/>
          <a:p>
            <a:pPr algn="l">
              <a:spcAft>
                <a:spcPts val="400"/>
              </a:spcAft>
            </a:pPr>
            <a:r>
              <a:rPr sz="1500" b="1" i="0">
                <a:solidFill>
                  <a:srgbClr val="1E1E1E"/>
                </a:solidFill>
                <a:latin typeface="Calibri"/>
              </a:rPr>
              <a:t>MERCEK</a:t>
            </a:r>
          </a:p>
        </p:txBody>
      </p:sp>
      <p:sp>
        <p:nvSpPr>
          <p:cNvPr id="5" name="TextBox 4"/>
          <p:cNvSpPr txBox="1"/>
          <p:nvPr/>
        </p:nvSpPr>
        <p:spPr>
          <a:xfrm>
            <a:off x="11292840" y="6382512"/>
            <a:ext cx="685800" cy="274320"/>
          </a:xfrm>
          <a:prstGeom prst="rect">
            <a:avLst/>
          </a:prstGeom>
          <a:noFill/>
        </p:spPr>
        <p:txBody>
          <a:bodyPr wrap="square" anchor="t" lIns="0" rIns="0" tIns="0" bIns="0">
            <a:spAutoFit/>
          </a:bodyPr>
          <a:lstStyle/>
          <a:p>
            <a:pPr algn="r">
              <a:spcAft>
                <a:spcPts val="400"/>
              </a:spcAft>
            </a:pPr>
            <a:r>
              <a:rPr sz="1100" b="0" i="0">
                <a:solidFill>
                  <a:srgbClr val="91969B"/>
                </a:solidFill>
                <a:latin typeface="Calibri"/>
              </a:rPr>
              <a:t>2</a:t>
            </a:r>
          </a:p>
        </p:txBody>
      </p:sp>
      <p:sp>
        <p:nvSpPr>
          <p:cNvPr id="6" name="Rounded Rectangle 5"/>
          <p:cNvSpPr/>
          <p:nvPr/>
        </p:nvSpPr>
        <p:spPr>
          <a:xfrm>
            <a:off x="502920" y="1325880"/>
            <a:ext cx="2103120" cy="4206240"/>
          </a:xfrm>
          <a:prstGeom prst="roundRect">
            <a:avLst>
              <a:gd name="adj" fmla="val 6000"/>
            </a:avLst>
          </a:prstGeom>
          <a:solidFill>
            <a:srgbClr val="F2F5F6"/>
          </a:solidFill>
          <a:ln>
            <a:noFill/>
          </a:ln>
          <a:effectLst/>
        </p:spPr>
        <p:txBody>
          <a:bodyPr rtlCol="0" anchor="ctr"/>
          <a:lstStyle/>
          <a:p/>
        </p:txBody>
      </p:sp>
      <p:sp>
        <p:nvSpPr>
          <p:cNvPr id="7" name="Oval 6"/>
          <p:cNvSpPr/>
          <p:nvPr/>
        </p:nvSpPr>
        <p:spPr>
          <a:xfrm>
            <a:off x="960119" y="1691640"/>
            <a:ext cx="1188720" cy="1188720"/>
          </a:xfrm>
          <a:prstGeom prst="ellipse">
            <a:avLst/>
          </a:prstGeom>
          <a:solidFill>
            <a:srgbClr val="FFFFFF"/>
          </a:solidFill>
          <a:ln w="15875">
            <a:solidFill>
              <a:srgbClr val="E10514"/>
            </a:solidFill>
          </a:ln>
          <a:effectLst/>
        </p:spPr>
        <p:txBody>
          <a:bodyPr rtlCol="0" anchor="ctr"/>
          <a:lstStyle/>
          <a:p/>
        </p:txBody>
      </p:sp>
      <p:pic>
        <p:nvPicPr>
          <p:cNvPr id="8" name="Picture 7" descr="user-g.png"/>
          <p:cNvPicPr>
            <a:picLocks noChangeAspect="1"/>
          </p:cNvPicPr>
          <p:nvPr/>
        </p:nvPicPr>
        <p:blipFill>
          <a:blip r:embed="rId3"/>
          <a:stretch>
            <a:fillRect/>
          </a:stretch>
        </p:blipFill>
        <p:spPr>
          <a:xfrm>
            <a:off x="1280160" y="2011680"/>
            <a:ext cx="548640" cy="548640"/>
          </a:xfrm>
          <a:prstGeom prst="rect">
            <a:avLst/>
          </a:prstGeom>
        </p:spPr>
      </p:pic>
      <p:sp>
        <p:nvSpPr>
          <p:cNvPr id="9" name="TextBox 8"/>
          <p:cNvSpPr txBox="1"/>
          <p:nvPr/>
        </p:nvSpPr>
        <p:spPr>
          <a:xfrm>
            <a:off x="640080" y="3108960"/>
            <a:ext cx="1828799" cy="2011680"/>
          </a:xfrm>
          <a:prstGeom prst="rect">
            <a:avLst/>
          </a:prstGeom>
          <a:noFill/>
        </p:spPr>
        <p:txBody>
          <a:bodyPr wrap="square" anchor="t" lIns="0" rIns="0" tIns="0" bIns="0">
            <a:spAutoFit/>
          </a:bodyPr>
          <a:lstStyle/>
          <a:p>
            <a:pPr algn="ctr">
              <a:spcAft>
                <a:spcPts val="600"/>
              </a:spcAft>
            </a:pPr>
            <a:r>
              <a:rPr sz="1800" b="1" i="0">
                <a:solidFill>
                  <a:srgbClr val="1E1E1E"/>
                </a:solidFill>
                <a:latin typeface="Calibri"/>
              </a:rPr>
              <a:t>Ad Soyad</a:t>
            </a:r>
          </a:p>
          <a:p>
            <a:pPr algn="ctr">
              <a:spcAft>
                <a:spcPts val="600"/>
              </a:spcAft>
            </a:pPr>
            <a:r>
              <a:rPr sz="1400" b="0" i="0">
                <a:solidFill>
                  <a:srgbClr val="91969B"/>
                </a:solidFill>
                <a:latin typeface="Calibri"/>
              </a:rPr>
              <a:t>Birim</a:t>
            </a:r>
          </a:p>
          <a:p>
            <a:pPr algn="ctr">
              <a:spcAft>
                <a:spcPts val="600"/>
              </a:spcAft>
            </a:pPr>
            <a:r>
              <a:rPr sz="1400" b="0" i="0">
                <a:solidFill>
                  <a:srgbClr val="1E1E1E"/>
                </a:solidFill>
                <a:latin typeface="Calibri"/>
              </a:rPr>
              <a:t>Projedeki rolü</a:t>
            </a:r>
          </a:p>
        </p:txBody>
      </p:sp>
      <p:sp>
        <p:nvSpPr>
          <p:cNvPr id="10" name="Rounded Rectangle 9"/>
          <p:cNvSpPr/>
          <p:nvPr/>
        </p:nvSpPr>
        <p:spPr>
          <a:xfrm>
            <a:off x="2788920" y="1325880"/>
            <a:ext cx="2103120" cy="4206240"/>
          </a:xfrm>
          <a:prstGeom prst="roundRect">
            <a:avLst>
              <a:gd name="adj" fmla="val 6000"/>
            </a:avLst>
          </a:prstGeom>
          <a:solidFill>
            <a:srgbClr val="F2F5F6"/>
          </a:solidFill>
          <a:ln>
            <a:noFill/>
          </a:ln>
          <a:effectLst/>
        </p:spPr>
        <p:txBody>
          <a:bodyPr rtlCol="0" anchor="ctr"/>
          <a:lstStyle/>
          <a:p/>
        </p:txBody>
      </p:sp>
      <p:sp>
        <p:nvSpPr>
          <p:cNvPr id="11" name="Oval 10"/>
          <p:cNvSpPr/>
          <p:nvPr/>
        </p:nvSpPr>
        <p:spPr>
          <a:xfrm>
            <a:off x="3246119" y="1691640"/>
            <a:ext cx="1188720" cy="1188720"/>
          </a:xfrm>
          <a:prstGeom prst="ellipse">
            <a:avLst/>
          </a:prstGeom>
          <a:solidFill>
            <a:srgbClr val="FFFFFF"/>
          </a:solidFill>
          <a:ln w="15875">
            <a:solidFill>
              <a:srgbClr val="E10514"/>
            </a:solidFill>
          </a:ln>
          <a:effectLst/>
        </p:spPr>
        <p:txBody>
          <a:bodyPr rtlCol="0" anchor="ctr"/>
          <a:lstStyle/>
          <a:p/>
        </p:txBody>
      </p:sp>
      <p:pic>
        <p:nvPicPr>
          <p:cNvPr id="12" name="Picture 11" descr="user-g.png"/>
          <p:cNvPicPr>
            <a:picLocks noChangeAspect="1"/>
          </p:cNvPicPr>
          <p:nvPr/>
        </p:nvPicPr>
        <p:blipFill>
          <a:blip r:embed="rId3"/>
          <a:stretch>
            <a:fillRect/>
          </a:stretch>
        </p:blipFill>
        <p:spPr>
          <a:xfrm>
            <a:off x="3566159" y="2011680"/>
            <a:ext cx="548640" cy="548640"/>
          </a:xfrm>
          <a:prstGeom prst="rect">
            <a:avLst/>
          </a:prstGeom>
        </p:spPr>
      </p:pic>
      <p:sp>
        <p:nvSpPr>
          <p:cNvPr id="13" name="TextBox 12"/>
          <p:cNvSpPr txBox="1"/>
          <p:nvPr/>
        </p:nvSpPr>
        <p:spPr>
          <a:xfrm>
            <a:off x="2926079" y="3108960"/>
            <a:ext cx="1828799" cy="2011680"/>
          </a:xfrm>
          <a:prstGeom prst="rect">
            <a:avLst/>
          </a:prstGeom>
          <a:noFill/>
        </p:spPr>
        <p:txBody>
          <a:bodyPr wrap="square" anchor="t" lIns="0" rIns="0" tIns="0" bIns="0">
            <a:spAutoFit/>
          </a:bodyPr>
          <a:lstStyle/>
          <a:p>
            <a:pPr algn="ctr">
              <a:spcAft>
                <a:spcPts val="600"/>
              </a:spcAft>
            </a:pPr>
            <a:r>
              <a:rPr sz="1800" b="1" i="0">
                <a:solidFill>
                  <a:srgbClr val="1E1E1E"/>
                </a:solidFill>
                <a:latin typeface="Calibri"/>
              </a:rPr>
              <a:t>Ad Soyad</a:t>
            </a:r>
          </a:p>
          <a:p>
            <a:pPr algn="ctr">
              <a:spcAft>
                <a:spcPts val="600"/>
              </a:spcAft>
            </a:pPr>
            <a:r>
              <a:rPr sz="1400" b="0" i="0">
                <a:solidFill>
                  <a:srgbClr val="91969B"/>
                </a:solidFill>
                <a:latin typeface="Calibri"/>
              </a:rPr>
              <a:t>Birim</a:t>
            </a:r>
          </a:p>
          <a:p>
            <a:pPr algn="ctr">
              <a:spcAft>
                <a:spcPts val="600"/>
              </a:spcAft>
            </a:pPr>
            <a:r>
              <a:rPr sz="1400" b="0" i="0">
                <a:solidFill>
                  <a:srgbClr val="1E1E1E"/>
                </a:solidFill>
                <a:latin typeface="Calibri"/>
              </a:rPr>
              <a:t>Projedeki rolü</a:t>
            </a:r>
          </a:p>
        </p:txBody>
      </p:sp>
      <p:sp>
        <p:nvSpPr>
          <p:cNvPr id="14" name="Rounded Rectangle 13"/>
          <p:cNvSpPr/>
          <p:nvPr/>
        </p:nvSpPr>
        <p:spPr>
          <a:xfrm>
            <a:off x="5074920" y="1325880"/>
            <a:ext cx="2103120" cy="4206240"/>
          </a:xfrm>
          <a:prstGeom prst="roundRect">
            <a:avLst>
              <a:gd name="adj" fmla="val 6000"/>
            </a:avLst>
          </a:prstGeom>
          <a:solidFill>
            <a:srgbClr val="F2F5F6"/>
          </a:solidFill>
          <a:ln>
            <a:noFill/>
          </a:ln>
          <a:effectLst/>
        </p:spPr>
        <p:txBody>
          <a:bodyPr rtlCol="0" anchor="ctr"/>
          <a:lstStyle/>
          <a:p/>
        </p:txBody>
      </p:sp>
      <p:sp>
        <p:nvSpPr>
          <p:cNvPr id="15" name="Oval 14"/>
          <p:cNvSpPr/>
          <p:nvPr/>
        </p:nvSpPr>
        <p:spPr>
          <a:xfrm>
            <a:off x="5532119" y="1691640"/>
            <a:ext cx="1188720" cy="1188720"/>
          </a:xfrm>
          <a:prstGeom prst="ellipse">
            <a:avLst/>
          </a:prstGeom>
          <a:solidFill>
            <a:srgbClr val="FFFFFF"/>
          </a:solidFill>
          <a:ln w="15875">
            <a:solidFill>
              <a:srgbClr val="E10514"/>
            </a:solidFill>
          </a:ln>
          <a:effectLst/>
        </p:spPr>
        <p:txBody>
          <a:bodyPr rtlCol="0" anchor="ctr"/>
          <a:lstStyle/>
          <a:p/>
        </p:txBody>
      </p:sp>
      <p:pic>
        <p:nvPicPr>
          <p:cNvPr id="16" name="Picture 15" descr="user-g.png"/>
          <p:cNvPicPr>
            <a:picLocks noChangeAspect="1"/>
          </p:cNvPicPr>
          <p:nvPr/>
        </p:nvPicPr>
        <p:blipFill>
          <a:blip r:embed="rId3"/>
          <a:stretch>
            <a:fillRect/>
          </a:stretch>
        </p:blipFill>
        <p:spPr>
          <a:xfrm>
            <a:off x="5852159" y="2011680"/>
            <a:ext cx="548640" cy="548640"/>
          </a:xfrm>
          <a:prstGeom prst="rect">
            <a:avLst/>
          </a:prstGeom>
        </p:spPr>
      </p:pic>
      <p:sp>
        <p:nvSpPr>
          <p:cNvPr id="17" name="TextBox 16"/>
          <p:cNvSpPr txBox="1"/>
          <p:nvPr/>
        </p:nvSpPr>
        <p:spPr>
          <a:xfrm>
            <a:off x="5212080" y="3108960"/>
            <a:ext cx="1828799" cy="2011680"/>
          </a:xfrm>
          <a:prstGeom prst="rect">
            <a:avLst/>
          </a:prstGeom>
          <a:noFill/>
        </p:spPr>
        <p:txBody>
          <a:bodyPr wrap="square" anchor="t" lIns="0" rIns="0" tIns="0" bIns="0">
            <a:spAutoFit/>
          </a:bodyPr>
          <a:lstStyle/>
          <a:p>
            <a:pPr algn="ctr">
              <a:spcAft>
                <a:spcPts val="600"/>
              </a:spcAft>
            </a:pPr>
            <a:r>
              <a:rPr sz="1800" b="1" i="0">
                <a:solidFill>
                  <a:srgbClr val="1E1E1E"/>
                </a:solidFill>
                <a:latin typeface="Calibri"/>
              </a:rPr>
              <a:t>Ad Soyad</a:t>
            </a:r>
          </a:p>
          <a:p>
            <a:pPr algn="ctr">
              <a:spcAft>
                <a:spcPts val="600"/>
              </a:spcAft>
            </a:pPr>
            <a:r>
              <a:rPr sz="1400" b="0" i="0">
                <a:solidFill>
                  <a:srgbClr val="91969B"/>
                </a:solidFill>
                <a:latin typeface="Calibri"/>
              </a:rPr>
              <a:t>Birim</a:t>
            </a:r>
          </a:p>
          <a:p>
            <a:pPr algn="ctr">
              <a:spcAft>
                <a:spcPts val="600"/>
              </a:spcAft>
            </a:pPr>
            <a:r>
              <a:rPr sz="1400" b="0" i="0">
                <a:solidFill>
                  <a:srgbClr val="1E1E1E"/>
                </a:solidFill>
                <a:latin typeface="Calibri"/>
              </a:rPr>
              <a:t>Projedeki rolü</a:t>
            </a:r>
          </a:p>
        </p:txBody>
      </p:sp>
      <p:sp>
        <p:nvSpPr>
          <p:cNvPr id="18" name="Rounded Rectangle 17"/>
          <p:cNvSpPr/>
          <p:nvPr/>
        </p:nvSpPr>
        <p:spPr>
          <a:xfrm>
            <a:off x="7360920" y="1325880"/>
            <a:ext cx="2103120" cy="4206240"/>
          </a:xfrm>
          <a:prstGeom prst="roundRect">
            <a:avLst>
              <a:gd name="adj" fmla="val 6000"/>
            </a:avLst>
          </a:prstGeom>
          <a:solidFill>
            <a:srgbClr val="F2F5F6"/>
          </a:solidFill>
          <a:ln>
            <a:noFill/>
          </a:ln>
          <a:effectLst/>
        </p:spPr>
        <p:txBody>
          <a:bodyPr rtlCol="0" anchor="ctr"/>
          <a:lstStyle/>
          <a:p/>
        </p:txBody>
      </p:sp>
      <p:sp>
        <p:nvSpPr>
          <p:cNvPr id="19" name="Oval 18"/>
          <p:cNvSpPr/>
          <p:nvPr/>
        </p:nvSpPr>
        <p:spPr>
          <a:xfrm>
            <a:off x="7818120" y="1691640"/>
            <a:ext cx="1188720" cy="1188720"/>
          </a:xfrm>
          <a:prstGeom prst="ellipse">
            <a:avLst/>
          </a:prstGeom>
          <a:solidFill>
            <a:srgbClr val="FFFFFF"/>
          </a:solidFill>
          <a:ln w="15875">
            <a:solidFill>
              <a:srgbClr val="E10514"/>
            </a:solidFill>
          </a:ln>
          <a:effectLst/>
        </p:spPr>
        <p:txBody>
          <a:bodyPr rtlCol="0" anchor="ctr"/>
          <a:lstStyle/>
          <a:p/>
        </p:txBody>
      </p:sp>
      <p:pic>
        <p:nvPicPr>
          <p:cNvPr id="20" name="Picture 19" descr="user-g.png"/>
          <p:cNvPicPr>
            <a:picLocks noChangeAspect="1"/>
          </p:cNvPicPr>
          <p:nvPr/>
        </p:nvPicPr>
        <p:blipFill>
          <a:blip r:embed="rId3"/>
          <a:stretch>
            <a:fillRect/>
          </a:stretch>
        </p:blipFill>
        <p:spPr>
          <a:xfrm>
            <a:off x="8138160" y="2011680"/>
            <a:ext cx="548640" cy="548640"/>
          </a:xfrm>
          <a:prstGeom prst="rect">
            <a:avLst/>
          </a:prstGeom>
        </p:spPr>
      </p:pic>
      <p:sp>
        <p:nvSpPr>
          <p:cNvPr id="21" name="TextBox 20"/>
          <p:cNvSpPr txBox="1"/>
          <p:nvPr/>
        </p:nvSpPr>
        <p:spPr>
          <a:xfrm>
            <a:off x="7498080" y="3108960"/>
            <a:ext cx="1828799" cy="2011680"/>
          </a:xfrm>
          <a:prstGeom prst="rect">
            <a:avLst/>
          </a:prstGeom>
          <a:noFill/>
        </p:spPr>
        <p:txBody>
          <a:bodyPr wrap="square" anchor="t" lIns="0" rIns="0" tIns="0" bIns="0">
            <a:spAutoFit/>
          </a:bodyPr>
          <a:lstStyle/>
          <a:p>
            <a:pPr algn="ctr">
              <a:spcAft>
                <a:spcPts val="600"/>
              </a:spcAft>
            </a:pPr>
            <a:r>
              <a:rPr sz="1800" b="1" i="0">
                <a:solidFill>
                  <a:srgbClr val="1E1E1E"/>
                </a:solidFill>
                <a:latin typeface="Calibri"/>
              </a:rPr>
              <a:t>Ad Soyad</a:t>
            </a:r>
          </a:p>
          <a:p>
            <a:pPr algn="ctr">
              <a:spcAft>
                <a:spcPts val="600"/>
              </a:spcAft>
            </a:pPr>
            <a:r>
              <a:rPr sz="1400" b="0" i="0">
                <a:solidFill>
                  <a:srgbClr val="91969B"/>
                </a:solidFill>
                <a:latin typeface="Calibri"/>
              </a:rPr>
              <a:t>Birim</a:t>
            </a:r>
          </a:p>
          <a:p>
            <a:pPr algn="ctr">
              <a:spcAft>
                <a:spcPts val="600"/>
              </a:spcAft>
            </a:pPr>
            <a:r>
              <a:rPr sz="1400" b="0" i="0">
                <a:solidFill>
                  <a:srgbClr val="1E1E1E"/>
                </a:solidFill>
                <a:latin typeface="Calibri"/>
              </a:rPr>
              <a:t>Projedeki rolü</a:t>
            </a:r>
          </a:p>
        </p:txBody>
      </p:sp>
      <p:sp>
        <p:nvSpPr>
          <p:cNvPr id="22" name="Rounded Rectangle 21"/>
          <p:cNvSpPr/>
          <p:nvPr/>
        </p:nvSpPr>
        <p:spPr>
          <a:xfrm>
            <a:off x="9646920" y="1325880"/>
            <a:ext cx="2103120" cy="4206240"/>
          </a:xfrm>
          <a:prstGeom prst="roundRect">
            <a:avLst>
              <a:gd name="adj" fmla="val 6000"/>
            </a:avLst>
          </a:prstGeom>
          <a:solidFill>
            <a:srgbClr val="F2F5F6"/>
          </a:solidFill>
          <a:ln>
            <a:noFill/>
          </a:ln>
          <a:effectLst/>
        </p:spPr>
        <p:txBody>
          <a:bodyPr rtlCol="0" anchor="ctr"/>
          <a:lstStyle/>
          <a:p/>
        </p:txBody>
      </p:sp>
      <p:sp>
        <p:nvSpPr>
          <p:cNvPr id="23" name="Oval 22"/>
          <p:cNvSpPr/>
          <p:nvPr/>
        </p:nvSpPr>
        <p:spPr>
          <a:xfrm>
            <a:off x="10104120" y="1691640"/>
            <a:ext cx="1188720" cy="1188720"/>
          </a:xfrm>
          <a:prstGeom prst="ellipse">
            <a:avLst/>
          </a:prstGeom>
          <a:solidFill>
            <a:srgbClr val="FFFFFF"/>
          </a:solidFill>
          <a:ln w="15875">
            <a:solidFill>
              <a:srgbClr val="E10514"/>
            </a:solidFill>
          </a:ln>
          <a:effectLst/>
        </p:spPr>
        <p:txBody>
          <a:bodyPr rtlCol="0" anchor="ctr"/>
          <a:lstStyle/>
          <a:p/>
        </p:txBody>
      </p:sp>
      <p:pic>
        <p:nvPicPr>
          <p:cNvPr id="24" name="Picture 23" descr="user-g.png"/>
          <p:cNvPicPr>
            <a:picLocks noChangeAspect="1"/>
          </p:cNvPicPr>
          <p:nvPr/>
        </p:nvPicPr>
        <p:blipFill>
          <a:blip r:embed="rId3"/>
          <a:stretch>
            <a:fillRect/>
          </a:stretch>
        </p:blipFill>
        <p:spPr>
          <a:xfrm>
            <a:off x="10424160" y="2011680"/>
            <a:ext cx="548640" cy="548640"/>
          </a:xfrm>
          <a:prstGeom prst="rect">
            <a:avLst/>
          </a:prstGeom>
        </p:spPr>
      </p:pic>
      <p:sp>
        <p:nvSpPr>
          <p:cNvPr id="25" name="TextBox 24"/>
          <p:cNvSpPr txBox="1"/>
          <p:nvPr/>
        </p:nvSpPr>
        <p:spPr>
          <a:xfrm>
            <a:off x="9784080" y="3108960"/>
            <a:ext cx="1828799" cy="2011680"/>
          </a:xfrm>
          <a:prstGeom prst="rect">
            <a:avLst/>
          </a:prstGeom>
          <a:noFill/>
        </p:spPr>
        <p:txBody>
          <a:bodyPr wrap="square" anchor="t" lIns="0" rIns="0" tIns="0" bIns="0">
            <a:spAutoFit/>
          </a:bodyPr>
          <a:lstStyle/>
          <a:p>
            <a:pPr algn="ctr">
              <a:spcAft>
                <a:spcPts val="600"/>
              </a:spcAft>
            </a:pPr>
            <a:r>
              <a:rPr sz="1800" b="1" i="0">
                <a:solidFill>
                  <a:srgbClr val="1E1E1E"/>
                </a:solidFill>
                <a:latin typeface="Calibri"/>
              </a:rPr>
              <a:t>Ad Soyad</a:t>
            </a:r>
          </a:p>
          <a:p>
            <a:pPr algn="ctr">
              <a:spcAft>
                <a:spcPts val="600"/>
              </a:spcAft>
            </a:pPr>
            <a:r>
              <a:rPr sz="1400" b="0" i="0">
                <a:solidFill>
                  <a:srgbClr val="91969B"/>
                </a:solidFill>
                <a:latin typeface="Calibri"/>
              </a:rPr>
              <a:t>Birim</a:t>
            </a:r>
          </a:p>
          <a:p>
            <a:pPr algn="ctr">
              <a:spcAft>
                <a:spcPts val="600"/>
              </a:spcAft>
            </a:pPr>
            <a:r>
              <a:rPr sz="1400" b="0" i="0">
                <a:solidFill>
                  <a:srgbClr val="1E1E1E"/>
                </a:solidFill>
                <a:latin typeface="Calibri"/>
              </a:rPr>
              <a:t>Projedeki rolü</a:t>
            </a:r>
          </a:p>
        </p:txBody>
      </p:sp>
      <p:sp>
        <p:nvSpPr>
          <p:cNvPr id="26" name="TextBox 25"/>
          <p:cNvSpPr txBox="1"/>
          <p:nvPr/>
        </p:nvSpPr>
        <p:spPr>
          <a:xfrm>
            <a:off x="502920" y="5715000"/>
            <a:ext cx="10972800" cy="320040"/>
          </a:xfrm>
          <a:prstGeom prst="rect">
            <a:avLst/>
          </a:prstGeom>
          <a:noFill/>
        </p:spPr>
        <p:txBody>
          <a:bodyPr wrap="square" anchor="t" lIns="0" rIns="0" tIns="0" bIns="0">
            <a:spAutoFit/>
          </a:bodyPr>
          <a:lstStyle/>
          <a:p>
            <a:pPr algn="l">
              <a:spcAft>
                <a:spcPts val="400"/>
              </a:spcAft>
            </a:pPr>
            <a:r>
              <a:rPr sz="1400" b="0" i="0">
                <a:solidFill>
                  <a:srgbClr val="91969B"/>
                </a:solidFill>
                <a:latin typeface="Calibri"/>
              </a:rPr>
              <a:t>Sorumluluklar 19 maddelik listeden herkesin kendi seçimiyle dağıtıldı.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 y="91440"/>
            <a:ext cx="10058400" cy="566928"/>
          </a:xfrm>
          <a:prstGeom prst="rect">
            <a:avLst/>
          </a:prstGeom>
          <a:noFill/>
        </p:spPr>
        <p:txBody>
          <a:bodyPr wrap="square" anchor="t" lIns="0" rIns="0" tIns="0" bIns="0">
            <a:spAutoFit/>
          </a:bodyPr>
          <a:lstStyle/>
          <a:p>
            <a:pPr algn="l">
              <a:spcAft>
                <a:spcPts val="400"/>
              </a:spcAft>
            </a:pPr>
            <a:r>
              <a:rPr sz="3200" b="1" i="0">
                <a:solidFill>
                  <a:srgbClr val="1E1E1E"/>
                </a:solidFill>
                <a:latin typeface="Calibri"/>
              </a:rPr>
              <a:t>Hata mı, Kural mı? Bilinmeyince Çağrı Açılıyor</a:t>
            </a:r>
          </a:p>
        </p:txBody>
      </p:sp>
      <p:pic>
        <p:nvPicPr>
          <p:cNvPr id="3" name="Picture 2" descr="mercek-logo-kucuk.png"/>
          <p:cNvPicPr>
            <a:picLocks noChangeAspect="1"/>
          </p:cNvPicPr>
          <p:nvPr/>
        </p:nvPicPr>
        <p:blipFill>
          <a:blip r:embed="rId2"/>
          <a:stretch>
            <a:fillRect/>
          </a:stretch>
        </p:blipFill>
        <p:spPr>
          <a:xfrm>
            <a:off x="10561320" y="155448"/>
            <a:ext cx="351129" cy="351129"/>
          </a:xfrm>
          <a:prstGeom prst="rect">
            <a:avLst/>
          </a:prstGeom>
        </p:spPr>
      </p:pic>
      <p:sp>
        <p:nvSpPr>
          <p:cNvPr id="4" name="TextBox 3"/>
          <p:cNvSpPr txBox="1"/>
          <p:nvPr/>
        </p:nvSpPr>
        <p:spPr>
          <a:xfrm>
            <a:off x="10978286" y="155448"/>
            <a:ext cx="1645919" cy="351129"/>
          </a:xfrm>
          <a:prstGeom prst="rect">
            <a:avLst/>
          </a:prstGeom>
          <a:noFill/>
        </p:spPr>
        <p:txBody>
          <a:bodyPr wrap="square" anchor="ctr" lIns="0" rIns="0" tIns="0" bIns="0">
            <a:spAutoFit/>
          </a:bodyPr>
          <a:lstStyle/>
          <a:p>
            <a:pPr algn="l">
              <a:spcAft>
                <a:spcPts val="400"/>
              </a:spcAft>
            </a:pPr>
            <a:r>
              <a:rPr sz="1500" b="1" i="0">
                <a:solidFill>
                  <a:srgbClr val="1E1E1E"/>
                </a:solidFill>
                <a:latin typeface="Calibri"/>
              </a:rPr>
              <a:t>MERCEK</a:t>
            </a:r>
          </a:p>
        </p:txBody>
      </p:sp>
      <p:sp>
        <p:nvSpPr>
          <p:cNvPr id="5" name="TextBox 4"/>
          <p:cNvSpPr txBox="1"/>
          <p:nvPr/>
        </p:nvSpPr>
        <p:spPr>
          <a:xfrm>
            <a:off x="11292840" y="6382512"/>
            <a:ext cx="685800" cy="274320"/>
          </a:xfrm>
          <a:prstGeom prst="rect">
            <a:avLst/>
          </a:prstGeom>
          <a:noFill/>
        </p:spPr>
        <p:txBody>
          <a:bodyPr wrap="square" anchor="t" lIns="0" rIns="0" tIns="0" bIns="0">
            <a:spAutoFit/>
          </a:bodyPr>
          <a:lstStyle/>
          <a:p>
            <a:pPr algn="r">
              <a:spcAft>
                <a:spcPts val="400"/>
              </a:spcAft>
            </a:pPr>
            <a:r>
              <a:rPr sz="1100" b="0" i="0">
                <a:solidFill>
                  <a:srgbClr val="91969B"/>
                </a:solidFill>
                <a:latin typeface="Calibri"/>
              </a:rPr>
              <a:t>3</a:t>
            </a:r>
          </a:p>
        </p:txBody>
      </p:sp>
      <p:sp>
        <p:nvSpPr>
          <p:cNvPr id="6" name="Rounded Rectangle 5"/>
          <p:cNvSpPr/>
          <p:nvPr/>
        </p:nvSpPr>
        <p:spPr>
          <a:xfrm>
            <a:off x="411480" y="1188720"/>
            <a:ext cx="3246120" cy="4800600"/>
          </a:xfrm>
          <a:prstGeom prst="roundRect">
            <a:avLst>
              <a:gd name="adj" fmla="val 6000"/>
            </a:avLst>
          </a:prstGeom>
          <a:solidFill>
            <a:srgbClr val="B90F0A"/>
          </a:solidFill>
          <a:ln>
            <a:noFill/>
          </a:ln>
          <a:effectLst/>
        </p:spPr>
        <p:txBody>
          <a:bodyPr rtlCol="0" anchor="ctr"/>
          <a:lstStyle/>
          <a:p/>
        </p:txBody>
      </p:sp>
      <p:pic>
        <p:nvPicPr>
          <p:cNvPr id="7" name="Picture 6" descr="quote-w.png"/>
          <p:cNvPicPr>
            <a:picLocks noChangeAspect="1"/>
          </p:cNvPicPr>
          <p:nvPr/>
        </p:nvPicPr>
        <p:blipFill>
          <a:blip r:embed="rId3"/>
          <a:stretch>
            <a:fillRect/>
          </a:stretch>
        </p:blipFill>
        <p:spPr>
          <a:xfrm>
            <a:off x="731520" y="1508760"/>
            <a:ext cx="457200" cy="457200"/>
          </a:xfrm>
          <a:prstGeom prst="rect">
            <a:avLst/>
          </a:prstGeom>
        </p:spPr>
      </p:pic>
      <p:sp>
        <p:nvSpPr>
          <p:cNvPr id="8" name="TextBox 7"/>
          <p:cNvSpPr txBox="1"/>
          <p:nvPr/>
        </p:nvSpPr>
        <p:spPr>
          <a:xfrm>
            <a:off x="731520" y="2148840"/>
            <a:ext cx="2651760" cy="2194560"/>
          </a:xfrm>
          <a:prstGeom prst="rect">
            <a:avLst/>
          </a:prstGeom>
          <a:noFill/>
        </p:spPr>
        <p:txBody>
          <a:bodyPr wrap="square" anchor="t" lIns="0" rIns="0" tIns="0" bIns="0">
            <a:spAutoFit/>
          </a:bodyPr>
          <a:lstStyle/>
          <a:p>
            <a:pPr algn="l">
              <a:spcAft>
                <a:spcPts val="400"/>
              </a:spcAft>
            </a:pPr>
            <a:r>
              <a:rPr sz="2400" b="1" i="1">
                <a:solidFill>
                  <a:srgbClr val="FFFFFF"/>
                </a:solidFill>
                <a:latin typeface="Calibri"/>
              </a:rPr>
              <a:t>“Ekran ‘kullandırılamaz’ diyor. Sistem mi bozuk?”</a:t>
            </a:r>
          </a:p>
        </p:txBody>
      </p:sp>
      <p:sp>
        <p:nvSpPr>
          <p:cNvPr id="9" name="TextBox 8"/>
          <p:cNvSpPr txBox="1"/>
          <p:nvPr/>
        </p:nvSpPr>
        <p:spPr>
          <a:xfrm>
            <a:off x="731520" y="5120640"/>
            <a:ext cx="2651760" cy="640080"/>
          </a:xfrm>
          <a:prstGeom prst="rect">
            <a:avLst/>
          </a:prstGeom>
          <a:noFill/>
        </p:spPr>
        <p:txBody>
          <a:bodyPr wrap="square" anchor="b" lIns="0" rIns="0" tIns="0" bIns="0">
            <a:spAutoFit/>
          </a:bodyPr>
          <a:lstStyle/>
          <a:p>
            <a:pPr algn="l">
              <a:spcAft>
                <a:spcPts val="400"/>
              </a:spcAft>
            </a:pPr>
            <a:r>
              <a:rPr sz="1400" b="0" i="0">
                <a:solidFill>
                  <a:srgbClr val="FFFFFF"/>
                </a:solidFill>
                <a:latin typeface="Calibri"/>
              </a:rPr>
              <a:t>Elif, şube müşteri temsilcisi · KRDTKULL</a:t>
            </a:r>
          </a:p>
        </p:txBody>
      </p:sp>
      <p:sp>
        <p:nvSpPr>
          <p:cNvPr id="10" name="Rounded Rectangle 9"/>
          <p:cNvSpPr/>
          <p:nvPr/>
        </p:nvSpPr>
        <p:spPr>
          <a:xfrm>
            <a:off x="3931920" y="1188720"/>
            <a:ext cx="1444752" cy="1783080"/>
          </a:xfrm>
          <a:prstGeom prst="roundRect">
            <a:avLst>
              <a:gd name="adj" fmla="val 6000"/>
            </a:avLst>
          </a:prstGeom>
          <a:solidFill>
            <a:srgbClr val="F2F5F6"/>
          </a:solidFill>
          <a:ln>
            <a:noFill/>
          </a:ln>
          <a:effectLst/>
        </p:spPr>
        <p:txBody>
          <a:bodyPr rtlCol="0" anchor="ctr"/>
          <a:lstStyle/>
          <a:p/>
        </p:txBody>
      </p:sp>
      <p:sp>
        <p:nvSpPr>
          <p:cNvPr id="11" name="Oval 10"/>
          <p:cNvSpPr/>
          <p:nvPr/>
        </p:nvSpPr>
        <p:spPr>
          <a:xfrm>
            <a:off x="4069080" y="1325880"/>
            <a:ext cx="411480" cy="411480"/>
          </a:xfrm>
          <a:prstGeom prst="ellipse">
            <a:avLst/>
          </a:prstGeom>
          <a:solidFill>
            <a:srgbClr val="E10514"/>
          </a:solidFill>
          <a:ln>
            <a:noFill/>
          </a:ln>
          <a:effectLst/>
        </p:spPr>
        <p:txBody>
          <a:bodyPr rtlCol="0" anchor="ctr"/>
          <a:lstStyle/>
          <a:p/>
        </p:txBody>
      </p:sp>
      <p:sp>
        <p:nvSpPr>
          <p:cNvPr id="12" name="TextBox 11"/>
          <p:cNvSpPr txBox="1"/>
          <p:nvPr/>
        </p:nvSpPr>
        <p:spPr>
          <a:xfrm>
            <a:off x="4069080" y="1325880"/>
            <a:ext cx="411480" cy="411480"/>
          </a:xfrm>
          <a:prstGeom prst="rect">
            <a:avLst/>
          </a:prstGeom>
          <a:noFill/>
        </p:spPr>
        <p:txBody>
          <a:bodyPr wrap="square" anchor="ctr" lIns="0" rIns="0" tIns="0" bIns="0">
            <a:spAutoFit/>
          </a:bodyPr>
          <a:lstStyle/>
          <a:p>
            <a:pPr algn="ctr">
              <a:spcAft>
                <a:spcPts val="400"/>
              </a:spcAft>
            </a:pPr>
            <a:r>
              <a:rPr sz="1400" b="1" i="0">
                <a:solidFill>
                  <a:srgbClr val="FFFFFF"/>
                </a:solidFill>
                <a:latin typeface="Calibri"/>
              </a:rPr>
              <a:t>1</a:t>
            </a:r>
          </a:p>
        </p:txBody>
      </p:sp>
      <p:sp>
        <p:nvSpPr>
          <p:cNvPr id="13" name="TextBox 12"/>
          <p:cNvSpPr txBox="1"/>
          <p:nvPr/>
        </p:nvSpPr>
        <p:spPr>
          <a:xfrm>
            <a:off x="4069080" y="1828800"/>
            <a:ext cx="1188720" cy="1097280"/>
          </a:xfrm>
          <a:prstGeom prst="rect">
            <a:avLst/>
          </a:prstGeom>
          <a:noFill/>
        </p:spPr>
        <p:txBody>
          <a:bodyPr wrap="square" anchor="t" lIns="0" rIns="0" tIns="0" bIns="0">
            <a:spAutoFit/>
          </a:bodyPr>
          <a:lstStyle/>
          <a:p>
            <a:pPr algn="l">
              <a:spcAft>
                <a:spcPts val="400"/>
              </a:spcAft>
            </a:pPr>
            <a:r>
              <a:rPr sz="1400" b="0" i="0">
                <a:solidFill>
                  <a:srgbClr val="1E1E1E"/>
                </a:solidFill>
                <a:latin typeface="Calibri"/>
              </a:rPr>
              <a:t>Temsilci uyarıyı görür</a:t>
            </a:r>
          </a:p>
        </p:txBody>
      </p:sp>
      <p:sp>
        <p:nvSpPr>
          <p:cNvPr id="14" name="Rounded Rectangle 13"/>
          <p:cNvSpPr/>
          <p:nvPr/>
        </p:nvSpPr>
        <p:spPr>
          <a:xfrm>
            <a:off x="5504688" y="1188720"/>
            <a:ext cx="1444752" cy="1783080"/>
          </a:xfrm>
          <a:prstGeom prst="roundRect">
            <a:avLst>
              <a:gd name="adj" fmla="val 6000"/>
            </a:avLst>
          </a:prstGeom>
          <a:solidFill>
            <a:srgbClr val="F2F5F6"/>
          </a:solidFill>
          <a:ln>
            <a:noFill/>
          </a:ln>
          <a:effectLst/>
        </p:spPr>
        <p:txBody>
          <a:bodyPr rtlCol="0" anchor="ctr"/>
          <a:lstStyle/>
          <a:p/>
        </p:txBody>
      </p:sp>
      <p:sp>
        <p:nvSpPr>
          <p:cNvPr id="15" name="Oval 14"/>
          <p:cNvSpPr/>
          <p:nvPr/>
        </p:nvSpPr>
        <p:spPr>
          <a:xfrm>
            <a:off x="5641848" y="1325880"/>
            <a:ext cx="411480" cy="411480"/>
          </a:xfrm>
          <a:prstGeom prst="ellipse">
            <a:avLst/>
          </a:prstGeom>
          <a:solidFill>
            <a:srgbClr val="E10514"/>
          </a:solidFill>
          <a:ln>
            <a:noFill/>
          </a:ln>
          <a:effectLst/>
        </p:spPr>
        <p:txBody>
          <a:bodyPr rtlCol="0" anchor="ctr"/>
          <a:lstStyle/>
          <a:p/>
        </p:txBody>
      </p:sp>
      <p:sp>
        <p:nvSpPr>
          <p:cNvPr id="16" name="TextBox 15"/>
          <p:cNvSpPr txBox="1"/>
          <p:nvPr/>
        </p:nvSpPr>
        <p:spPr>
          <a:xfrm>
            <a:off x="5641848" y="1325880"/>
            <a:ext cx="411480" cy="411480"/>
          </a:xfrm>
          <a:prstGeom prst="rect">
            <a:avLst/>
          </a:prstGeom>
          <a:noFill/>
        </p:spPr>
        <p:txBody>
          <a:bodyPr wrap="square" anchor="ctr" lIns="0" rIns="0" tIns="0" bIns="0">
            <a:spAutoFit/>
          </a:bodyPr>
          <a:lstStyle/>
          <a:p>
            <a:pPr algn="ctr">
              <a:spcAft>
                <a:spcPts val="400"/>
              </a:spcAft>
            </a:pPr>
            <a:r>
              <a:rPr sz="1400" b="1" i="0">
                <a:solidFill>
                  <a:srgbClr val="FFFFFF"/>
                </a:solidFill>
                <a:latin typeface="Calibri"/>
              </a:rPr>
              <a:t>2</a:t>
            </a:r>
          </a:p>
        </p:txBody>
      </p:sp>
      <p:sp>
        <p:nvSpPr>
          <p:cNvPr id="17" name="TextBox 16"/>
          <p:cNvSpPr txBox="1"/>
          <p:nvPr/>
        </p:nvSpPr>
        <p:spPr>
          <a:xfrm>
            <a:off x="5641848" y="1828800"/>
            <a:ext cx="1188720" cy="1097280"/>
          </a:xfrm>
          <a:prstGeom prst="rect">
            <a:avLst/>
          </a:prstGeom>
          <a:noFill/>
        </p:spPr>
        <p:txBody>
          <a:bodyPr wrap="square" anchor="t" lIns="0" rIns="0" tIns="0" bIns="0">
            <a:spAutoFit/>
          </a:bodyPr>
          <a:lstStyle/>
          <a:p>
            <a:pPr algn="l">
              <a:spcAft>
                <a:spcPts val="400"/>
              </a:spcAft>
            </a:pPr>
            <a:r>
              <a:rPr sz="1400" b="0" i="0">
                <a:solidFill>
                  <a:srgbClr val="1E1E1E"/>
                </a:solidFill>
                <a:latin typeface="Calibri"/>
              </a:rPr>
              <a:t>Çağrı açar</a:t>
            </a:r>
          </a:p>
        </p:txBody>
      </p:sp>
      <p:sp>
        <p:nvSpPr>
          <p:cNvPr id="18" name="Rounded Rectangle 17"/>
          <p:cNvSpPr/>
          <p:nvPr/>
        </p:nvSpPr>
        <p:spPr>
          <a:xfrm>
            <a:off x="7077456" y="1188720"/>
            <a:ext cx="1444752" cy="1783080"/>
          </a:xfrm>
          <a:prstGeom prst="roundRect">
            <a:avLst>
              <a:gd name="adj" fmla="val 6000"/>
            </a:avLst>
          </a:prstGeom>
          <a:solidFill>
            <a:srgbClr val="F2F5F6"/>
          </a:solidFill>
          <a:ln>
            <a:noFill/>
          </a:ln>
          <a:effectLst/>
        </p:spPr>
        <p:txBody>
          <a:bodyPr rtlCol="0" anchor="ctr"/>
          <a:lstStyle/>
          <a:p/>
        </p:txBody>
      </p:sp>
      <p:sp>
        <p:nvSpPr>
          <p:cNvPr id="19" name="Oval 18"/>
          <p:cNvSpPr/>
          <p:nvPr/>
        </p:nvSpPr>
        <p:spPr>
          <a:xfrm>
            <a:off x="7214616" y="1325880"/>
            <a:ext cx="411480" cy="411480"/>
          </a:xfrm>
          <a:prstGeom prst="ellipse">
            <a:avLst/>
          </a:prstGeom>
          <a:solidFill>
            <a:srgbClr val="E10514"/>
          </a:solidFill>
          <a:ln>
            <a:noFill/>
          </a:ln>
          <a:effectLst/>
        </p:spPr>
        <p:txBody>
          <a:bodyPr rtlCol="0" anchor="ctr"/>
          <a:lstStyle/>
          <a:p/>
        </p:txBody>
      </p:sp>
      <p:sp>
        <p:nvSpPr>
          <p:cNvPr id="20" name="TextBox 19"/>
          <p:cNvSpPr txBox="1"/>
          <p:nvPr/>
        </p:nvSpPr>
        <p:spPr>
          <a:xfrm>
            <a:off x="7214616" y="1325880"/>
            <a:ext cx="411480" cy="411480"/>
          </a:xfrm>
          <a:prstGeom prst="rect">
            <a:avLst/>
          </a:prstGeom>
          <a:noFill/>
        </p:spPr>
        <p:txBody>
          <a:bodyPr wrap="square" anchor="ctr" lIns="0" rIns="0" tIns="0" bIns="0">
            <a:spAutoFit/>
          </a:bodyPr>
          <a:lstStyle/>
          <a:p>
            <a:pPr algn="ctr">
              <a:spcAft>
                <a:spcPts val="400"/>
              </a:spcAft>
            </a:pPr>
            <a:r>
              <a:rPr sz="1400" b="1" i="0">
                <a:solidFill>
                  <a:srgbClr val="FFFFFF"/>
                </a:solidFill>
                <a:latin typeface="Calibri"/>
              </a:rPr>
              <a:t>3</a:t>
            </a:r>
          </a:p>
        </p:txBody>
      </p:sp>
      <p:sp>
        <p:nvSpPr>
          <p:cNvPr id="21" name="TextBox 20"/>
          <p:cNvSpPr txBox="1"/>
          <p:nvPr/>
        </p:nvSpPr>
        <p:spPr>
          <a:xfrm>
            <a:off x="7214616" y="1828800"/>
            <a:ext cx="1188720" cy="1097280"/>
          </a:xfrm>
          <a:prstGeom prst="rect">
            <a:avLst/>
          </a:prstGeom>
          <a:noFill/>
        </p:spPr>
        <p:txBody>
          <a:bodyPr wrap="square" anchor="t" lIns="0" rIns="0" tIns="0" bIns="0">
            <a:spAutoFit/>
          </a:bodyPr>
          <a:lstStyle/>
          <a:p>
            <a:pPr algn="l">
              <a:spcAft>
                <a:spcPts val="400"/>
              </a:spcAft>
            </a:pPr>
            <a:r>
              <a:rPr sz="1400" b="0" i="0">
                <a:solidFill>
                  <a:srgbClr val="1E1E1E"/>
                </a:solidFill>
                <a:latin typeface="Calibri"/>
              </a:rPr>
              <a:t>L1 Kibana'da log arar</a:t>
            </a:r>
          </a:p>
        </p:txBody>
      </p:sp>
      <p:sp>
        <p:nvSpPr>
          <p:cNvPr id="22" name="Rounded Rectangle 21"/>
          <p:cNvSpPr/>
          <p:nvPr/>
        </p:nvSpPr>
        <p:spPr>
          <a:xfrm>
            <a:off x="8650224" y="1188720"/>
            <a:ext cx="1444752" cy="1783080"/>
          </a:xfrm>
          <a:prstGeom prst="roundRect">
            <a:avLst>
              <a:gd name="adj" fmla="val 6000"/>
            </a:avLst>
          </a:prstGeom>
          <a:solidFill>
            <a:srgbClr val="F2F5F6"/>
          </a:solidFill>
          <a:ln>
            <a:noFill/>
          </a:ln>
          <a:effectLst/>
        </p:spPr>
        <p:txBody>
          <a:bodyPr rtlCol="0" anchor="ctr"/>
          <a:lstStyle/>
          <a:p/>
        </p:txBody>
      </p:sp>
      <p:sp>
        <p:nvSpPr>
          <p:cNvPr id="23" name="Oval 22"/>
          <p:cNvSpPr/>
          <p:nvPr/>
        </p:nvSpPr>
        <p:spPr>
          <a:xfrm>
            <a:off x="8787384" y="1325880"/>
            <a:ext cx="411480" cy="411480"/>
          </a:xfrm>
          <a:prstGeom prst="ellipse">
            <a:avLst/>
          </a:prstGeom>
          <a:solidFill>
            <a:srgbClr val="E10514"/>
          </a:solidFill>
          <a:ln>
            <a:noFill/>
          </a:ln>
          <a:effectLst/>
        </p:spPr>
        <p:txBody>
          <a:bodyPr rtlCol="0" anchor="ctr"/>
          <a:lstStyle/>
          <a:p/>
        </p:txBody>
      </p:sp>
      <p:sp>
        <p:nvSpPr>
          <p:cNvPr id="24" name="TextBox 23"/>
          <p:cNvSpPr txBox="1"/>
          <p:nvPr/>
        </p:nvSpPr>
        <p:spPr>
          <a:xfrm>
            <a:off x="8787384" y="1325880"/>
            <a:ext cx="411480" cy="411480"/>
          </a:xfrm>
          <a:prstGeom prst="rect">
            <a:avLst/>
          </a:prstGeom>
          <a:noFill/>
        </p:spPr>
        <p:txBody>
          <a:bodyPr wrap="square" anchor="ctr" lIns="0" rIns="0" tIns="0" bIns="0">
            <a:spAutoFit/>
          </a:bodyPr>
          <a:lstStyle/>
          <a:p>
            <a:pPr algn="ctr">
              <a:spcAft>
                <a:spcPts val="400"/>
              </a:spcAft>
            </a:pPr>
            <a:r>
              <a:rPr sz="1400" b="1" i="0">
                <a:solidFill>
                  <a:srgbClr val="FFFFFF"/>
                </a:solidFill>
                <a:latin typeface="Calibri"/>
              </a:rPr>
              <a:t>4</a:t>
            </a:r>
          </a:p>
        </p:txBody>
      </p:sp>
      <p:sp>
        <p:nvSpPr>
          <p:cNvPr id="25" name="TextBox 24"/>
          <p:cNvSpPr txBox="1"/>
          <p:nvPr/>
        </p:nvSpPr>
        <p:spPr>
          <a:xfrm>
            <a:off x="8787384" y="1828800"/>
            <a:ext cx="1188720" cy="1097280"/>
          </a:xfrm>
          <a:prstGeom prst="rect">
            <a:avLst/>
          </a:prstGeom>
          <a:noFill/>
        </p:spPr>
        <p:txBody>
          <a:bodyPr wrap="square" anchor="t" lIns="0" rIns="0" tIns="0" bIns="0">
            <a:spAutoFit/>
          </a:bodyPr>
          <a:lstStyle/>
          <a:p>
            <a:pPr algn="l">
              <a:spcAft>
                <a:spcPts val="400"/>
              </a:spcAft>
            </a:pPr>
            <a:r>
              <a:rPr sz="1400" b="0" i="0">
                <a:solidFill>
                  <a:srgbClr val="1E1E1E"/>
                </a:solidFill>
                <a:latin typeface="Calibri"/>
              </a:rPr>
              <a:t>L2 kurumu ve kodu inceler</a:t>
            </a:r>
          </a:p>
        </p:txBody>
      </p:sp>
      <p:sp>
        <p:nvSpPr>
          <p:cNvPr id="26" name="Rounded Rectangle 25"/>
          <p:cNvSpPr/>
          <p:nvPr/>
        </p:nvSpPr>
        <p:spPr>
          <a:xfrm>
            <a:off x="10222992" y="1188720"/>
            <a:ext cx="1444752" cy="1783080"/>
          </a:xfrm>
          <a:prstGeom prst="roundRect">
            <a:avLst>
              <a:gd name="adj" fmla="val 6000"/>
            </a:avLst>
          </a:prstGeom>
          <a:solidFill>
            <a:srgbClr val="F2F5F6"/>
          </a:solidFill>
          <a:ln>
            <a:noFill/>
          </a:ln>
          <a:effectLst/>
        </p:spPr>
        <p:txBody>
          <a:bodyPr rtlCol="0" anchor="ctr"/>
          <a:lstStyle/>
          <a:p/>
        </p:txBody>
      </p:sp>
      <p:sp>
        <p:nvSpPr>
          <p:cNvPr id="27" name="Oval 26"/>
          <p:cNvSpPr/>
          <p:nvPr/>
        </p:nvSpPr>
        <p:spPr>
          <a:xfrm>
            <a:off x="10360152" y="1325880"/>
            <a:ext cx="411480" cy="411480"/>
          </a:xfrm>
          <a:prstGeom prst="ellipse">
            <a:avLst/>
          </a:prstGeom>
          <a:solidFill>
            <a:srgbClr val="E10514"/>
          </a:solidFill>
          <a:ln>
            <a:noFill/>
          </a:ln>
          <a:effectLst/>
        </p:spPr>
        <p:txBody>
          <a:bodyPr rtlCol="0" anchor="ctr"/>
          <a:lstStyle/>
          <a:p/>
        </p:txBody>
      </p:sp>
      <p:sp>
        <p:nvSpPr>
          <p:cNvPr id="28" name="TextBox 27"/>
          <p:cNvSpPr txBox="1"/>
          <p:nvPr/>
        </p:nvSpPr>
        <p:spPr>
          <a:xfrm>
            <a:off x="10360152" y="1325880"/>
            <a:ext cx="411480" cy="411480"/>
          </a:xfrm>
          <a:prstGeom prst="rect">
            <a:avLst/>
          </a:prstGeom>
          <a:noFill/>
        </p:spPr>
        <p:txBody>
          <a:bodyPr wrap="square" anchor="ctr" lIns="0" rIns="0" tIns="0" bIns="0">
            <a:spAutoFit/>
          </a:bodyPr>
          <a:lstStyle/>
          <a:p>
            <a:pPr algn="ctr">
              <a:spcAft>
                <a:spcPts val="400"/>
              </a:spcAft>
            </a:pPr>
            <a:r>
              <a:rPr sz="1400" b="1" i="0">
                <a:solidFill>
                  <a:srgbClr val="FFFFFF"/>
                </a:solidFill>
                <a:latin typeface="Calibri"/>
              </a:rPr>
              <a:t>5</a:t>
            </a:r>
          </a:p>
        </p:txBody>
      </p:sp>
      <p:sp>
        <p:nvSpPr>
          <p:cNvPr id="29" name="TextBox 28"/>
          <p:cNvSpPr txBox="1"/>
          <p:nvPr/>
        </p:nvSpPr>
        <p:spPr>
          <a:xfrm>
            <a:off x="10360152" y="1828800"/>
            <a:ext cx="1188720" cy="1097280"/>
          </a:xfrm>
          <a:prstGeom prst="rect">
            <a:avLst/>
          </a:prstGeom>
          <a:noFill/>
        </p:spPr>
        <p:txBody>
          <a:bodyPr wrap="square" anchor="t" lIns="0" rIns="0" tIns="0" bIns="0">
            <a:spAutoFit/>
          </a:bodyPr>
          <a:lstStyle/>
          <a:p>
            <a:pPr algn="l">
              <a:spcAft>
                <a:spcPts val="400"/>
              </a:spcAft>
            </a:pPr>
            <a:r>
              <a:rPr sz="1400" b="0" i="0">
                <a:solidFill>
                  <a:srgbClr val="1E1E1E"/>
                </a:solidFill>
                <a:latin typeface="Calibri"/>
              </a:rPr>
              <a:t>Yeni talep bu sorunlardan habersiz planlanır</a:t>
            </a:r>
          </a:p>
        </p:txBody>
      </p:sp>
      <p:sp>
        <p:nvSpPr>
          <p:cNvPr id="30" name="TextBox 29"/>
          <p:cNvSpPr txBox="1"/>
          <p:nvPr/>
        </p:nvSpPr>
        <p:spPr>
          <a:xfrm>
            <a:off x="3931920" y="3108960"/>
            <a:ext cx="7772400" cy="548640"/>
          </a:xfrm>
          <a:prstGeom prst="rect">
            <a:avLst/>
          </a:prstGeom>
          <a:noFill/>
        </p:spPr>
        <p:txBody>
          <a:bodyPr wrap="square" anchor="t" lIns="0" rIns="0" tIns="0" bIns="0">
            <a:spAutoFit/>
          </a:bodyPr>
          <a:lstStyle/>
          <a:p>
            <a:pPr algn="l">
              <a:spcAft>
                <a:spcPts val="400"/>
              </a:spcAft>
            </a:pPr>
            <a:r>
              <a:rPr sz="1400" b="1" i="0">
                <a:solidFill>
                  <a:srgbClr val="B90F0A"/>
                </a:solidFill>
                <a:latin typeface="Calibri"/>
              </a:rPr>
              <a:t>Bedeli: </a:t>
            </a:r>
            <a:r>
              <a:rPr sz="1400" b="0" i="0">
                <a:solidFill>
                  <a:srgbClr val="B90F0A"/>
                </a:solidFill>
                <a:latin typeface="Calibri"/>
              </a:rPr>
              <a:t>işlem yapamayan müşteri · gereksiz çağrılar · aynı kurum sorunu için onlarca kayıt · veriden kopuk planlanan talepler</a:t>
            </a:r>
          </a:p>
        </p:txBody>
      </p:sp>
      <p:sp>
        <p:nvSpPr>
          <p:cNvPr id="31" name="Oval 30"/>
          <p:cNvSpPr/>
          <p:nvPr/>
        </p:nvSpPr>
        <p:spPr>
          <a:xfrm>
            <a:off x="3931920" y="3886200"/>
            <a:ext cx="548640" cy="548640"/>
          </a:xfrm>
          <a:prstGeom prst="ellipse">
            <a:avLst/>
          </a:prstGeom>
          <a:solidFill>
            <a:srgbClr val="91969B"/>
          </a:solidFill>
          <a:ln>
            <a:noFill/>
          </a:ln>
          <a:effectLst/>
        </p:spPr>
        <p:txBody>
          <a:bodyPr rtlCol="0" anchor="ctr"/>
          <a:lstStyle/>
          <a:p/>
        </p:txBody>
      </p:sp>
      <p:pic>
        <p:nvPicPr>
          <p:cNvPr id="32" name="Picture 31" descr="eye-w.png"/>
          <p:cNvPicPr>
            <a:picLocks noChangeAspect="1"/>
          </p:cNvPicPr>
          <p:nvPr/>
        </p:nvPicPr>
        <p:blipFill>
          <a:blip r:embed="rId4"/>
          <a:stretch>
            <a:fillRect/>
          </a:stretch>
        </p:blipFill>
        <p:spPr>
          <a:xfrm>
            <a:off x="4069080" y="4023360"/>
            <a:ext cx="274320" cy="274320"/>
          </a:xfrm>
          <a:prstGeom prst="rect">
            <a:avLst/>
          </a:prstGeom>
        </p:spPr>
      </p:pic>
      <p:sp>
        <p:nvSpPr>
          <p:cNvPr id="33" name="TextBox 32"/>
          <p:cNvSpPr txBox="1"/>
          <p:nvPr/>
        </p:nvSpPr>
        <p:spPr>
          <a:xfrm>
            <a:off x="3931920" y="4572000"/>
            <a:ext cx="2468880" cy="1371600"/>
          </a:xfrm>
          <a:prstGeom prst="rect">
            <a:avLst/>
          </a:prstGeom>
          <a:noFill/>
        </p:spPr>
        <p:txBody>
          <a:bodyPr wrap="square" anchor="t" lIns="0" rIns="0" tIns="0" bIns="0">
            <a:spAutoFit/>
          </a:bodyPr>
          <a:lstStyle/>
          <a:p>
            <a:pPr algn="l">
              <a:spcAft>
                <a:spcPts val="400"/>
              </a:spcAft>
            </a:pPr>
            <a:r>
              <a:rPr sz="1600" b="1" i="0">
                <a:solidFill>
                  <a:srgbClr val="1E1E1E"/>
                </a:solidFill>
                <a:latin typeface="Calibri"/>
              </a:rPr>
              <a:t>Hata mı kural mı belli değil</a:t>
            </a:r>
          </a:p>
          <a:p>
            <a:pPr algn="l">
              <a:spcAft>
                <a:spcPts val="400"/>
              </a:spcAft>
            </a:pPr>
            <a:r>
              <a:rPr sz="1400" b="0" i="0">
                <a:solidFill>
                  <a:srgbClr val="91969B"/>
                </a:solidFill>
                <a:latin typeface="Calibri"/>
              </a:rPr>
              <a:t>İş kuralı reddi ekranda teknik hatadan ayrılamıyor.</a:t>
            </a:r>
          </a:p>
        </p:txBody>
      </p:sp>
      <p:sp>
        <p:nvSpPr>
          <p:cNvPr id="34" name="Oval 33"/>
          <p:cNvSpPr/>
          <p:nvPr/>
        </p:nvSpPr>
        <p:spPr>
          <a:xfrm>
            <a:off x="6565392" y="3886200"/>
            <a:ext cx="548640" cy="548640"/>
          </a:xfrm>
          <a:prstGeom prst="ellipse">
            <a:avLst/>
          </a:prstGeom>
          <a:solidFill>
            <a:srgbClr val="91969B"/>
          </a:solidFill>
          <a:ln>
            <a:noFill/>
          </a:ln>
          <a:effectLst/>
        </p:spPr>
        <p:txBody>
          <a:bodyPr rtlCol="0" anchor="ctr"/>
          <a:lstStyle/>
          <a:p/>
        </p:txBody>
      </p:sp>
      <p:pic>
        <p:nvPicPr>
          <p:cNvPr id="35" name="Picture 34" descr="users-w.png"/>
          <p:cNvPicPr>
            <a:picLocks noChangeAspect="1"/>
          </p:cNvPicPr>
          <p:nvPr/>
        </p:nvPicPr>
        <p:blipFill>
          <a:blip r:embed="rId5"/>
          <a:stretch>
            <a:fillRect/>
          </a:stretch>
        </p:blipFill>
        <p:spPr>
          <a:xfrm>
            <a:off x="6702552" y="4023360"/>
            <a:ext cx="274320" cy="274320"/>
          </a:xfrm>
          <a:prstGeom prst="rect">
            <a:avLst/>
          </a:prstGeom>
        </p:spPr>
      </p:pic>
      <p:sp>
        <p:nvSpPr>
          <p:cNvPr id="36" name="TextBox 35"/>
          <p:cNvSpPr txBox="1"/>
          <p:nvPr/>
        </p:nvSpPr>
        <p:spPr>
          <a:xfrm>
            <a:off x="6565392" y="4572000"/>
            <a:ext cx="2468880" cy="1371600"/>
          </a:xfrm>
          <a:prstGeom prst="rect">
            <a:avLst/>
          </a:prstGeom>
          <a:noFill/>
        </p:spPr>
        <p:txBody>
          <a:bodyPr wrap="square" anchor="t" lIns="0" rIns="0" tIns="0" bIns="0">
            <a:spAutoFit/>
          </a:bodyPr>
          <a:lstStyle/>
          <a:p>
            <a:pPr algn="l">
              <a:spcAft>
                <a:spcPts val="400"/>
              </a:spcAft>
            </a:pPr>
            <a:r>
              <a:rPr sz="1600" b="1" i="0">
                <a:solidFill>
                  <a:srgbClr val="1E1E1E"/>
                </a:solidFill>
                <a:latin typeface="Calibri"/>
              </a:rPr>
              <a:t>Aynı sorun, onlarca çağrı</a:t>
            </a:r>
          </a:p>
          <a:p>
            <a:pPr algn="l">
              <a:spcAft>
                <a:spcPts val="400"/>
              </a:spcAft>
            </a:pPr>
            <a:r>
              <a:rPr sz="1400" b="0" i="0">
                <a:solidFill>
                  <a:srgbClr val="91969B"/>
                </a:solidFill>
                <a:latin typeface="Calibri"/>
              </a:rPr>
              <a:t>Kurum kaynaklı sorunda her arama ayrı kayıt; çözüm kişilerde.</a:t>
            </a:r>
          </a:p>
        </p:txBody>
      </p:sp>
      <p:sp>
        <p:nvSpPr>
          <p:cNvPr id="37" name="Oval 36"/>
          <p:cNvSpPr/>
          <p:nvPr/>
        </p:nvSpPr>
        <p:spPr>
          <a:xfrm>
            <a:off x="9198863" y="3886200"/>
            <a:ext cx="548640" cy="548640"/>
          </a:xfrm>
          <a:prstGeom prst="ellipse">
            <a:avLst/>
          </a:prstGeom>
          <a:solidFill>
            <a:srgbClr val="91969B"/>
          </a:solidFill>
          <a:ln>
            <a:noFill/>
          </a:ln>
          <a:effectLst/>
        </p:spPr>
        <p:txBody>
          <a:bodyPr rtlCol="0" anchor="ctr"/>
          <a:lstStyle/>
          <a:p/>
        </p:txBody>
      </p:sp>
      <p:pic>
        <p:nvPicPr>
          <p:cNvPr id="38" name="Picture 37" descr="unlink-w.png"/>
          <p:cNvPicPr>
            <a:picLocks noChangeAspect="1"/>
          </p:cNvPicPr>
          <p:nvPr/>
        </p:nvPicPr>
        <p:blipFill>
          <a:blip r:embed="rId6"/>
          <a:stretch>
            <a:fillRect/>
          </a:stretch>
        </p:blipFill>
        <p:spPr>
          <a:xfrm>
            <a:off x="9336024" y="4023360"/>
            <a:ext cx="274320" cy="274320"/>
          </a:xfrm>
          <a:prstGeom prst="rect">
            <a:avLst/>
          </a:prstGeom>
        </p:spPr>
      </p:pic>
      <p:sp>
        <p:nvSpPr>
          <p:cNvPr id="39" name="TextBox 38"/>
          <p:cNvSpPr txBox="1"/>
          <p:nvPr/>
        </p:nvSpPr>
        <p:spPr>
          <a:xfrm>
            <a:off x="9198863" y="4572000"/>
            <a:ext cx="2468880" cy="1371600"/>
          </a:xfrm>
          <a:prstGeom prst="rect">
            <a:avLst/>
          </a:prstGeom>
          <a:noFill/>
        </p:spPr>
        <p:txBody>
          <a:bodyPr wrap="square" anchor="t" lIns="0" rIns="0" tIns="0" bIns="0">
            <a:spAutoFit/>
          </a:bodyPr>
          <a:lstStyle/>
          <a:p>
            <a:pPr algn="l">
              <a:spcAft>
                <a:spcPts val="400"/>
              </a:spcAft>
            </a:pPr>
            <a:r>
              <a:rPr sz="1600" b="1" i="0">
                <a:solidFill>
                  <a:srgbClr val="1E1E1E"/>
                </a:solidFill>
                <a:latin typeface="Calibri"/>
              </a:rPr>
              <a:t>Talepler veriden kopuk</a:t>
            </a:r>
          </a:p>
          <a:p>
            <a:pPr algn="l">
              <a:spcAft>
                <a:spcPts val="400"/>
              </a:spcAft>
            </a:pPr>
            <a:r>
              <a:rPr sz="1400" b="0" i="0">
                <a:solidFill>
                  <a:srgbClr val="91969B"/>
                </a:solidFill>
                <a:latin typeface="Calibri"/>
              </a:rPr>
              <a:t>Efor toplantıda; erişim ve kapasite sorunları geç fark ediliyor.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 y="91440"/>
            <a:ext cx="10058400" cy="566928"/>
          </a:xfrm>
          <a:prstGeom prst="rect">
            <a:avLst/>
          </a:prstGeom>
          <a:noFill/>
        </p:spPr>
        <p:txBody>
          <a:bodyPr wrap="square" anchor="t" lIns="0" rIns="0" tIns="0" bIns="0">
            <a:spAutoFit/>
          </a:bodyPr>
          <a:lstStyle/>
          <a:p>
            <a:pPr algn="l">
              <a:spcAft>
                <a:spcPts val="400"/>
              </a:spcAft>
            </a:pPr>
            <a:r>
              <a:rPr sz="3200" b="1" i="0">
                <a:solidFill>
                  <a:srgbClr val="1E1E1E"/>
                </a:solidFill>
                <a:latin typeface="Calibri"/>
              </a:rPr>
              <a:t>Mercek: Sorundan Plana Tek Akış</a:t>
            </a:r>
          </a:p>
        </p:txBody>
      </p:sp>
      <p:pic>
        <p:nvPicPr>
          <p:cNvPr id="3" name="Picture 2" descr="mercek-logo-kucuk.png"/>
          <p:cNvPicPr>
            <a:picLocks noChangeAspect="1"/>
          </p:cNvPicPr>
          <p:nvPr/>
        </p:nvPicPr>
        <p:blipFill>
          <a:blip r:embed="rId2"/>
          <a:stretch>
            <a:fillRect/>
          </a:stretch>
        </p:blipFill>
        <p:spPr>
          <a:xfrm>
            <a:off x="10561320" y="155448"/>
            <a:ext cx="351129" cy="351129"/>
          </a:xfrm>
          <a:prstGeom prst="rect">
            <a:avLst/>
          </a:prstGeom>
        </p:spPr>
      </p:pic>
      <p:sp>
        <p:nvSpPr>
          <p:cNvPr id="4" name="TextBox 3"/>
          <p:cNvSpPr txBox="1"/>
          <p:nvPr/>
        </p:nvSpPr>
        <p:spPr>
          <a:xfrm>
            <a:off x="10978286" y="155448"/>
            <a:ext cx="1645919" cy="351129"/>
          </a:xfrm>
          <a:prstGeom prst="rect">
            <a:avLst/>
          </a:prstGeom>
          <a:noFill/>
        </p:spPr>
        <p:txBody>
          <a:bodyPr wrap="square" anchor="ctr" lIns="0" rIns="0" tIns="0" bIns="0">
            <a:spAutoFit/>
          </a:bodyPr>
          <a:lstStyle/>
          <a:p>
            <a:pPr algn="l">
              <a:spcAft>
                <a:spcPts val="400"/>
              </a:spcAft>
            </a:pPr>
            <a:r>
              <a:rPr sz="1500" b="1" i="0">
                <a:solidFill>
                  <a:srgbClr val="1E1E1E"/>
                </a:solidFill>
                <a:latin typeface="Calibri"/>
              </a:rPr>
              <a:t>MERCEK</a:t>
            </a:r>
          </a:p>
        </p:txBody>
      </p:sp>
      <p:sp>
        <p:nvSpPr>
          <p:cNvPr id="5" name="TextBox 4"/>
          <p:cNvSpPr txBox="1"/>
          <p:nvPr/>
        </p:nvSpPr>
        <p:spPr>
          <a:xfrm>
            <a:off x="11292840" y="6382512"/>
            <a:ext cx="685800" cy="274320"/>
          </a:xfrm>
          <a:prstGeom prst="rect">
            <a:avLst/>
          </a:prstGeom>
          <a:noFill/>
        </p:spPr>
        <p:txBody>
          <a:bodyPr wrap="square" anchor="t" lIns="0" rIns="0" tIns="0" bIns="0">
            <a:spAutoFit/>
          </a:bodyPr>
          <a:lstStyle/>
          <a:p>
            <a:pPr algn="r">
              <a:spcAft>
                <a:spcPts val="400"/>
              </a:spcAft>
            </a:pPr>
            <a:r>
              <a:rPr sz="1100" b="0" i="0">
                <a:solidFill>
                  <a:srgbClr val="91969B"/>
                </a:solidFill>
                <a:latin typeface="Calibri"/>
              </a:rPr>
              <a:t>4</a:t>
            </a:r>
          </a:p>
        </p:txBody>
      </p:sp>
      <p:sp>
        <p:nvSpPr>
          <p:cNvPr id="6" name="TextBox 5"/>
          <p:cNvSpPr txBox="1"/>
          <p:nvPr/>
        </p:nvSpPr>
        <p:spPr>
          <a:xfrm>
            <a:off x="411480" y="1097280"/>
            <a:ext cx="11338560" cy="731520"/>
          </a:xfrm>
          <a:prstGeom prst="rect">
            <a:avLst/>
          </a:prstGeom>
          <a:noFill/>
        </p:spPr>
        <p:txBody>
          <a:bodyPr wrap="square" anchor="t" lIns="0" rIns="0" tIns="0" bIns="0">
            <a:spAutoFit/>
          </a:bodyPr>
          <a:lstStyle/>
          <a:p>
            <a:pPr algn="l">
              <a:spcAft>
                <a:spcPts val="400"/>
              </a:spcAft>
            </a:pPr>
            <a:r>
              <a:rPr sz="1800" b="0" i="0">
                <a:solidFill>
                  <a:srgbClr val="1E1E1E"/>
                </a:solidFill>
                <a:latin typeface="Calibri"/>
              </a:rPr>
              <a:t>Banka çalışanlarının ekranlarda yaşadığı sorunu loglardan, çağrı geçmişinden ve koddan açıklar; çağrıları doğru servise yönlendirip birleştirir ve iş birimi taleplerini servis bazlı efor ve takvimle plana dönüştürür.</a:t>
            </a:r>
          </a:p>
        </p:txBody>
      </p:sp>
      <p:sp>
        <p:nvSpPr>
          <p:cNvPr id="7" name="Rounded Rectangle 6"/>
          <p:cNvSpPr/>
          <p:nvPr/>
        </p:nvSpPr>
        <p:spPr>
          <a:xfrm>
            <a:off x="411480" y="2011680"/>
            <a:ext cx="5257800" cy="2971800"/>
          </a:xfrm>
          <a:prstGeom prst="roundRect">
            <a:avLst>
              <a:gd name="adj" fmla="val 6000"/>
            </a:avLst>
          </a:prstGeom>
          <a:solidFill>
            <a:srgbClr val="F2F5F6"/>
          </a:solidFill>
          <a:ln>
            <a:noFill/>
          </a:ln>
          <a:effectLst/>
        </p:spPr>
        <p:txBody>
          <a:bodyPr rtlCol="0" anchor="ctr"/>
          <a:lstStyle/>
          <a:p/>
        </p:txBody>
      </p:sp>
      <p:sp>
        <p:nvSpPr>
          <p:cNvPr id="8" name="Rounded Rectangle 7"/>
          <p:cNvSpPr/>
          <p:nvPr/>
        </p:nvSpPr>
        <p:spPr>
          <a:xfrm>
            <a:off x="411480" y="2011680"/>
            <a:ext cx="5257800" cy="777240"/>
          </a:xfrm>
          <a:prstGeom prst="roundRect">
            <a:avLst>
              <a:gd name="adj" fmla="val 12000"/>
            </a:avLst>
          </a:prstGeom>
          <a:solidFill>
            <a:srgbClr val="E10514"/>
          </a:solidFill>
          <a:ln>
            <a:noFill/>
          </a:ln>
          <a:effectLst/>
        </p:spPr>
        <p:txBody>
          <a:bodyPr rtlCol="0" anchor="ctr"/>
          <a:lstStyle/>
          <a:p/>
        </p:txBody>
      </p:sp>
      <p:sp>
        <p:nvSpPr>
          <p:cNvPr id="9" name="Oval 8"/>
          <p:cNvSpPr/>
          <p:nvPr/>
        </p:nvSpPr>
        <p:spPr>
          <a:xfrm>
            <a:off x="594360" y="2130552"/>
            <a:ext cx="548640" cy="548640"/>
          </a:xfrm>
          <a:prstGeom prst="ellipse">
            <a:avLst/>
          </a:prstGeom>
          <a:solidFill>
            <a:srgbClr val="870F00"/>
          </a:solidFill>
          <a:ln>
            <a:noFill/>
          </a:ln>
          <a:effectLst/>
        </p:spPr>
        <p:txBody>
          <a:bodyPr rtlCol="0" anchor="ctr"/>
          <a:lstStyle/>
          <a:p/>
        </p:txBody>
      </p:sp>
      <p:pic>
        <p:nvPicPr>
          <p:cNvPr id="10" name="Picture 9" descr="headset-w.png"/>
          <p:cNvPicPr>
            <a:picLocks noChangeAspect="1"/>
          </p:cNvPicPr>
          <p:nvPr/>
        </p:nvPicPr>
        <p:blipFill>
          <a:blip r:embed="rId3"/>
          <a:stretch>
            <a:fillRect/>
          </a:stretch>
        </p:blipFill>
        <p:spPr>
          <a:xfrm>
            <a:off x="731520" y="2267712"/>
            <a:ext cx="274320" cy="274320"/>
          </a:xfrm>
          <a:prstGeom prst="rect">
            <a:avLst/>
          </a:prstGeom>
        </p:spPr>
      </p:pic>
      <p:sp>
        <p:nvSpPr>
          <p:cNvPr id="11" name="TextBox 10"/>
          <p:cNvSpPr txBox="1"/>
          <p:nvPr/>
        </p:nvSpPr>
        <p:spPr>
          <a:xfrm>
            <a:off x="1280160" y="2011680"/>
            <a:ext cx="4251960" cy="777240"/>
          </a:xfrm>
          <a:prstGeom prst="rect">
            <a:avLst/>
          </a:prstGeom>
          <a:noFill/>
        </p:spPr>
        <p:txBody>
          <a:bodyPr wrap="square" anchor="ctr" lIns="0" rIns="0" tIns="0" bIns="0">
            <a:spAutoFit/>
          </a:bodyPr>
          <a:lstStyle/>
          <a:p>
            <a:pPr algn="l">
              <a:spcAft>
                <a:spcPts val="400"/>
              </a:spcAft>
            </a:pPr>
            <a:r>
              <a:rPr sz="1800" b="1" i="0">
                <a:solidFill>
                  <a:srgbClr val="FFFFFF"/>
                </a:solidFill>
                <a:latin typeface="Calibri"/>
              </a:rPr>
              <a:t>Akıllı Problem Çözüm ve Çağrı Yönetimi</a:t>
            </a:r>
          </a:p>
        </p:txBody>
      </p:sp>
      <p:sp>
        <p:nvSpPr>
          <p:cNvPr id="12" name="TextBox 11"/>
          <p:cNvSpPr txBox="1"/>
          <p:nvPr/>
        </p:nvSpPr>
        <p:spPr>
          <a:xfrm>
            <a:off x="685800" y="3017520"/>
            <a:ext cx="4709160" cy="1828800"/>
          </a:xfrm>
          <a:prstGeom prst="rect">
            <a:avLst/>
          </a:prstGeom>
          <a:noFill/>
        </p:spPr>
        <p:txBody>
          <a:bodyPr wrap="square" anchor="t" lIns="0" rIns="0" tIns="0" bIns="0">
            <a:spAutoFit/>
          </a:bodyPr>
          <a:lstStyle/>
          <a:p>
            <a:pPr algn="l" marL="228600" indent="-228600">
              <a:spcAft>
                <a:spcPts val="800"/>
              </a:spcAft>
              <a:buClr>
                <a:srgbClr val="E10514"/>
              </a:buClr>
              <a:buFont typeface="Arial"/>
              <a:buChar char="•"/>
            </a:pPr>
            <a:r>
              <a:rPr sz="1600" b="0" i="0">
                <a:solidFill>
                  <a:srgbClr val="1E1E1E"/>
                </a:solidFill>
                <a:latin typeface="Calibri"/>
              </a:rPr>
              <a:t>Ekran bağlamıyla logu bulur, iş kuralını hatadan ayırır</a:t>
            </a:r>
          </a:p>
          <a:p>
            <a:pPr algn="l" marL="228600" indent="-228600">
              <a:spcAft>
                <a:spcPts val="800"/>
              </a:spcAft>
              <a:buClr>
                <a:srgbClr val="E10514"/>
              </a:buClr>
              <a:buFont typeface="Arial"/>
              <a:buChar char="•"/>
            </a:pPr>
            <a:r>
              <a:rPr sz="1600" b="0" i="0">
                <a:solidFill>
                  <a:srgbClr val="1E1E1E"/>
                </a:solidFill>
                <a:latin typeface="Calibri"/>
              </a:rPr>
              <a:t>Çağrıyı servise atar, mükerrerleri ana kayda bağlar</a:t>
            </a:r>
          </a:p>
          <a:p>
            <a:pPr algn="l" marL="228600" indent="-228600">
              <a:spcAft>
                <a:spcPts val="800"/>
              </a:spcAft>
              <a:buClr>
                <a:srgbClr val="E10514"/>
              </a:buClr>
              <a:buFont typeface="Arial"/>
              <a:buChar char="•"/>
            </a:pPr>
            <a:r>
              <a:rPr sz="1600" b="0" i="0">
                <a:solidFill>
                  <a:srgbClr val="1E1E1E"/>
                </a:solidFill>
                <a:latin typeface="Calibri"/>
              </a:rPr>
              <a:t>Geçmiş çözümü bulur; yoksa duyuruya ve koda bakar</a:t>
            </a:r>
          </a:p>
        </p:txBody>
      </p:sp>
      <p:sp>
        <p:nvSpPr>
          <p:cNvPr id="13" name="Rounded Rectangle 12"/>
          <p:cNvSpPr/>
          <p:nvPr/>
        </p:nvSpPr>
        <p:spPr>
          <a:xfrm>
            <a:off x="6492240" y="2011680"/>
            <a:ext cx="5257800" cy="2971800"/>
          </a:xfrm>
          <a:prstGeom prst="roundRect">
            <a:avLst>
              <a:gd name="adj" fmla="val 6000"/>
            </a:avLst>
          </a:prstGeom>
          <a:solidFill>
            <a:srgbClr val="F2F5F6"/>
          </a:solidFill>
          <a:ln>
            <a:noFill/>
          </a:ln>
          <a:effectLst/>
        </p:spPr>
        <p:txBody>
          <a:bodyPr rtlCol="0" anchor="ctr"/>
          <a:lstStyle/>
          <a:p/>
        </p:txBody>
      </p:sp>
      <p:sp>
        <p:nvSpPr>
          <p:cNvPr id="14" name="Rounded Rectangle 13"/>
          <p:cNvSpPr/>
          <p:nvPr/>
        </p:nvSpPr>
        <p:spPr>
          <a:xfrm>
            <a:off x="6492240" y="2011680"/>
            <a:ext cx="5257800" cy="777240"/>
          </a:xfrm>
          <a:prstGeom prst="roundRect">
            <a:avLst>
              <a:gd name="adj" fmla="val 12000"/>
            </a:avLst>
          </a:prstGeom>
          <a:solidFill>
            <a:srgbClr val="B90F0A"/>
          </a:solidFill>
          <a:ln>
            <a:noFill/>
          </a:ln>
          <a:effectLst/>
        </p:spPr>
        <p:txBody>
          <a:bodyPr rtlCol="0" anchor="ctr"/>
          <a:lstStyle/>
          <a:p/>
        </p:txBody>
      </p:sp>
      <p:sp>
        <p:nvSpPr>
          <p:cNvPr id="15" name="Oval 14"/>
          <p:cNvSpPr/>
          <p:nvPr/>
        </p:nvSpPr>
        <p:spPr>
          <a:xfrm>
            <a:off x="6675120" y="2130552"/>
            <a:ext cx="548640" cy="548640"/>
          </a:xfrm>
          <a:prstGeom prst="ellipse">
            <a:avLst/>
          </a:prstGeom>
          <a:solidFill>
            <a:srgbClr val="870F00"/>
          </a:solidFill>
          <a:ln>
            <a:noFill/>
          </a:ln>
          <a:effectLst/>
        </p:spPr>
        <p:txBody>
          <a:bodyPr rtlCol="0" anchor="ctr"/>
          <a:lstStyle/>
          <a:p/>
        </p:txBody>
      </p:sp>
      <p:pic>
        <p:nvPicPr>
          <p:cNvPr id="16" name="Picture 15" descr="clip-w.png"/>
          <p:cNvPicPr>
            <a:picLocks noChangeAspect="1"/>
          </p:cNvPicPr>
          <p:nvPr/>
        </p:nvPicPr>
        <p:blipFill>
          <a:blip r:embed="rId4"/>
          <a:stretch>
            <a:fillRect/>
          </a:stretch>
        </p:blipFill>
        <p:spPr>
          <a:xfrm>
            <a:off x="6812280" y="2267712"/>
            <a:ext cx="274320" cy="274320"/>
          </a:xfrm>
          <a:prstGeom prst="rect">
            <a:avLst/>
          </a:prstGeom>
        </p:spPr>
      </p:pic>
      <p:sp>
        <p:nvSpPr>
          <p:cNvPr id="17" name="TextBox 16"/>
          <p:cNvSpPr txBox="1"/>
          <p:nvPr/>
        </p:nvSpPr>
        <p:spPr>
          <a:xfrm>
            <a:off x="7360920" y="2011680"/>
            <a:ext cx="4251960" cy="777240"/>
          </a:xfrm>
          <a:prstGeom prst="rect">
            <a:avLst/>
          </a:prstGeom>
          <a:noFill/>
        </p:spPr>
        <p:txBody>
          <a:bodyPr wrap="square" anchor="ctr" lIns="0" rIns="0" tIns="0" bIns="0">
            <a:spAutoFit/>
          </a:bodyPr>
          <a:lstStyle/>
          <a:p>
            <a:pPr algn="l">
              <a:spcAft>
                <a:spcPts val="400"/>
              </a:spcAft>
            </a:pPr>
            <a:r>
              <a:rPr sz="1800" b="1" i="0">
                <a:solidFill>
                  <a:srgbClr val="FFFFFF"/>
                </a:solidFill>
                <a:latin typeface="Calibri"/>
              </a:rPr>
              <a:t>Akıllı Talep Analizi, Efor ve Takvim</a:t>
            </a:r>
          </a:p>
        </p:txBody>
      </p:sp>
      <p:sp>
        <p:nvSpPr>
          <p:cNvPr id="18" name="TextBox 17"/>
          <p:cNvSpPr txBox="1"/>
          <p:nvPr/>
        </p:nvSpPr>
        <p:spPr>
          <a:xfrm>
            <a:off x="6766560" y="3017520"/>
            <a:ext cx="4709160" cy="1828800"/>
          </a:xfrm>
          <a:prstGeom prst="rect">
            <a:avLst/>
          </a:prstGeom>
          <a:noFill/>
        </p:spPr>
        <p:txBody>
          <a:bodyPr wrap="square" anchor="t" lIns="0" rIns="0" tIns="0" bIns="0">
            <a:spAutoFit/>
          </a:bodyPr>
          <a:lstStyle/>
          <a:p>
            <a:pPr algn="l" marL="228600" indent="-228600">
              <a:spcAft>
                <a:spcPts val="800"/>
              </a:spcAft>
              <a:buClr>
                <a:srgbClr val="E10514"/>
              </a:buClr>
              <a:buFont typeface="Arial"/>
              <a:buChar char="•"/>
            </a:pPr>
            <a:r>
              <a:rPr sz="1600" b="0" i="0">
                <a:solidFill>
                  <a:srgbClr val="1E1E1E"/>
                </a:solidFill>
                <a:latin typeface="Calibri"/>
              </a:rPr>
              <a:t>Talebi bileşenlere ayırır, ekranları ve servisleri bulur</a:t>
            </a:r>
          </a:p>
          <a:p>
            <a:pPr algn="l" marL="228600" indent="-228600">
              <a:spcAft>
                <a:spcPts val="800"/>
              </a:spcAft>
              <a:buClr>
                <a:srgbClr val="E10514"/>
              </a:buClr>
              <a:buFont typeface="Arial"/>
              <a:buChar char="•"/>
            </a:pPr>
            <a:r>
              <a:rPr sz="1600" b="0" i="0">
                <a:solidFill>
                  <a:srgbClr val="1E1E1E"/>
                </a:solidFill>
                <a:latin typeface="Calibri"/>
              </a:rPr>
              <a:t>Benzer taleplerden adam-gün, servis takviminden plan</a:t>
            </a:r>
          </a:p>
          <a:p>
            <a:pPr algn="l" marL="228600" indent="-228600">
              <a:spcAft>
                <a:spcPts val="800"/>
              </a:spcAft>
              <a:buClr>
                <a:srgbClr val="E10514"/>
              </a:buClr>
              <a:buFont typeface="Arial"/>
              <a:buChar char="•"/>
            </a:pPr>
            <a:r>
              <a:rPr sz="1600" b="0" i="0">
                <a:solidFill>
                  <a:srgbClr val="1E1E1E"/>
                </a:solidFill>
                <a:latin typeface="Calibri"/>
              </a:rPr>
              <a:t>Çağrı ve müşteri verisiyle kapsamı düzeltir</a:t>
            </a:r>
          </a:p>
        </p:txBody>
      </p:sp>
      <p:sp>
        <p:nvSpPr>
          <p:cNvPr id="19" name="Rounded Rectangle 18"/>
          <p:cNvSpPr/>
          <p:nvPr/>
        </p:nvSpPr>
        <p:spPr>
          <a:xfrm>
            <a:off x="5733288" y="3017520"/>
            <a:ext cx="731520" cy="914400"/>
          </a:xfrm>
          <a:prstGeom prst="roundRect">
            <a:avLst>
              <a:gd name="adj" fmla="val 15000"/>
            </a:avLst>
          </a:prstGeom>
          <a:solidFill>
            <a:srgbClr val="870F00"/>
          </a:solidFill>
          <a:ln>
            <a:noFill/>
          </a:ln>
          <a:effectLst/>
        </p:spPr>
        <p:txBody>
          <a:bodyPr rtlCol="0" anchor="ctr"/>
          <a:lstStyle/>
          <a:p/>
        </p:txBody>
      </p:sp>
      <p:sp>
        <p:nvSpPr>
          <p:cNvPr id="20" name="TextBox 19"/>
          <p:cNvSpPr txBox="1"/>
          <p:nvPr/>
        </p:nvSpPr>
        <p:spPr>
          <a:xfrm>
            <a:off x="5733288" y="3017520"/>
            <a:ext cx="731520" cy="914400"/>
          </a:xfrm>
          <a:prstGeom prst="rect">
            <a:avLst/>
          </a:prstGeom>
          <a:noFill/>
        </p:spPr>
        <p:txBody>
          <a:bodyPr wrap="square" anchor="ctr" lIns="0" rIns="0" tIns="0" bIns="0">
            <a:spAutoFit/>
          </a:bodyPr>
          <a:lstStyle/>
          <a:p>
            <a:pPr algn="ctr">
              <a:spcAft>
                <a:spcPts val="0"/>
              </a:spcAft>
            </a:pPr>
            <a:r>
              <a:rPr sz="1100" b="1" i="0">
                <a:solidFill>
                  <a:srgbClr val="FFFFFF"/>
                </a:solidFill>
                <a:latin typeface="Calibri"/>
              </a:rPr>
              <a:t>veri</a:t>
            </a:r>
          </a:p>
          <a:p>
            <a:pPr algn="ctr">
              <a:spcAft>
                <a:spcPts val="0"/>
              </a:spcAft>
            </a:pPr>
            <a:r>
              <a:rPr sz="1100" b="1" i="0">
                <a:solidFill>
                  <a:srgbClr val="FFFFFF"/>
                </a:solidFill>
                <a:latin typeface="Calibri"/>
              </a:rPr>
              <a:t>→</a:t>
            </a:r>
          </a:p>
          <a:p>
            <a:pPr algn="ctr">
              <a:spcAft>
                <a:spcPts val="0"/>
              </a:spcAft>
            </a:pPr>
            <a:r>
              <a:rPr sz="1100" b="1" i="0">
                <a:solidFill>
                  <a:srgbClr val="FFFFFF"/>
                </a:solidFill>
                <a:latin typeface="Calibri"/>
              </a:rPr>
              <a:t>kapsam</a:t>
            </a:r>
          </a:p>
        </p:txBody>
      </p:sp>
      <p:sp>
        <p:nvSpPr>
          <p:cNvPr id="21" name="TextBox 20"/>
          <p:cNvSpPr txBox="1"/>
          <p:nvPr/>
        </p:nvSpPr>
        <p:spPr>
          <a:xfrm>
            <a:off x="411480" y="5257800"/>
            <a:ext cx="1645920" cy="502920"/>
          </a:xfrm>
          <a:prstGeom prst="rect">
            <a:avLst/>
          </a:prstGeom>
          <a:noFill/>
        </p:spPr>
        <p:txBody>
          <a:bodyPr wrap="square" anchor="ctr" lIns="0" rIns="0" tIns="0" bIns="0">
            <a:spAutoFit/>
          </a:bodyPr>
          <a:lstStyle/>
          <a:p>
            <a:pPr algn="l">
              <a:spcAft>
                <a:spcPts val="400"/>
              </a:spcAft>
            </a:pPr>
            <a:r>
              <a:rPr sz="1600" b="1" i="0">
                <a:solidFill>
                  <a:srgbClr val="1E1E1E"/>
                </a:solidFill>
                <a:latin typeface="Calibri"/>
              </a:rPr>
              <a:t>Kullanıcılar</a:t>
            </a:r>
          </a:p>
        </p:txBody>
      </p:sp>
      <p:sp>
        <p:nvSpPr>
          <p:cNvPr id="22" name="Rounded Rectangle 21"/>
          <p:cNvSpPr/>
          <p:nvPr/>
        </p:nvSpPr>
        <p:spPr>
          <a:xfrm>
            <a:off x="2103120" y="5257800"/>
            <a:ext cx="2194560" cy="502920"/>
          </a:xfrm>
          <a:prstGeom prst="roundRect">
            <a:avLst>
              <a:gd name="adj" fmla="val 50000"/>
            </a:avLst>
          </a:prstGeom>
          <a:solidFill>
            <a:srgbClr val="D2DCE1"/>
          </a:solidFill>
          <a:ln>
            <a:noFill/>
          </a:ln>
          <a:effectLst/>
        </p:spPr>
        <p:txBody>
          <a:bodyPr rtlCol="0" anchor="ctr"/>
          <a:lstStyle/>
          <a:p/>
        </p:txBody>
      </p:sp>
      <p:sp>
        <p:nvSpPr>
          <p:cNvPr id="23" name="TextBox 22"/>
          <p:cNvSpPr txBox="1"/>
          <p:nvPr/>
        </p:nvSpPr>
        <p:spPr>
          <a:xfrm>
            <a:off x="2103120" y="5257800"/>
            <a:ext cx="2194560" cy="502920"/>
          </a:xfrm>
          <a:prstGeom prst="rect">
            <a:avLst/>
          </a:prstGeom>
          <a:noFill/>
        </p:spPr>
        <p:txBody>
          <a:bodyPr wrap="square" anchor="ctr" lIns="0" rIns="0" tIns="0" bIns="0">
            <a:spAutoFit/>
          </a:bodyPr>
          <a:lstStyle/>
          <a:p>
            <a:pPr algn="ctr">
              <a:spcAft>
                <a:spcPts val="400"/>
              </a:spcAft>
            </a:pPr>
            <a:r>
              <a:rPr sz="1400" b="1" i="0">
                <a:solidFill>
                  <a:srgbClr val="1E1E1E"/>
                </a:solidFill>
                <a:latin typeface="Calibri"/>
              </a:rPr>
              <a:t>Şube, çağrı merkezi</a:t>
            </a:r>
          </a:p>
        </p:txBody>
      </p:sp>
      <p:sp>
        <p:nvSpPr>
          <p:cNvPr id="24" name="Rounded Rectangle 23"/>
          <p:cNvSpPr/>
          <p:nvPr/>
        </p:nvSpPr>
        <p:spPr>
          <a:xfrm>
            <a:off x="4480560" y="5257800"/>
            <a:ext cx="2194560" cy="502920"/>
          </a:xfrm>
          <a:prstGeom prst="roundRect">
            <a:avLst>
              <a:gd name="adj" fmla="val 50000"/>
            </a:avLst>
          </a:prstGeom>
          <a:solidFill>
            <a:srgbClr val="D2DCE1"/>
          </a:solidFill>
          <a:ln>
            <a:noFill/>
          </a:ln>
          <a:effectLst/>
        </p:spPr>
        <p:txBody>
          <a:bodyPr rtlCol="0" anchor="ctr"/>
          <a:lstStyle/>
          <a:p/>
        </p:txBody>
      </p:sp>
      <p:sp>
        <p:nvSpPr>
          <p:cNvPr id="25" name="TextBox 24"/>
          <p:cNvSpPr txBox="1"/>
          <p:nvPr/>
        </p:nvSpPr>
        <p:spPr>
          <a:xfrm>
            <a:off x="4480560" y="5257800"/>
            <a:ext cx="2194560" cy="502920"/>
          </a:xfrm>
          <a:prstGeom prst="rect">
            <a:avLst/>
          </a:prstGeom>
          <a:noFill/>
        </p:spPr>
        <p:txBody>
          <a:bodyPr wrap="square" anchor="ctr" lIns="0" rIns="0" tIns="0" bIns="0">
            <a:spAutoFit/>
          </a:bodyPr>
          <a:lstStyle/>
          <a:p>
            <a:pPr algn="ctr">
              <a:spcAft>
                <a:spcPts val="400"/>
              </a:spcAft>
            </a:pPr>
            <a:r>
              <a:rPr sz="1400" b="1" i="0">
                <a:solidFill>
                  <a:srgbClr val="1E1E1E"/>
                </a:solidFill>
                <a:latin typeface="Calibri"/>
              </a:rPr>
              <a:t>L2, platform</a:t>
            </a:r>
          </a:p>
        </p:txBody>
      </p:sp>
      <p:sp>
        <p:nvSpPr>
          <p:cNvPr id="26" name="Rounded Rectangle 25"/>
          <p:cNvSpPr/>
          <p:nvPr/>
        </p:nvSpPr>
        <p:spPr>
          <a:xfrm>
            <a:off x="6858000" y="5257800"/>
            <a:ext cx="2194560" cy="502920"/>
          </a:xfrm>
          <a:prstGeom prst="roundRect">
            <a:avLst>
              <a:gd name="adj" fmla="val 50000"/>
            </a:avLst>
          </a:prstGeom>
          <a:solidFill>
            <a:srgbClr val="D2DCE1"/>
          </a:solidFill>
          <a:ln>
            <a:noFill/>
          </a:ln>
          <a:effectLst/>
        </p:spPr>
        <p:txBody>
          <a:bodyPr rtlCol="0" anchor="ctr"/>
          <a:lstStyle/>
          <a:p/>
        </p:txBody>
      </p:sp>
      <p:sp>
        <p:nvSpPr>
          <p:cNvPr id="27" name="TextBox 26"/>
          <p:cNvSpPr txBox="1"/>
          <p:nvPr/>
        </p:nvSpPr>
        <p:spPr>
          <a:xfrm>
            <a:off x="6858000" y="5257800"/>
            <a:ext cx="2194560" cy="502920"/>
          </a:xfrm>
          <a:prstGeom prst="rect">
            <a:avLst/>
          </a:prstGeom>
          <a:noFill/>
        </p:spPr>
        <p:txBody>
          <a:bodyPr wrap="square" anchor="ctr" lIns="0" rIns="0" tIns="0" bIns="0">
            <a:spAutoFit/>
          </a:bodyPr>
          <a:lstStyle/>
          <a:p>
            <a:pPr algn="ctr">
              <a:spcAft>
                <a:spcPts val="400"/>
              </a:spcAft>
            </a:pPr>
            <a:r>
              <a:rPr sz="1400" b="1" i="0">
                <a:solidFill>
                  <a:srgbClr val="1E1E1E"/>
                </a:solidFill>
                <a:latin typeface="Calibri"/>
              </a:rPr>
              <a:t>İş birimleri</a:t>
            </a:r>
          </a:p>
        </p:txBody>
      </p:sp>
      <p:sp>
        <p:nvSpPr>
          <p:cNvPr id="28" name="Rounded Rectangle 27"/>
          <p:cNvSpPr/>
          <p:nvPr/>
        </p:nvSpPr>
        <p:spPr>
          <a:xfrm>
            <a:off x="9235440" y="5257800"/>
            <a:ext cx="2194560" cy="502920"/>
          </a:xfrm>
          <a:prstGeom prst="roundRect">
            <a:avLst>
              <a:gd name="adj" fmla="val 50000"/>
            </a:avLst>
          </a:prstGeom>
          <a:solidFill>
            <a:srgbClr val="D2DCE1"/>
          </a:solidFill>
          <a:ln>
            <a:noFill/>
          </a:ln>
          <a:effectLst/>
        </p:spPr>
        <p:txBody>
          <a:bodyPr rtlCol="0" anchor="ctr"/>
          <a:lstStyle/>
          <a:p/>
        </p:txBody>
      </p:sp>
      <p:sp>
        <p:nvSpPr>
          <p:cNvPr id="29" name="TextBox 28"/>
          <p:cNvSpPr txBox="1"/>
          <p:nvPr/>
        </p:nvSpPr>
        <p:spPr>
          <a:xfrm>
            <a:off x="9235440" y="5257800"/>
            <a:ext cx="2194560" cy="502920"/>
          </a:xfrm>
          <a:prstGeom prst="rect">
            <a:avLst/>
          </a:prstGeom>
          <a:noFill/>
        </p:spPr>
        <p:txBody>
          <a:bodyPr wrap="square" anchor="ctr" lIns="0" rIns="0" tIns="0" bIns="0">
            <a:spAutoFit/>
          </a:bodyPr>
          <a:lstStyle/>
          <a:p>
            <a:pPr algn="ctr">
              <a:spcAft>
                <a:spcPts val="400"/>
              </a:spcAft>
            </a:pPr>
            <a:r>
              <a:rPr sz="1400" b="1" i="0">
                <a:solidFill>
                  <a:srgbClr val="1E1E1E"/>
                </a:solidFill>
                <a:latin typeface="Calibri"/>
              </a:rPr>
              <a:t>İş analisti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 y="91440"/>
            <a:ext cx="10058400" cy="566928"/>
          </a:xfrm>
          <a:prstGeom prst="rect">
            <a:avLst/>
          </a:prstGeom>
          <a:noFill/>
        </p:spPr>
        <p:txBody>
          <a:bodyPr wrap="square" anchor="t" lIns="0" rIns="0" tIns="0" bIns="0">
            <a:spAutoFit/>
          </a:bodyPr>
          <a:lstStyle/>
          <a:p>
            <a:pPr algn="l">
              <a:spcAft>
                <a:spcPts val="400"/>
              </a:spcAft>
            </a:pPr>
            <a:r>
              <a:rPr sz="3200" b="1" i="0">
                <a:solidFill>
                  <a:srgbClr val="1E1E1E"/>
                </a:solidFill>
                <a:latin typeface="Calibri"/>
              </a:rPr>
              <a:t>Dört Farkımız</a:t>
            </a:r>
          </a:p>
        </p:txBody>
      </p:sp>
      <p:pic>
        <p:nvPicPr>
          <p:cNvPr id="3" name="Picture 2" descr="mercek-logo-kucuk.png"/>
          <p:cNvPicPr>
            <a:picLocks noChangeAspect="1"/>
          </p:cNvPicPr>
          <p:nvPr/>
        </p:nvPicPr>
        <p:blipFill>
          <a:blip r:embed="rId2"/>
          <a:stretch>
            <a:fillRect/>
          </a:stretch>
        </p:blipFill>
        <p:spPr>
          <a:xfrm>
            <a:off x="10561320" y="155448"/>
            <a:ext cx="351129" cy="351129"/>
          </a:xfrm>
          <a:prstGeom prst="rect">
            <a:avLst/>
          </a:prstGeom>
        </p:spPr>
      </p:pic>
      <p:sp>
        <p:nvSpPr>
          <p:cNvPr id="4" name="TextBox 3"/>
          <p:cNvSpPr txBox="1"/>
          <p:nvPr/>
        </p:nvSpPr>
        <p:spPr>
          <a:xfrm>
            <a:off x="10978286" y="155448"/>
            <a:ext cx="1645919" cy="351129"/>
          </a:xfrm>
          <a:prstGeom prst="rect">
            <a:avLst/>
          </a:prstGeom>
          <a:noFill/>
        </p:spPr>
        <p:txBody>
          <a:bodyPr wrap="square" anchor="ctr" lIns="0" rIns="0" tIns="0" bIns="0">
            <a:spAutoFit/>
          </a:bodyPr>
          <a:lstStyle/>
          <a:p>
            <a:pPr algn="l">
              <a:spcAft>
                <a:spcPts val="400"/>
              </a:spcAft>
            </a:pPr>
            <a:r>
              <a:rPr sz="1500" b="1" i="0">
                <a:solidFill>
                  <a:srgbClr val="1E1E1E"/>
                </a:solidFill>
                <a:latin typeface="Calibri"/>
              </a:rPr>
              <a:t>MERCEK</a:t>
            </a:r>
          </a:p>
        </p:txBody>
      </p:sp>
      <p:sp>
        <p:nvSpPr>
          <p:cNvPr id="5" name="TextBox 4"/>
          <p:cNvSpPr txBox="1"/>
          <p:nvPr/>
        </p:nvSpPr>
        <p:spPr>
          <a:xfrm>
            <a:off x="155448" y="658368"/>
            <a:ext cx="11430000" cy="365760"/>
          </a:xfrm>
          <a:prstGeom prst="rect">
            <a:avLst/>
          </a:prstGeom>
          <a:noFill/>
        </p:spPr>
        <p:txBody>
          <a:bodyPr wrap="square" anchor="t" lIns="0" rIns="0" tIns="0" bIns="0">
            <a:spAutoFit/>
          </a:bodyPr>
          <a:lstStyle/>
          <a:p>
            <a:pPr algn="l">
              <a:spcAft>
                <a:spcPts val="400"/>
              </a:spcAft>
            </a:pPr>
            <a:r>
              <a:rPr sz="1600" b="0" i="0">
                <a:solidFill>
                  <a:srgbClr val="91969B"/>
                </a:solidFill>
                <a:latin typeface="Calibri"/>
              </a:rPr>
              <a:t>Bugünkü araçlar sorunu kaydeder; Mercek açıklar, kaynağına bağlar ve yeni talebin planına taşır.</a:t>
            </a:r>
          </a:p>
        </p:txBody>
      </p:sp>
      <p:sp>
        <p:nvSpPr>
          <p:cNvPr id="6" name="TextBox 5"/>
          <p:cNvSpPr txBox="1"/>
          <p:nvPr/>
        </p:nvSpPr>
        <p:spPr>
          <a:xfrm>
            <a:off x="11292840" y="6382512"/>
            <a:ext cx="685800" cy="274320"/>
          </a:xfrm>
          <a:prstGeom prst="rect">
            <a:avLst/>
          </a:prstGeom>
          <a:noFill/>
        </p:spPr>
        <p:txBody>
          <a:bodyPr wrap="square" anchor="t" lIns="0" rIns="0" tIns="0" bIns="0">
            <a:spAutoFit/>
          </a:bodyPr>
          <a:lstStyle/>
          <a:p>
            <a:pPr algn="r">
              <a:spcAft>
                <a:spcPts val="400"/>
              </a:spcAft>
            </a:pPr>
            <a:r>
              <a:rPr sz="1100" b="0" i="0">
                <a:solidFill>
                  <a:srgbClr val="91969B"/>
                </a:solidFill>
                <a:latin typeface="Calibri"/>
              </a:rPr>
              <a:t>5</a:t>
            </a:r>
          </a:p>
        </p:txBody>
      </p:sp>
      <p:sp>
        <p:nvSpPr>
          <p:cNvPr id="7" name="Rounded Rectangle 6"/>
          <p:cNvSpPr/>
          <p:nvPr/>
        </p:nvSpPr>
        <p:spPr>
          <a:xfrm>
            <a:off x="411480" y="1280160"/>
            <a:ext cx="5532120" cy="2148840"/>
          </a:xfrm>
          <a:prstGeom prst="roundRect">
            <a:avLst>
              <a:gd name="adj" fmla="val 6000"/>
            </a:avLst>
          </a:prstGeom>
          <a:solidFill>
            <a:srgbClr val="F2F5F6"/>
          </a:solidFill>
          <a:ln>
            <a:noFill/>
          </a:ln>
          <a:effectLst/>
        </p:spPr>
        <p:txBody>
          <a:bodyPr rtlCol="0" anchor="ctr"/>
          <a:lstStyle/>
          <a:p/>
        </p:txBody>
      </p:sp>
      <p:sp>
        <p:nvSpPr>
          <p:cNvPr id="8" name="Oval 7"/>
          <p:cNvSpPr/>
          <p:nvPr/>
        </p:nvSpPr>
        <p:spPr>
          <a:xfrm>
            <a:off x="731520" y="1645919"/>
            <a:ext cx="777240" cy="777240"/>
          </a:xfrm>
          <a:prstGeom prst="ellipse">
            <a:avLst/>
          </a:prstGeom>
          <a:solidFill>
            <a:srgbClr val="E10514"/>
          </a:solidFill>
          <a:ln>
            <a:noFill/>
          </a:ln>
          <a:effectLst/>
        </p:spPr>
        <p:txBody>
          <a:bodyPr rtlCol="0" anchor="ctr"/>
          <a:lstStyle/>
          <a:p/>
        </p:txBody>
      </p:sp>
      <p:pic>
        <p:nvPicPr>
          <p:cNvPr id="9" name="Picture 8" descr="bolt-w.png"/>
          <p:cNvPicPr>
            <a:picLocks noChangeAspect="1"/>
          </p:cNvPicPr>
          <p:nvPr/>
        </p:nvPicPr>
        <p:blipFill>
          <a:blip r:embed="rId3"/>
          <a:stretch>
            <a:fillRect/>
          </a:stretch>
        </p:blipFill>
        <p:spPr>
          <a:xfrm>
            <a:off x="925830" y="1840229"/>
            <a:ext cx="388620" cy="388620"/>
          </a:xfrm>
          <a:prstGeom prst="rect">
            <a:avLst/>
          </a:prstGeom>
        </p:spPr>
      </p:pic>
      <p:sp>
        <p:nvSpPr>
          <p:cNvPr id="10" name="TextBox 9"/>
          <p:cNvSpPr txBox="1"/>
          <p:nvPr/>
        </p:nvSpPr>
        <p:spPr>
          <a:xfrm>
            <a:off x="1783080" y="1600200"/>
            <a:ext cx="3886200" cy="1691640"/>
          </a:xfrm>
          <a:prstGeom prst="rect">
            <a:avLst/>
          </a:prstGeom>
          <a:noFill/>
        </p:spPr>
        <p:txBody>
          <a:bodyPr wrap="square" anchor="t" lIns="0" rIns="0" tIns="0" bIns="0">
            <a:spAutoFit/>
          </a:bodyPr>
          <a:lstStyle/>
          <a:p>
            <a:pPr algn="l">
              <a:spcAft>
                <a:spcPts val="600"/>
              </a:spcAft>
            </a:pPr>
            <a:r>
              <a:rPr sz="2000" b="1" i="0">
                <a:solidFill>
                  <a:srgbClr val="1E1E1E"/>
                </a:solidFill>
                <a:latin typeface="Calibri"/>
              </a:rPr>
              <a:t>Bağlamı bilir</a:t>
            </a:r>
          </a:p>
          <a:p>
            <a:pPr algn="l">
              <a:spcAft>
                <a:spcPts val="600"/>
              </a:spcAft>
            </a:pPr>
            <a:r>
              <a:rPr sz="1600" b="0" i="0">
                <a:solidFill>
                  <a:srgbClr val="1E1E1E"/>
                </a:solidFill>
                <a:latin typeface="Calibri"/>
              </a:rPr>
              <a:t>Ekran kodu, son işlemin logu ve temsilcinin cümlesiyle çalışır; kullanıcı yazmadan açıklar ve ekranı doğru değerlerle doldurur.</a:t>
            </a:r>
          </a:p>
        </p:txBody>
      </p:sp>
      <p:sp>
        <p:nvSpPr>
          <p:cNvPr id="11" name="Rounded Rectangle 10"/>
          <p:cNvSpPr/>
          <p:nvPr/>
        </p:nvSpPr>
        <p:spPr>
          <a:xfrm>
            <a:off x="6172200" y="1280160"/>
            <a:ext cx="5532120" cy="2148840"/>
          </a:xfrm>
          <a:prstGeom prst="roundRect">
            <a:avLst>
              <a:gd name="adj" fmla="val 6000"/>
            </a:avLst>
          </a:prstGeom>
          <a:solidFill>
            <a:srgbClr val="F2F5F6"/>
          </a:solidFill>
          <a:ln>
            <a:noFill/>
          </a:ln>
          <a:effectLst/>
        </p:spPr>
        <p:txBody>
          <a:bodyPr rtlCol="0" anchor="ctr"/>
          <a:lstStyle/>
          <a:p/>
        </p:txBody>
      </p:sp>
      <p:sp>
        <p:nvSpPr>
          <p:cNvPr id="12" name="Oval 11"/>
          <p:cNvSpPr/>
          <p:nvPr/>
        </p:nvSpPr>
        <p:spPr>
          <a:xfrm>
            <a:off x="6492240" y="1645919"/>
            <a:ext cx="777240" cy="777240"/>
          </a:xfrm>
          <a:prstGeom prst="ellipse">
            <a:avLst/>
          </a:prstGeom>
          <a:solidFill>
            <a:srgbClr val="B90F0A"/>
          </a:solidFill>
          <a:ln>
            <a:noFill/>
          </a:ln>
          <a:effectLst/>
        </p:spPr>
        <p:txBody>
          <a:bodyPr rtlCol="0" anchor="ctr"/>
          <a:lstStyle/>
          <a:p/>
        </p:txBody>
      </p:sp>
      <p:pic>
        <p:nvPicPr>
          <p:cNvPr id="13" name="Picture 12" descr="code-w.png"/>
          <p:cNvPicPr>
            <a:picLocks noChangeAspect="1"/>
          </p:cNvPicPr>
          <p:nvPr/>
        </p:nvPicPr>
        <p:blipFill>
          <a:blip r:embed="rId4"/>
          <a:stretch>
            <a:fillRect/>
          </a:stretch>
        </p:blipFill>
        <p:spPr>
          <a:xfrm>
            <a:off x="6686550" y="1840229"/>
            <a:ext cx="388620" cy="388620"/>
          </a:xfrm>
          <a:prstGeom prst="rect">
            <a:avLst/>
          </a:prstGeom>
        </p:spPr>
      </p:pic>
      <p:sp>
        <p:nvSpPr>
          <p:cNvPr id="14" name="TextBox 13"/>
          <p:cNvSpPr txBox="1"/>
          <p:nvPr/>
        </p:nvSpPr>
        <p:spPr>
          <a:xfrm>
            <a:off x="7543800" y="1600200"/>
            <a:ext cx="3886200" cy="1691640"/>
          </a:xfrm>
          <a:prstGeom prst="rect">
            <a:avLst/>
          </a:prstGeom>
          <a:noFill/>
        </p:spPr>
        <p:txBody>
          <a:bodyPr wrap="square" anchor="t" lIns="0" rIns="0" tIns="0" bIns="0">
            <a:spAutoFit/>
          </a:bodyPr>
          <a:lstStyle/>
          <a:p>
            <a:pPr algn="l">
              <a:spcAft>
                <a:spcPts val="600"/>
              </a:spcAft>
            </a:pPr>
            <a:r>
              <a:rPr sz="2000" b="1" i="0">
                <a:solidFill>
                  <a:srgbClr val="1E1E1E"/>
                </a:solidFill>
                <a:latin typeface="Calibri"/>
              </a:rPr>
              <a:t>Üç kaynağı birleştirir</a:t>
            </a:r>
          </a:p>
          <a:p>
            <a:pPr algn="l">
              <a:spcAft>
                <a:spcPts val="600"/>
              </a:spcAft>
            </a:pPr>
            <a:r>
              <a:rPr sz="1600" b="0" i="0">
                <a:solidFill>
                  <a:srgbClr val="1E1E1E"/>
                </a:solidFill>
                <a:latin typeface="Calibri"/>
              </a:rPr>
              <a:t>Log (ne oluyor), kurum duyurusu (neden) ve uygulama kodu (nerede düzeltilir) tek analizde.</a:t>
            </a:r>
          </a:p>
        </p:txBody>
      </p:sp>
      <p:sp>
        <p:nvSpPr>
          <p:cNvPr id="15" name="Rounded Rectangle 14"/>
          <p:cNvSpPr/>
          <p:nvPr/>
        </p:nvSpPr>
        <p:spPr>
          <a:xfrm>
            <a:off x="411480" y="3657600"/>
            <a:ext cx="5532120" cy="2148840"/>
          </a:xfrm>
          <a:prstGeom prst="roundRect">
            <a:avLst>
              <a:gd name="adj" fmla="val 6000"/>
            </a:avLst>
          </a:prstGeom>
          <a:solidFill>
            <a:srgbClr val="F2F5F6"/>
          </a:solidFill>
          <a:ln>
            <a:noFill/>
          </a:ln>
          <a:effectLst/>
        </p:spPr>
        <p:txBody>
          <a:bodyPr rtlCol="0" anchor="ctr"/>
          <a:lstStyle/>
          <a:p/>
        </p:txBody>
      </p:sp>
      <p:sp>
        <p:nvSpPr>
          <p:cNvPr id="16" name="Oval 15"/>
          <p:cNvSpPr/>
          <p:nvPr/>
        </p:nvSpPr>
        <p:spPr>
          <a:xfrm>
            <a:off x="731520" y="4023360"/>
            <a:ext cx="777240" cy="777240"/>
          </a:xfrm>
          <a:prstGeom prst="ellipse">
            <a:avLst/>
          </a:prstGeom>
          <a:solidFill>
            <a:srgbClr val="870F00"/>
          </a:solidFill>
          <a:ln>
            <a:noFill/>
          </a:ln>
          <a:effectLst/>
        </p:spPr>
        <p:txBody>
          <a:bodyPr rtlCol="0" anchor="ctr"/>
          <a:lstStyle/>
          <a:p/>
        </p:txBody>
      </p:sp>
      <p:pic>
        <p:nvPicPr>
          <p:cNvPr id="17" name="Picture 16" descr="sync-w.png"/>
          <p:cNvPicPr>
            <a:picLocks noChangeAspect="1"/>
          </p:cNvPicPr>
          <p:nvPr/>
        </p:nvPicPr>
        <p:blipFill>
          <a:blip r:embed="rId5"/>
          <a:stretch>
            <a:fillRect/>
          </a:stretch>
        </p:blipFill>
        <p:spPr>
          <a:xfrm>
            <a:off x="925830" y="4217670"/>
            <a:ext cx="388620" cy="388620"/>
          </a:xfrm>
          <a:prstGeom prst="rect">
            <a:avLst/>
          </a:prstGeom>
        </p:spPr>
      </p:pic>
      <p:sp>
        <p:nvSpPr>
          <p:cNvPr id="18" name="TextBox 17"/>
          <p:cNvSpPr txBox="1"/>
          <p:nvPr/>
        </p:nvSpPr>
        <p:spPr>
          <a:xfrm>
            <a:off x="1783080" y="3977639"/>
            <a:ext cx="3886200" cy="1691640"/>
          </a:xfrm>
          <a:prstGeom prst="rect">
            <a:avLst/>
          </a:prstGeom>
          <a:noFill/>
        </p:spPr>
        <p:txBody>
          <a:bodyPr wrap="square" anchor="t" lIns="0" rIns="0" tIns="0" bIns="0">
            <a:spAutoFit/>
          </a:bodyPr>
          <a:lstStyle/>
          <a:p>
            <a:pPr algn="l">
              <a:spcAft>
                <a:spcPts val="600"/>
              </a:spcAft>
            </a:pPr>
            <a:r>
              <a:rPr sz="2000" b="1" i="0">
                <a:solidFill>
                  <a:srgbClr val="1E1E1E"/>
                </a:solidFill>
                <a:latin typeface="Calibri"/>
              </a:rPr>
              <a:t>Kapalı döngü</a:t>
            </a:r>
          </a:p>
          <a:p>
            <a:pPr algn="l">
              <a:spcAft>
                <a:spcPts val="600"/>
              </a:spcAft>
            </a:pPr>
            <a:r>
              <a:rPr sz="1600" b="0" i="0">
                <a:solidFill>
                  <a:srgbClr val="1E1E1E"/>
                </a:solidFill>
                <a:latin typeface="Calibri"/>
              </a:rPr>
              <a:t>Çağrı ve müşteri verisi, talebin değerini kanıtlar ve eksik kapsamı talep anında gösterir.</a:t>
            </a:r>
          </a:p>
        </p:txBody>
      </p:sp>
      <p:sp>
        <p:nvSpPr>
          <p:cNvPr id="19" name="Rounded Rectangle 18"/>
          <p:cNvSpPr/>
          <p:nvPr/>
        </p:nvSpPr>
        <p:spPr>
          <a:xfrm>
            <a:off x="6172200" y="3657600"/>
            <a:ext cx="5532120" cy="2148840"/>
          </a:xfrm>
          <a:prstGeom prst="roundRect">
            <a:avLst>
              <a:gd name="adj" fmla="val 6000"/>
            </a:avLst>
          </a:prstGeom>
          <a:solidFill>
            <a:srgbClr val="F2F5F6"/>
          </a:solidFill>
          <a:ln>
            <a:noFill/>
          </a:ln>
          <a:effectLst/>
        </p:spPr>
        <p:txBody>
          <a:bodyPr rtlCol="0" anchor="ctr"/>
          <a:lstStyle/>
          <a:p/>
        </p:txBody>
      </p:sp>
      <p:sp>
        <p:nvSpPr>
          <p:cNvPr id="20" name="Oval 19"/>
          <p:cNvSpPr/>
          <p:nvPr/>
        </p:nvSpPr>
        <p:spPr>
          <a:xfrm>
            <a:off x="6492240" y="4023360"/>
            <a:ext cx="777240" cy="777240"/>
          </a:xfrm>
          <a:prstGeom prst="ellipse">
            <a:avLst/>
          </a:prstGeom>
          <a:solidFill>
            <a:srgbClr val="91969B"/>
          </a:solidFill>
          <a:ln>
            <a:noFill/>
          </a:ln>
          <a:effectLst/>
        </p:spPr>
        <p:txBody>
          <a:bodyPr rtlCol="0" anchor="ctr"/>
          <a:lstStyle/>
          <a:p/>
        </p:txBody>
      </p:sp>
      <p:pic>
        <p:nvPicPr>
          <p:cNvPr id="21" name="Picture 20" descr="shield-w.png"/>
          <p:cNvPicPr>
            <a:picLocks noChangeAspect="1"/>
          </p:cNvPicPr>
          <p:nvPr/>
        </p:nvPicPr>
        <p:blipFill>
          <a:blip r:embed="rId6"/>
          <a:stretch>
            <a:fillRect/>
          </a:stretch>
        </p:blipFill>
        <p:spPr>
          <a:xfrm>
            <a:off x="6686550" y="4217670"/>
            <a:ext cx="388620" cy="388620"/>
          </a:xfrm>
          <a:prstGeom prst="rect">
            <a:avLst/>
          </a:prstGeom>
        </p:spPr>
      </p:pic>
      <p:sp>
        <p:nvSpPr>
          <p:cNvPr id="22" name="TextBox 21"/>
          <p:cNvSpPr txBox="1"/>
          <p:nvPr/>
        </p:nvSpPr>
        <p:spPr>
          <a:xfrm>
            <a:off x="7543800" y="3977639"/>
            <a:ext cx="3886200" cy="1691640"/>
          </a:xfrm>
          <a:prstGeom prst="rect">
            <a:avLst/>
          </a:prstGeom>
          <a:noFill/>
        </p:spPr>
        <p:txBody>
          <a:bodyPr wrap="square" anchor="t" lIns="0" rIns="0" tIns="0" bIns="0">
            <a:spAutoFit/>
          </a:bodyPr>
          <a:lstStyle/>
          <a:p>
            <a:pPr algn="l">
              <a:spcAft>
                <a:spcPts val="600"/>
              </a:spcAft>
            </a:pPr>
            <a:r>
              <a:rPr sz="2000" b="1" i="0">
                <a:solidFill>
                  <a:srgbClr val="1E1E1E"/>
                </a:solidFill>
                <a:latin typeface="Calibri"/>
              </a:rPr>
              <a:t>Güvenilir AI</a:t>
            </a:r>
          </a:p>
          <a:p>
            <a:pPr algn="l">
              <a:spcAft>
                <a:spcPts val="600"/>
              </a:spcAft>
            </a:pPr>
            <a:r>
              <a:rPr sz="1600" b="0" i="0">
                <a:solidFill>
                  <a:srgbClr val="1E1E1E"/>
                </a:solidFill>
                <a:latin typeface="Calibri"/>
              </a:rPr>
              <a:t>Hesabı kod yapar, AI açıklar. Eşik altında öneri yok; her rakam ve kod satırı doğrulanır.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 y="91440"/>
            <a:ext cx="10058400" cy="566928"/>
          </a:xfrm>
          <a:prstGeom prst="rect">
            <a:avLst/>
          </a:prstGeom>
          <a:noFill/>
        </p:spPr>
        <p:txBody>
          <a:bodyPr wrap="square" anchor="t" lIns="0" rIns="0" tIns="0" bIns="0">
            <a:spAutoFit/>
          </a:bodyPr>
          <a:lstStyle/>
          <a:p>
            <a:pPr algn="l">
              <a:spcAft>
                <a:spcPts val="400"/>
              </a:spcAft>
            </a:pPr>
            <a:r>
              <a:rPr sz="3200" b="1" i="0">
                <a:solidFill>
                  <a:srgbClr val="1E1E1E"/>
                </a:solidFill>
                <a:latin typeface="Calibri"/>
              </a:rPr>
              <a:t>Mimari: Azure Üzerinde Hibrit RAG</a:t>
            </a:r>
          </a:p>
        </p:txBody>
      </p:sp>
      <p:pic>
        <p:nvPicPr>
          <p:cNvPr id="3" name="Picture 2" descr="mercek-logo-kucuk.png"/>
          <p:cNvPicPr>
            <a:picLocks noChangeAspect="1"/>
          </p:cNvPicPr>
          <p:nvPr/>
        </p:nvPicPr>
        <p:blipFill>
          <a:blip r:embed="rId2"/>
          <a:stretch>
            <a:fillRect/>
          </a:stretch>
        </p:blipFill>
        <p:spPr>
          <a:xfrm>
            <a:off x="10561320" y="155448"/>
            <a:ext cx="351129" cy="351129"/>
          </a:xfrm>
          <a:prstGeom prst="rect">
            <a:avLst/>
          </a:prstGeom>
        </p:spPr>
      </p:pic>
      <p:sp>
        <p:nvSpPr>
          <p:cNvPr id="4" name="TextBox 3"/>
          <p:cNvSpPr txBox="1"/>
          <p:nvPr/>
        </p:nvSpPr>
        <p:spPr>
          <a:xfrm>
            <a:off x="10978286" y="155448"/>
            <a:ext cx="1645919" cy="351129"/>
          </a:xfrm>
          <a:prstGeom prst="rect">
            <a:avLst/>
          </a:prstGeom>
          <a:noFill/>
        </p:spPr>
        <p:txBody>
          <a:bodyPr wrap="square" anchor="ctr" lIns="0" rIns="0" tIns="0" bIns="0">
            <a:spAutoFit/>
          </a:bodyPr>
          <a:lstStyle/>
          <a:p>
            <a:pPr algn="l">
              <a:spcAft>
                <a:spcPts val="400"/>
              </a:spcAft>
            </a:pPr>
            <a:r>
              <a:rPr sz="1500" b="1" i="0">
                <a:solidFill>
                  <a:srgbClr val="1E1E1E"/>
                </a:solidFill>
                <a:latin typeface="Calibri"/>
              </a:rPr>
              <a:t>MERCEK</a:t>
            </a:r>
          </a:p>
        </p:txBody>
      </p:sp>
      <p:sp>
        <p:nvSpPr>
          <p:cNvPr id="5" name="TextBox 4"/>
          <p:cNvSpPr txBox="1"/>
          <p:nvPr/>
        </p:nvSpPr>
        <p:spPr>
          <a:xfrm>
            <a:off x="11292840" y="6382512"/>
            <a:ext cx="685800" cy="274320"/>
          </a:xfrm>
          <a:prstGeom prst="rect">
            <a:avLst/>
          </a:prstGeom>
          <a:noFill/>
        </p:spPr>
        <p:txBody>
          <a:bodyPr wrap="square" anchor="t" lIns="0" rIns="0" tIns="0" bIns="0">
            <a:spAutoFit/>
          </a:bodyPr>
          <a:lstStyle/>
          <a:p>
            <a:pPr algn="r">
              <a:spcAft>
                <a:spcPts val="400"/>
              </a:spcAft>
            </a:pPr>
            <a:r>
              <a:rPr sz="1100" b="0" i="0">
                <a:solidFill>
                  <a:srgbClr val="91969B"/>
                </a:solidFill>
                <a:latin typeface="Calibri"/>
              </a:rPr>
              <a:t>6</a:t>
            </a:r>
          </a:p>
        </p:txBody>
      </p:sp>
      <p:sp>
        <p:nvSpPr>
          <p:cNvPr id="6" name="Rounded Rectangle 5"/>
          <p:cNvSpPr/>
          <p:nvPr/>
        </p:nvSpPr>
        <p:spPr>
          <a:xfrm>
            <a:off x="411480" y="2148840"/>
            <a:ext cx="1463040" cy="2377440"/>
          </a:xfrm>
          <a:prstGeom prst="roundRect">
            <a:avLst>
              <a:gd name="adj" fmla="val 6000"/>
            </a:avLst>
          </a:prstGeom>
          <a:solidFill>
            <a:srgbClr val="F2F5F6"/>
          </a:solidFill>
          <a:ln>
            <a:noFill/>
          </a:ln>
          <a:effectLst/>
        </p:spPr>
        <p:txBody>
          <a:bodyPr rtlCol="0" anchor="ctr"/>
          <a:lstStyle/>
          <a:p/>
        </p:txBody>
      </p:sp>
      <p:sp>
        <p:nvSpPr>
          <p:cNvPr id="7" name="TextBox 6"/>
          <p:cNvSpPr txBox="1"/>
          <p:nvPr/>
        </p:nvSpPr>
        <p:spPr>
          <a:xfrm>
            <a:off x="484632" y="2194560"/>
            <a:ext cx="1316736" cy="2286000"/>
          </a:xfrm>
          <a:prstGeom prst="rect">
            <a:avLst/>
          </a:prstGeom>
          <a:noFill/>
        </p:spPr>
        <p:txBody>
          <a:bodyPr wrap="square" anchor="ctr" lIns="0" rIns="0" tIns="0" bIns="0">
            <a:spAutoFit/>
          </a:bodyPr>
          <a:lstStyle/>
          <a:p>
            <a:pPr algn="ctr">
              <a:spcAft>
                <a:spcPts val="200"/>
              </a:spcAft>
            </a:pPr>
            <a:r>
              <a:rPr sz="1500" b="1" i="0">
                <a:solidFill>
                  <a:srgbClr val="1E1E1E"/>
                </a:solidFill>
                <a:latin typeface="Calibri"/>
              </a:rPr>
              <a:t>Kullanıcılar</a:t>
            </a:r>
          </a:p>
          <a:p>
            <a:pPr algn="ctr">
              <a:spcAft>
                <a:spcPts val="200"/>
              </a:spcAft>
            </a:pPr>
            <a:r>
              <a:rPr sz="1200" b="0" i="0">
                <a:solidFill>
                  <a:srgbClr val="1E1E1E"/>
                </a:solidFill>
                <a:latin typeface="Calibri"/>
              </a:rPr>
              <a:t>Şube, çağrı
merkezi
L2 destek
İş birimi,
analist</a:t>
            </a:r>
          </a:p>
        </p:txBody>
      </p:sp>
      <p:sp>
        <p:nvSpPr>
          <p:cNvPr id="8" name="Rounded Rectangle 7"/>
          <p:cNvSpPr/>
          <p:nvPr/>
        </p:nvSpPr>
        <p:spPr>
          <a:xfrm>
            <a:off x="2103120" y="1234440"/>
            <a:ext cx="2103120" cy="1600200"/>
          </a:xfrm>
          <a:prstGeom prst="roundRect">
            <a:avLst>
              <a:gd name="adj" fmla="val 6000"/>
            </a:avLst>
          </a:prstGeom>
          <a:solidFill>
            <a:srgbClr val="E10514"/>
          </a:solidFill>
          <a:ln>
            <a:noFill/>
          </a:ln>
          <a:effectLst/>
        </p:spPr>
        <p:txBody>
          <a:bodyPr rtlCol="0" anchor="ctr"/>
          <a:lstStyle/>
          <a:p/>
        </p:txBody>
      </p:sp>
      <p:sp>
        <p:nvSpPr>
          <p:cNvPr id="9" name="TextBox 8"/>
          <p:cNvSpPr txBox="1"/>
          <p:nvPr/>
        </p:nvSpPr>
        <p:spPr>
          <a:xfrm>
            <a:off x="2176272" y="1280160"/>
            <a:ext cx="1956815" cy="1508760"/>
          </a:xfrm>
          <a:prstGeom prst="rect">
            <a:avLst/>
          </a:prstGeom>
          <a:noFill/>
        </p:spPr>
        <p:txBody>
          <a:bodyPr wrap="square" anchor="ctr" lIns="0" rIns="0" tIns="0" bIns="0">
            <a:spAutoFit/>
          </a:bodyPr>
          <a:lstStyle/>
          <a:p>
            <a:pPr algn="ctr">
              <a:spcAft>
                <a:spcPts val="200"/>
              </a:spcAft>
            </a:pPr>
            <a:r>
              <a:rPr sz="1500" b="1" i="0">
                <a:solidFill>
                  <a:srgbClr val="FFFFFF"/>
                </a:solidFill>
                <a:latin typeface="Calibri"/>
              </a:rPr>
              <a:t>App Service · web</a:t>
            </a:r>
          </a:p>
          <a:p>
            <a:pPr algn="ctr">
              <a:spcAft>
                <a:spcPts val="200"/>
              </a:spcAft>
            </a:pPr>
            <a:r>
              <a:rPr sz="1200" b="0" i="0">
                <a:solidFill>
                  <a:srgbClr val="FFFFFF"/>
                </a:solidFill>
                <a:latin typeface="Calibri"/>
              </a:rPr>
              <a:t>Next.js 16
Bankacılık ekranları,
Mercek, Talep</a:t>
            </a:r>
          </a:p>
        </p:txBody>
      </p:sp>
      <p:sp>
        <p:nvSpPr>
          <p:cNvPr id="10" name="Rounded Rectangle 9"/>
          <p:cNvSpPr/>
          <p:nvPr/>
        </p:nvSpPr>
        <p:spPr>
          <a:xfrm>
            <a:off x="2103120" y="3794760"/>
            <a:ext cx="2103120" cy="1600200"/>
          </a:xfrm>
          <a:prstGeom prst="roundRect">
            <a:avLst>
              <a:gd name="adj" fmla="val 6000"/>
            </a:avLst>
          </a:prstGeom>
          <a:solidFill>
            <a:srgbClr val="B90F0A"/>
          </a:solidFill>
          <a:ln>
            <a:noFill/>
          </a:ln>
          <a:effectLst/>
        </p:spPr>
        <p:txBody>
          <a:bodyPr rtlCol="0" anchor="ctr"/>
          <a:lstStyle/>
          <a:p/>
        </p:txBody>
      </p:sp>
      <p:sp>
        <p:nvSpPr>
          <p:cNvPr id="11" name="TextBox 10"/>
          <p:cNvSpPr txBox="1"/>
          <p:nvPr/>
        </p:nvSpPr>
        <p:spPr>
          <a:xfrm>
            <a:off x="2176272" y="3840480"/>
            <a:ext cx="1956815" cy="1508760"/>
          </a:xfrm>
          <a:prstGeom prst="rect">
            <a:avLst/>
          </a:prstGeom>
          <a:noFill/>
        </p:spPr>
        <p:txBody>
          <a:bodyPr wrap="square" anchor="ctr" lIns="0" rIns="0" tIns="0" bIns="0">
            <a:spAutoFit/>
          </a:bodyPr>
          <a:lstStyle/>
          <a:p>
            <a:pPr algn="ctr">
              <a:spcAft>
                <a:spcPts val="200"/>
              </a:spcAft>
            </a:pPr>
            <a:r>
              <a:rPr sz="1500" b="1" i="0">
                <a:solidFill>
                  <a:srgbClr val="FFFFFF"/>
                </a:solidFill>
                <a:latin typeface="Calibri"/>
              </a:rPr>
              <a:t>App Service · api</a:t>
            </a:r>
          </a:p>
          <a:p>
            <a:pPr algn="ctr">
              <a:spcAft>
                <a:spcPts val="200"/>
              </a:spcAft>
            </a:pPr>
            <a:r>
              <a:rPr sz="1200" b="0" i="0">
                <a:solidFill>
                  <a:srgbClr val="FFFFFF"/>
                </a:solidFill>
                <a:latin typeface="Calibri"/>
              </a:rPr>
              <a:t>FastAPI · /api/health
orkestrasyon, hesap
ve doğrulama</a:t>
            </a:r>
          </a:p>
        </p:txBody>
      </p:sp>
      <p:sp>
        <p:nvSpPr>
          <p:cNvPr id="12" name="Rounded Rectangle 11"/>
          <p:cNvSpPr/>
          <p:nvPr/>
        </p:nvSpPr>
        <p:spPr>
          <a:xfrm>
            <a:off x="4434840" y="1097280"/>
            <a:ext cx="3749039" cy="4343400"/>
          </a:xfrm>
          <a:prstGeom prst="roundRect">
            <a:avLst>
              <a:gd name="adj" fmla="val 6000"/>
            </a:avLst>
          </a:prstGeom>
          <a:solidFill>
            <a:srgbClr val="FFFFFF"/>
          </a:solidFill>
          <a:ln w="15875">
            <a:solidFill>
              <a:srgbClr val="E10514"/>
            </a:solidFill>
          </a:ln>
          <a:effectLst/>
        </p:spPr>
        <p:txBody>
          <a:bodyPr rtlCol="0" anchor="ctr"/>
          <a:lstStyle/>
          <a:p/>
        </p:txBody>
      </p:sp>
      <p:sp>
        <p:nvSpPr>
          <p:cNvPr id="13" name="TextBox 12"/>
          <p:cNvSpPr txBox="1"/>
          <p:nvPr/>
        </p:nvSpPr>
        <p:spPr>
          <a:xfrm>
            <a:off x="4572000" y="1133856"/>
            <a:ext cx="3474720" cy="365760"/>
          </a:xfrm>
          <a:prstGeom prst="rect">
            <a:avLst/>
          </a:prstGeom>
          <a:noFill/>
        </p:spPr>
        <p:txBody>
          <a:bodyPr wrap="square" anchor="ctr" lIns="0" rIns="0" tIns="0" bIns="0">
            <a:spAutoFit/>
          </a:bodyPr>
          <a:lstStyle/>
          <a:p>
            <a:pPr algn="l">
              <a:spcAft>
                <a:spcPts val="400"/>
              </a:spcAft>
            </a:pPr>
            <a:r>
              <a:rPr sz="1300" b="1" i="0">
                <a:solidFill>
                  <a:srgbClr val="E10514"/>
                </a:solidFill>
                <a:latin typeface="Calibri"/>
              </a:rPr>
              <a:t>HİBRİT RAG  </a:t>
            </a:r>
            <a:r>
              <a:rPr sz="1100" b="0" i="0">
                <a:solidFill>
                  <a:srgbClr val="91969B"/>
                </a:solidFill>
                <a:latin typeface="Calibri"/>
              </a:rPr>
              <a:t>1 getir · 2 bağlam · 3 üret</a:t>
            </a:r>
          </a:p>
        </p:txBody>
      </p:sp>
      <p:sp>
        <p:nvSpPr>
          <p:cNvPr id="14" name="Rounded Rectangle 13"/>
          <p:cNvSpPr/>
          <p:nvPr/>
        </p:nvSpPr>
        <p:spPr>
          <a:xfrm>
            <a:off x="4572000" y="1554480"/>
            <a:ext cx="2103120" cy="1463040"/>
          </a:xfrm>
          <a:prstGeom prst="roundRect">
            <a:avLst>
              <a:gd name="adj" fmla="val 6000"/>
            </a:avLst>
          </a:prstGeom>
          <a:solidFill>
            <a:srgbClr val="F2F5F6"/>
          </a:solidFill>
          <a:ln w="15875">
            <a:solidFill>
              <a:srgbClr val="E10514"/>
            </a:solidFill>
          </a:ln>
          <a:effectLst/>
        </p:spPr>
        <p:txBody>
          <a:bodyPr rtlCol="0" anchor="ctr"/>
          <a:lstStyle/>
          <a:p/>
        </p:txBody>
      </p:sp>
      <p:sp>
        <p:nvSpPr>
          <p:cNvPr id="15" name="TextBox 14"/>
          <p:cNvSpPr txBox="1"/>
          <p:nvPr/>
        </p:nvSpPr>
        <p:spPr>
          <a:xfrm>
            <a:off x="4645152" y="1600200"/>
            <a:ext cx="1956815" cy="1371600"/>
          </a:xfrm>
          <a:prstGeom prst="rect">
            <a:avLst/>
          </a:prstGeom>
          <a:noFill/>
        </p:spPr>
        <p:txBody>
          <a:bodyPr wrap="square" anchor="ctr" lIns="0" rIns="0" tIns="0" bIns="0">
            <a:spAutoFit/>
          </a:bodyPr>
          <a:lstStyle/>
          <a:p>
            <a:pPr algn="ctr">
              <a:spcAft>
                <a:spcPts val="200"/>
              </a:spcAft>
            </a:pPr>
            <a:r>
              <a:rPr sz="1400" b="1" i="0">
                <a:solidFill>
                  <a:srgbClr val="1E1E1E"/>
                </a:solidFill>
                <a:latin typeface="Calibri"/>
              </a:rPr>
              <a:t>Azure AI Search</a:t>
            </a:r>
          </a:p>
          <a:p>
            <a:pPr algn="ctr">
              <a:spcAft>
                <a:spcPts val="200"/>
              </a:spcAft>
            </a:pPr>
            <a:r>
              <a:rPr sz="1100" b="0" i="0">
                <a:solidFill>
                  <a:srgbClr val="1E1E1E"/>
                </a:solidFill>
                <a:latin typeface="Calibri"/>
              </a:rPr>
              <a:t>1 · anlamca getir
çözüm · talep · duyuru
vektör + kelime, Türkçe</a:t>
            </a:r>
          </a:p>
        </p:txBody>
      </p:sp>
      <p:sp>
        <p:nvSpPr>
          <p:cNvPr id="16" name="Rounded Rectangle 15"/>
          <p:cNvSpPr/>
          <p:nvPr/>
        </p:nvSpPr>
        <p:spPr>
          <a:xfrm>
            <a:off x="4572000" y="3154680"/>
            <a:ext cx="2103120" cy="1325880"/>
          </a:xfrm>
          <a:prstGeom prst="roundRect">
            <a:avLst>
              <a:gd name="adj" fmla="val 6000"/>
            </a:avLst>
          </a:prstGeom>
          <a:solidFill>
            <a:srgbClr val="F2F5F6"/>
          </a:solidFill>
          <a:ln w="15875">
            <a:solidFill>
              <a:srgbClr val="B4BEC3"/>
            </a:solidFill>
          </a:ln>
          <a:effectLst/>
        </p:spPr>
        <p:txBody>
          <a:bodyPr rtlCol="0" anchor="ctr"/>
          <a:lstStyle/>
          <a:p/>
        </p:txBody>
      </p:sp>
      <p:sp>
        <p:nvSpPr>
          <p:cNvPr id="17" name="TextBox 16"/>
          <p:cNvSpPr txBox="1"/>
          <p:nvPr/>
        </p:nvSpPr>
        <p:spPr>
          <a:xfrm>
            <a:off x="4645152" y="3200400"/>
            <a:ext cx="1956815" cy="1234439"/>
          </a:xfrm>
          <a:prstGeom prst="rect">
            <a:avLst/>
          </a:prstGeom>
          <a:noFill/>
        </p:spPr>
        <p:txBody>
          <a:bodyPr wrap="square" anchor="ctr" lIns="0" rIns="0" tIns="0" bIns="0">
            <a:spAutoFit/>
          </a:bodyPr>
          <a:lstStyle/>
          <a:p>
            <a:pPr algn="ctr">
              <a:spcAft>
                <a:spcPts val="200"/>
              </a:spcAft>
            </a:pPr>
            <a:r>
              <a:rPr sz="1400" b="1" i="0">
                <a:solidFill>
                  <a:srgbClr val="1E1E1E"/>
                </a:solidFill>
                <a:latin typeface="Calibri"/>
              </a:rPr>
              <a:t>Azure SQL</a:t>
            </a:r>
          </a:p>
          <a:p>
            <a:pPr algn="ctr">
              <a:spcAft>
                <a:spcPts val="200"/>
              </a:spcAft>
            </a:pPr>
            <a:r>
              <a:rPr sz="1100" b="0" i="0">
                <a:solidFill>
                  <a:srgbClr val="1E1E1E"/>
                </a:solidFill>
                <a:latin typeface="Calibri"/>
              </a:rPr>
              <a:t>1 · rakamı getir
log · çağrı · portföy · takvim
parametreli sorgu</a:t>
            </a:r>
          </a:p>
        </p:txBody>
      </p:sp>
      <p:sp>
        <p:nvSpPr>
          <p:cNvPr id="18" name="Rounded Rectangle 17"/>
          <p:cNvSpPr/>
          <p:nvPr/>
        </p:nvSpPr>
        <p:spPr>
          <a:xfrm>
            <a:off x="6903720" y="1554480"/>
            <a:ext cx="1143000" cy="2926080"/>
          </a:xfrm>
          <a:prstGeom prst="roundRect">
            <a:avLst>
              <a:gd name="adj" fmla="val 6000"/>
            </a:avLst>
          </a:prstGeom>
          <a:solidFill>
            <a:srgbClr val="E10514"/>
          </a:solidFill>
          <a:ln>
            <a:noFill/>
          </a:ln>
          <a:effectLst/>
        </p:spPr>
        <p:txBody>
          <a:bodyPr rtlCol="0" anchor="ctr"/>
          <a:lstStyle/>
          <a:p/>
        </p:txBody>
      </p:sp>
      <p:sp>
        <p:nvSpPr>
          <p:cNvPr id="19" name="TextBox 18"/>
          <p:cNvSpPr txBox="1"/>
          <p:nvPr/>
        </p:nvSpPr>
        <p:spPr>
          <a:xfrm>
            <a:off x="6976872" y="1600200"/>
            <a:ext cx="996696" cy="2834640"/>
          </a:xfrm>
          <a:prstGeom prst="rect">
            <a:avLst/>
          </a:prstGeom>
          <a:noFill/>
        </p:spPr>
        <p:txBody>
          <a:bodyPr wrap="square" anchor="ctr" lIns="0" rIns="0" tIns="0" bIns="0">
            <a:spAutoFit/>
          </a:bodyPr>
          <a:lstStyle/>
          <a:p>
            <a:pPr algn="ctr">
              <a:spcAft>
                <a:spcPts val="200"/>
              </a:spcAft>
            </a:pPr>
            <a:r>
              <a:rPr sz="1300" b="1" i="0">
                <a:solidFill>
                  <a:srgbClr val="FFFFFF"/>
                </a:solidFill>
                <a:latin typeface="Calibri"/>
              </a:rPr>
              <a:t>Azure AI Foundry</a:t>
            </a:r>
          </a:p>
          <a:p>
            <a:pPr algn="ctr">
              <a:spcAft>
                <a:spcPts val="200"/>
              </a:spcAft>
            </a:pPr>
            <a:r>
              <a:rPr sz="1100" b="0" i="0">
                <a:solidFill>
                  <a:srgbClr val="FFFFFF"/>
                </a:solidFill>
                <a:latin typeface="Calibri"/>
              </a:rPr>
              <a:t>2 · bağlam
3 · chat ile üret
embedding → indeks</a:t>
            </a:r>
          </a:p>
        </p:txBody>
      </p:sp>
      <p:sp>
        <p:nvSpPr>
          <p:cNvPr id="20" name="TextBox 19"/>
          <p:cNvSpPr txBox="1"/>
          <p:nvPr/>
        </p:nvSpPr>
        <p:spPr>
          <a:xfrm>
            <a:off x="4572000" y="4572000"/>
            <a:ext cx="3474720" cy="822960"/>
          </a:xfrm>
          <a:prstGeom prst="rect">
            <a:avLst/>
          </a:prstGeom>
          <a:noFill/>
        </p:spPr>
        <p:txBody>
          <a:bodyPr wrap="square" anchor="ctr" lIns="0" rIns="0" tIns="0" bIns="0">
            <a:spAutoFit/>
          </a:bodyPr>
          <a:lstStyle/>
          <a:p>
            <a:pPr algn="l">
              <a:spcAft>
                <a:spcPts val="400"/>
              </a:spcAft>
            </a:pPr>
            <a:r>
              <a:rPr sz="1100" b="0" i="0">
                <a:solidFill>
                  <a:srgbClr val="1E1E1E"/>
                </a:solidFill>
                <a:latin typeface="Calibri"/>
              </a:rPr>
              <a:t>Benzeri AI Search bulur, rakamı SQL verir; model yalnızca bu kaynaklı bağlamla yazar ve her cevapta kaynak no'su gösterir.</a:t>
            </a:r>
          </a:p>
        </p:txBody>
      </p:sp>
      <p:cxnSp>
        <p:nvCxnSpPr>
          <p:cNvPr id="21" name="Connector 20"/>
          <p:cNvCxnSpPr/>
          <p:nvPr/>
        </p:nvCxnSpPr>
        <p:spPr>
          <a:xfrm flipV="1">
            <a:off x="1874519" y="2057400"/>
            <a:ext cx="228601" cy="685800"/>
          </a:xfrm>
          <a:prstGeom prst="line">
            <a:avLst/>
          </a:prstGeom>
          <a:ln w="22225">
            <a:solidFill>
              <a:srgbClr val="91969B"/>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54680" y="2834640"/>
            <a:ext cx="0" cy="960120"/>
          </a:xfrm>
          <a:prstGeom prst="line">
            <a:avLst/>
          </a:prstGeom>
          <a:ln w="22225">
            <a:solidFill>
              <a:srgbClr val="91969B"/>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206240" y="2286000"/>
            <a:ext cx="365760" cy="2011680"/>
          </a:xfrm>
          <a:prstGeom prst="line">
            <a:avLst/>
          </a:prstGeom>
          <a:ln w="22225">
            <a:solidFill>
              <a:srgbClr val="91969B"/>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206240" y="3813048"/>
            <a:ext cx="365760" cy="758952"/>
          </a:xfrm>
          <a:prstGeom prst="line">
            <a:avLst/>
          </a:prstGeom>
          <a:ln w="22225">
            <a:solidFill>
              <a:srgbClr val="91969B"/>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892040" y="2944368"/>
            <a:ext cx="1463040" cy="274320"/>
          </a:xfrm>
          <a:prstGeom prst="roundRect">
            <a:avLst>
              <a:gd name="adj" fmla="val 50000"/>
            </a:avLst>
          </a:prstGeom>
          <a:solidFill>
            <a:srgbClr val="870F00"/>
          </a:solidFill>
          <a:ln>
            <a:noFill/>
          </a:ln>
          <a:effectLst/>
        </p:spPr>
        <p:txBody>
          <a:bodyPr rtlCol="0" anchor="ctr"/>
          <a:lstStyle/>
          <a:p/>
        </p:txBody>
      </p:sp>
      <p:sp>
        <p:nvSpPr>
          <p:cNvPr id="26" name="TextBox 25"/>
          <p:cNvSpPr txBox="1"/>
          <p:nvPr/>
        </p:nvSpPr>
        <p:spPr>
          <a:xfrm>
            <a:off x="4892040" y="2944368"/>
            <a:ext cx="1463040" cy="274320"/>
          </a:xfrm>
          <a:prstGeom prst="rect">
            <a:avLst/>
          </a:prstGeom>
          <a:noFill/>
        </p:spPr>
        <p:txBody>
          <a:bodyPr wrap="square" anchor="ctr" lIns="0" rIns="0" tIns="0" bIns="0">
            <a:spAutoFit/>
          </a:bodyPr>
          <a:lstStyle/>
          <a:p>
            <a:pPr algn="ctr">
              <a:spcAft>
                <a:spcPts val="400"/>
              </a:spcAft>
            </a:pPr>
            <a:r>
              <a:rPr sz="1000" b="1" i="0">
                <a:solidFill>
                  <a:srgbClr val="FFFFFF"/>
                </a:solidFill>
                <a:latin typeface="Calibri"/>
              </a:rPr>
              <a:t>▲ indexer · otomatik</a:t>
            </a:r>
          </a:p>
        </p:txBody>
      </p:sp>
      <p:cxnSp>
        <p:nvCxnSpPr>
          <p:cNvPr id="27" name="Connector 26"/>
          <p:cNvCxnSpPr/>
          <p:nvPr/>
        </p:nvCxnSpPr>
        <p:spPr>
          <a:xfrm>
            <a:off x="6675120" y="2286000"/>
            <a:ext cx="228600" cy="365760"/>
          </a:xfrm>
          <a:prstGeom prst="line">
            <a:avLst/>
          </a:prstGeom>
          <a:ln w="22225">
            <a:solidFill>
              <a:srgbClr val="E10514"/>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675120" y="3383280"/>
            <a:ext cx="228600" cy="429768"/>
          </a:xfrm>
          <a:prstGeom prst="line">
            <a:avLst/>
          </a:prstGeom>
          <a:ln w="22225">
            <a:solidFill>
              <a:srgbClr val="E10514"/>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11480" y="5577840"/>
            <a:ext cx="7635240" cy="594360"/>
          </a:xfrm>
          <a:prstGeom prst="roundRect">
            <a:avLst>
              <a:gd name="adj" fmla="val 6000"/>
            </a:avLst>
          </a:prstGeom>
          <a:solidFill>
            <a:srgbClr val="F2F5F6"/>
          </a:solidFill>
          <a:ln>
            <a:noFill/>
          </a:ln>
          <a:effectLst/>
        </p:spPr>
        <p:txBody>
          <a:bodyPr rtlCol="0" anchor="ctr"/>
          <a:lstStyle/>
          <a:p/>
        </p:txBody>
      </p:sp>
      <p:pic>
        <p:nvPicPr>
          <p:cNvPr id="30" name="Picture 29" descr="github-g.png"/>
          <p:cNvPicPr>
            <a:picLocks noChangeAspect="1"/>
          </p:cNvPicPr>
          <p:nvPr/>
        </p:nvPicPr>
        <p:blipFill>
          <a:blip r:embed="rId3"/>
          <a:stretch>
            <a:fillRect/>
          </a:stretch>
        </p:blipFill>
        <p:spPr>
          <a:xfrm>
            <a:off x="548640" y="5687568"/>
            <a:ext cx="384048" cy="384048"/>
          </a:xfrm>
          <a:prstGeom prst="rect">
            <a:avLst/>
          </a:prstGeom>
        </p:spPr>
      </p:pic>
      <p:sp>
        <p:nvSpPr>
          <p:cNvPr id="31" name="TextBox 30"/>
          <p:cNvSpPr txBox="1"/>
          <p:nvPr/>
        </p:nvSpPr>
        <p:spPr>
          <a:xfrm>
            <a:off x="1051560" y="5577840"/>
            <a:ext cx="6949440" cy="594360"/>
          </a:xfrm>
          <a:prstGeom prst="rect">
            <a:avLst/>
          </a:prstGeom>
          <a:noFill/>
        </p:spPr>
        <p:txBody>
          <a:bodyPr wrap="square" anchor="ctr" lIns="0" rIns="0" tIns="0" bIns="0">
            <a:spAutoFit/>
          </a:bodyPr>
          <a:lstStyle/>
          <a:p>
            <a:pPr algn="l">
              <a:spcAft>
                <a:spcPts val="400"/>
              </a:spcAft>
            </a:pPr>
            <a:r>
              <a:rPr sz="1200" b="1" i="0">
                <a:solidFill>
                  <a:srgbClr val="1E1E1E"/>
                </a:solidFill>
                <a:latin typeface="Calibri"/>
              </a:rPr>
              <a:t>GitHub Actions: </a:t>
            </a:r>
            <a:r>
              <a:rPr sz="1200" b="0" i="0">
                <a:solidFill>
                  <a:srgbClr val="1E1E1E"/>
                </a:solidFill>
                <a:latin typeface="Calibri"/>
              </a:rPr>
              <a:t>lint · test · audit · gitleaks → build → 2 deploy → smoke test    </a:t>
            </a:r>
            <a:r>
              <a:rPr sz="1200" b="1" i="0">
                <a:solidFill>
                  <a:srgbClr val="1E1E1E"/>
                </a:solidFill>
                <a:latin typeface="Calibri"/>
              </a:rPr>
              <a:t>GHAS: </a:t>
            </a:r>
            <a:r>
              <a:rPr sz="1200" b="0" i="0">
                <a:solidFill>
                  <a:srgbClr val="1E1E1E"/>
                </a:solidFill>
                <a:latin typeface="Calibri"/>
              </a:rPr>
              <a:t>CodeQL · Dependabot · secret scanning</a:t>
            </a:r>
          </a:p>
        </p:txBody>
      </p:sp>
      <p:sp>
        <p:nvSpPr>
          <p:cNvPr id="32" name="Rounded Rectangle 31"/>
          <p:cNvSpPr/>
          <p:nvPr/>
        </p:nvSpPr>
        <p:spPr>
          <a:xfrm>
            <a:off x="8366760" y="1234440"/>
            <a:ext cx="3429000" cy="2331720"/>
          </a:xfrm>
          <a:prstGeom prst="roundRect">
            <a:avLst>
              <a:gd name="adj" fmla="val 6000"/>
            </a:avLst>
          </a:prstGeom>
          <a:solidFill>
            <a:srgbClr val="E10514"/>
          </a:solidFill>
          <a:ln>
            <a:noFill/>
          </a:ln>
          <a:effectLst/>
        </p:spPr>
        <p:txBody>
          <a:bodyPr rtlCol="0" anchor="ctr"/>
          <a:lstStyle/>
          <a:p/>
        </p:txBody>
      </p:sp>
      <p:sp>
        <p:nvSpPr>
          <p:cNvPr id="33" name="TextBox 32"/>
          <p:cNvSpPr txBox="1"/>
          <p:nvPr/>
        </p:nvSpPr>
        <p:spPr>
          <a:xfrm>
            <a:off x="8549640" y="1325880"/>
            <a:ext cx="3108960" cy="2194560"/>
          </a:xfrm>
          <a:prstGeom prst="rect">
            <a:avLst/>
          </a:prstGeom>
          <a:noFill/>
        </p:spPr>
        <p:txBody>
          <a:bodyPr wrap="square" anchor="t" lIns="0" rIns="0" tIns="0" bIns="0">
            <a:spAutoFit/>
          </a:bodyPr>
          <a:lstStyle/>
          <a:p>
            <a:pPr algn="l">
              <a:spcAft>
                <a:spcPts val="300"/>
              </a:spcAft>
            </a:pPr>
            <a:r>
              <a:rPr sz="1600" b="1" i="0">
                <a:solidFill>
                  <a:srgbClr val="FFFFFF"/>
                </a:solidFill>
                <a:latin typeface="Calibri"/>
              </a:rPr>
              <a:t>AI ne yapar (Foundry)</a:t>
            </a:r>
          </a:p>
          <a:p>
            <a:pPr algn="l">
              <a:spcAft>
                <a:spcPts val="300"/>
              </a:spcAft>
            </a:pPr>
            <a:r>
              <a:rPr sz="1400" b="0" i="0">
                <a:solidFill>
                  <a:srgbClr val="FFFFFF"/>
                </a:solidFill>
                <a:latin typeface="Calibri"/>
              </a:rPr>
              <a:t>Metinden bilgi çıkarma, açıklama</a:t>
            </a:r>
          </a:p>
          <a:p>
            <a:pPr algn="l">
              <a:spcAft>
                <a:spcPts val="300"/>
              </a:spcAft>
            </a:pPr>
            <a:r>
              <a:rPr sz="1400" b="0" i="0">
                <a:solidFill>
                  <a:srgbClr val="FFFFFF"/>
                </a:solidFill>
                <a:latin typeface="Calibri"/>
              </a:rPr>
              <a:t>Çağrı zenginleştirme</a:t>
            </a:r>
          </a:p>
          <a:p>
            <a:pPr algn="l">
              <a:spcAft>
                <a:spcPts val="300"/>
              </a:spcAft>
            </a:pPr>
            <a:r>
              <a:rPr sz="1400" b="0" i="0">
                <a:solidFill>
                  <a:srgbClr val="FFFFFF"/>
                </a:solidFill>
                <a:latin typeface="Calibri"/>
              </a:rPr>
              <a:t>Çözüm uyarlama</a:t>
            </a:r>
          </a:p>
          <a:p>
            <a:pPr algn="l">
              <a:spcAft>
                <a:spcPts val="300"/>
              </a:spcAft>
            </a:pPr>
            <a:r>
              <a:rPr sz="1400" b="0" i="0">
                <a:solidFill>
                  <a:srgbClr val="FFFFFF"/>
                </a:solidFill>
                <a:latin typeface="Calibri"/>
              </a:rPr>
              <a:t>Kod analizi</a:t>
            </a:r>
          </a:p>
          <a:p>
            <a:pPr algn="l">
              <a:spcAft>
                <a:spcPts val="300"/>
              </a:spcAft>
            </a:pPr>
            <a:r>
              <a:rPr sz="1400" b="0" i="0">
                <a:solidFill>
                  <a:srgbClr val="FFFFFF"/>
                </a:solidFill>
                <a:latin typeface="Calibri"/>
              </a:rPr>
              <a:t>Talep bileşenleri ve sorular</a:t>
            </a:r>
          </a:p>
        </p:txBody>
      </p:sp>
      <p:sp>
        <p:nvSpPr>
          <p:cNvPr id="34" name="Rounded Rectangle 33"/>
          <p:cNvSpPr/>
          <p:nvPr/>
        </p:nvSpPr>
        <p:spPr>
          <a:xfrm>
            <a:off x="8366760" y="3749039"/>
            <a:ext cx="3429000" cy="2423160"/>
          </a:xfrm>
          <a:prstGeom prst="roundRect">
            <a:avLst>
              <a:gd name="adj" fmla="val 6000"/>
            </a:avLst>
          </a:prstGeom>
          <a:solidFill>
            <a:srgbClr val="91969B"/>
          </a:solidFill>
          <a:ln>
            <a:noFill/>
          </a:ln>
          <a:effectLst/>
        </p:spPr>
        <p:txBody>
          <a:bodyPr rtlCol="0" anchor="ctr"/>
          <a:lstStyle/>
          <a:p/>
        </p:txBody>
      </p:sp>
      <p:sp>
        <p:nvSpPr>
          <p:cNvPr id="35" name="TextBox 34"/>
          <p:cNvSpPr txBox="1"/>
          <p:nvPr/>
        </p:nvSpPr>
        <p:spPr>
          <a:xfrm>
            <a:off x="8549640" y="3840480"/>
            <a:ext cx="3108960" cy="2286000"/>
          </a:xfrm>
          <a:prstGeom prst="rect">
            <a:avLst/>
          </a:prstGeom>
          <a:noFill/>
        </p:spPr>
        <p:txBody>
          <a:bodyPr wrap="square" anchor="t" lIns="0" rIns="0" tIns="0" bIns="0">
            <a:spAutoFit/>
          </a:bodyPr>
          <a:lstStyle/>
          <a:p>
            <a:pPr algn="l">
              <a:spcAft>
                <a:spcPts val="300"/>
              </a:spcAft>
            </a:pPr>
            <a:r>
              <a:rPr sz="1600" b="1" i="0">
                <a:solidFill>
                  <a:srgbClr val="FFFFFF"/>
                </a:solidFill>
                <a:latin typeface="Calibri"/>
              </a:rPr>
              <a:t>Kod ne yapar (kurallar)</a:t>
            </a:r>
          </a:p>
          <a:p>
            <a:pPr algn="l">
              <a:spcAft>
                <a:spcPts val="300"/>
              </a:spcAft>
            </a:pPr>
            <a:r>
              <a:rPr sz="1400" b="0" i="0">
                <a:solidFill>
                  <a:srgbClr val="FFFFFF"/>
                </a:solidFill>
                <a:latin typeface="Calibri"/>
              </a:rPr>
              <a:t>Log örüntüsü, kredi hesabı</a:t>
            </a:r>
          </a:p>
          <a:p>
            <a:pPr algn="l">
              <a:spcAft>
                <a:spcPts val="300"/>
              </a:spcAft>
            </a:pPr>
            <a:r>
              <a:rPr sz="1400" b="0" i="0">
                <a:solidFill>
                  <a:srgbClr val="FFFFFF"/>
                </a:solidFill>
                <a:latin typeface="Calibri"/>
              </a:rPr>
              <a:t>Eşik, servis ataması, ana kayıt</a:t>
            </a:r>
          </a:p>
          <a:p>
            <a:pPr algn="l">
              <a:spcAft>
                <a:spcPts val="300"/>
              </a:spcAft>
            </a:pPr>
            <a:r>
              <a:rPr sz="1400" b="0" i="0">
                <a:solidFill>
                  <a:srgbClr val="FFFFFF"/>
                </a:solidFill>
                <a:latin typeface="Calibri"/>
              </a:rPr>
              <a:t>Adam-gün medyanı, takvim</a:t>
            </a:r>
          </a:p>
          <a:p>
            <a:pPr algn="l">
              <a:spcAft>
                <a:spcPts val="300"/>
              </a:spcAft>
            </a:pPr>
            <a:r>
              <a:rPr sz="1400" b="0" i="0">
                <a:solidFill>
                  <a:srgbClr val="FFFFFF"/>
                </a:solidFill>
                <a:latin typeface="Calibri"/>
              </a:rPr>
              <a:t>Köprü sayıları</a:t>
            </a:r>
          </a:p>
          <a:p>
            <a:pPr algn="l">
              <a:spcAft>
                <a:spcPts val="300"/>
              </a:spcAft>
            </a:pPr>
            <a:r>
              <a:rPr sz="1400" b="0" i="0">
                <a:solidFill>
                  <a:srgbClr val="FFFFFF"/>
                </a:solidFill>
                <a:latin typeface="Calibri"/>
              </a:rPr>
              <a:t>AI çıktısındaki sayı ve satırları doğrulama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 y="91440"/>
            <a:ext cx="10058400" cy="566928"/>
          </a:xfrm>
          <a:prstGeom prst="rect">
            <a:avLst/>
          </a:prstGeom>
          <a:noFill/>
        </p:spPr>
        <p:txBody>
          <a:bodyPr wrap="square" anchor="t" lIns="0" rIns="0" tIns="0" bIns="0">
            <a:spAutoFit/>
          </a:bodyPr>
          <a:lstStyle/>
          <a:p>
            <a:pPr algn="l">
              <a:spcAft>
                <a:spcPts val="400"/>
              </a:spcAft>
            </a:pPr>
            <a:r>
              <a:rPr sz="3200" b="1" i="0">
                <a:solidFill>
                  <a:srgbClr val="1E1E1E"/>
                </a:solidFill>
                <a:latin typeface="Calibri"/>
              </a:rPr>
              <a:t>Altı Kullanım Senaryosu</a:t>
            </a:r>
          </a:p>
        </p:txBody>
      </p:sp>
      <p:pic>
        <p:nvPicPr>
          <p:cNvPr id="3" name="Picture 2" descr="mercek-logo-kucuk.png"/>
          <p:cNvPicPr>
            <a:picLocks noChangeAspect="1"/>
          </p:cNvPicPr>
          <p:nvPr/>
        </p:nvPicPr>
        <p:blipFill>
          <a:blip r:embed="rId2"/>
          <a:stretch>
            <a:fillRect/>
          </a:stretch>
        </p:blipFill>
        <p:spPr>
          <a:xfrm>
            <a:off x="10561320" y="155448"/>
            <a:ext cx="351129" cy="351129"/>
          </a:xfrm>
          <a:prstGeom prst="rect">
            <a:avLst/>
          </a:prstGeom>
        </p:spPr>
      </p:pic>
      <p:sp>
        <p:nvSpPr>
          <p:cNvPr id="4" name="TextBox 3"/>
          <p:cNvSpPr txBox="1"/>
          <p:nvPr/>
        </p:nvSpPr>
        <p:spPr>
          <a:xfrm>
            <a:off x="10978286" y="155448"/>
            <a:ext cx="1645919" cy="351129"/>
          </a:xfrm>
          <a:prstGeom prst="rect">
            <a:avLst/>
          </a:prstGeom>
          <a:noFill/>
        </p:spPr>
        <p:txBody>
          <a:bodyPr wrap="square" anchor="ctr" lIns="0" rIns="0" tIns="0" bIns="0">
            <a:spAutoFit/>
          </a:bodyPr>
          <a:lstStyle/>
          <a:p>
            <a:pPr algn="l">
              <a:spcAft>
                <a:spcPts val="400"/>
              </a:spcAft>
            </a:pPr>
            <a:r>
              <a:rPr sz="1500" b="1" i="0">
                <a:solidFill>
                  <a:srgbClr val="1E1E1E"/>
                </a:solidFill>
                <a:latin typeface="Calibri"/>
              </a:rPr>
              <a:t>MERCEK</a:t>
            </a:r>
          </a:p>
        </p:txBody>
      </p:sp>
      <p:sp>
        <p:nvSpPr>
          <p:cNvPr id="5" name="TextBox 4"/>
          <p:cNvSpPr txBox="1"/>
          <p:nvPr/>
        </p:nvSpPr>
        <p:spPr>
          <a:xfrm>
            <a:off x="11292840" y="6382512"/>
            <a:ext cx="685800" cy="274320"/>
          </a:xfrm>
          <a:prstGeom prst="rect">
            <a:avLst/>
          </a:prstGeom>
          <a:noFill/>
        </p:spPr>
        <p:txBody>
          <a:bodyPr wrap="square" anchor="t" lIns="0" rIns="0" tIns="0" bIns="0">
            <a:spAutoFit/>
          </a:bodyPr>
          <a:lstStyle/>
          <a:p>
            <a:pPr algn="r">
              <a:spcAft>
                <a:spcPts val="400"/>
              </a:spcAft>
            </a:pPr>
            <a:r>
              <a:rPr sz="1100" b="0" i="0">
                <a:solidFill>
                  <a:srgbClr val="91969B"/>
                </a:solidFill>
                <a:latin typeface="Calibri"/>
              </a:rPr>
              <a:t>7</a:t>
            </a:r>
          </a:p>
        </p:txBody>
      </p:sp>
      <p:sp>
        <p:nvSpPr>
          <p:cNvPr id="6" name="Rounded Rectangle 5"/>
          <p:cNvSpPr/>
          <p:nvPr/>
        </p:nvSpPr>
        <p:spPr>
          <a:xfrm>
            <a:off x="411480" y="1097280"/>
            <a:ext cx="3611880" cy="2377440"/>
          </a:xfrm>
          <a:prstGeom prst="roundRect">
            <a:avLst>
              <a:gd name="adj" fmla="val 6000"/>
            </a:avLst>
          </a:prstGeom>
          <a:solidFill>
            <a:srgbClr val="F2F5F6"/>
          </a:solidFill>
          <a:ln>
            <a:noFill/>
          </a:ln>
          <a:effectLst/>
        </p:spPr>
        <p:txBody>
          <a:bodyPr rtlCol="0" anchor="ctr"/>
          <a:lstStyle/>
          <a:p/>
        </p:txBody>
      </p:sp>
      <p:sp>
        <p:nvSpPr>
          <p:cNvPr id="7" name="Oval 6"/>
          <p:cNvSpPr/>
          <p:nvPr/>
        </p:nvSpPr>
        <p:spPr>
          <a:xfrm>
            <a:off x="640080" y="1325880"/>
            <a:ext cx="566928" cy="566928"/>
          </a:xfrm>
          <a:prstGeom prst="ellipse">
            <a:avLst/>
          </a:prstGeom>
          <a:solidFill>
            <a:srgbClr val="E10514"/>
          </a:solidFill>
          <a:ln>
            <a:noFill/>
          </a:ln>
          <a:effectLst/>
        </p:spPr>
        <p:txBody>
          <a:bodyPr rtlCol="0" anchor="ctr"/>
          <a:lstStyle/>
          <a:p/>
        </p:txBody>
      </p:sp>
      <p:sp>
        <p:nvSpPr>
          <p:cNvPr id="8" name="TextBox 7"/>
          <p:cNvSpPr txBox="1"/>
          <p:nvPr/>
        </p:nvSpPr>
        <p:spPr>
          <a:xfrm>
            <a:off x="640080" y="1325880"/>
            <a:ext cx="566928" cy="566928"/>
          </a:xfrm>
          <a:prstGeom prst="rect">
            <a:avLst/>
          </a:prstGeom>
          <a:noFill/>
        </p:spPr>
        <p:txBody>
          <a:bodyPr wrap="square" anchor="ctr" lIns="0" rIns="0" tIns="0" bIns="0">
            <a:spAutoFit/>
          </a:bodyPr>
          <a:lstStyle/>
          <a:p>
            <a:pPr algn="ctr">
              <a:spcAft>
                <a:spcPts val="400"/>
              </a:spcAft>
            </a:pPr>
            <a:r>
              <a:rPr sz="2000" b="1" i="0">
                <a:solidFill>
                  <a:srgbClr val="FFFFFF"/>
                </a:solidFill>
                <a:latin typeface="Calibri"/>
              </a:rPr>
              <a:t>A</a:t>
            </a:r>
          </a:p>
        </p:txBody>
      </p:sp>
      <p:sp>
        <p:nvSpPr>
          <p:cNvPr id="9" name="TextBox 8"/>
          <p:cNvSpPr txBox="1"/>
          <p:nvPr/>
        </p:nvSpPr>
        <p:spPr>
          <a:xfrm>
            <a:off x="1344168" y="1280160"/>
            <a:ext cx="2560320" cy="685800"/>
          </a:xfrm>
          <a:prstGeom prst="rect">
            <a:avLst/>
          </a:prstGeom>
          <a:noFill/>
        </p:spPr>
        <p:txBody>
          <a:bodyPr wrap="square" anchor="ctr" lIns="0" rIns="0" tIns="0" bIns="0">
            <a:spAutoFit/>
          </a:bodyPr>
          <a:lstStyle/>
          <a:p>
            <a:pPr algn="l">
              <a:spcAft>
                <a:spcPts val="100"/>
              </a:spcAft>
            </a:pPr>
            <a:r>
              <a:rPr sz="1700" b="1" i="0">
                <a:solidFill>
                  <a:srgbClr val="1E1E1E"/>
                </a:solidFill>
                <a:latin typeface="Calibri"/>
              </a:rPr>
              <a:t>Hata mı, kural mı?</a:t>
            </a:r>
          </a:p>
          <a:p>
            <a:pPr algn="l">
              <a:spcAft>
                <a:spcPts val="100"/>
              </a:spcAft>
            </a:pPr>
            <a:r>
              <a:rPr sz="1200" b="0" i="0">
                <a:solidFill>
                  <a:srgbClr val="91969B"/>
                </a:solidFill>
                <a:latin typeface="Calibri"/>
              </a:rPr>
              <a:t>KRDTKULL · Elif (şube)</a:t>
            </a:r>
          </a:p>
        </p:txBody>
      </p:sp>
      <p:sp>
        <p:nvSpPr>
          <p:cNvPr id="10" name="TextBox 9"/>
          <p:cNvSpPr txBox="1"/>
          <p:nvPr/>
        </p:nvSpPr>
        <p:spPr>
          <a:xfrm>
            <a:off x="640080" y="2075688"/>
            <a:ext cx="3154680" cy="640080"/>
          </a:xfrm>
          <a:prstGeom prst="rect">
            <a:avLst/>
          </a:prstGeom>
          <a:noFill/>
        </p:spPr>
        <p:txBody>
          <a:bodyPr wrap="square" anchor="t" lIns="0" rIns="0" tIns="0" bIns="0">
            <a:spAutoFit/>
          </a:bodyPr>
          <a:lstStyle/>
          <a:p>
            <a:pPr algn="l">
              <a:spcAft>
                <a:spcPts val="400"/>
              </a:spcAft>
            </a:pPr>
            <a:r>
              <a:rPr sz="1400" b="0" i="0">
                <a:solidFill>
                  <a:srgbClr val="1E1E1E"/>
                </a:solidFill>
                <a:latin typeface="Calibri"/>
              </a:rPr>
              <a:t>İş kuralı açıklandı, uygun tutar ekrana dolduruldu</a:t>
            </a:r>
          </a:p>
        </p:txBody>
      </p:sp>
      <p:sp>
        <p:nvSpPr>
          <p:cNvPr id="11" name="TextBox 10"/>
          <p:cNvSpPr txBox="1"/>
          <p:nvPr/>
        </p:nvSpPr>
        <p:spPr>
          <a:xfrm>
            <a:off x="640080" y="2788920"/>
            <a:ext cx="2194560" cy="502920"/>
          </a:xfrm>
          <a:prstGeom prst="rect">
            <a:avLst/>
          </a:prstGeom>
          <a:noFill/>
        </p:spPr>
        <p:txBody>
          <a:bodyPr wrap="square" anchor="ctr" lIns="0" rIns="0" tIns="0" bIns="0">
            <a:spAutoFit/>
          </a:bodyPr>
          <a:lstStyle/>
          <a:p>
            <a:pPr algn="l">
              <a:spcAft>
                <a:spcPts val="400"/>
              </a:spcAft>
            </a:pPr>
            <a:r>
              <a:rPr sz="1400" b="1" i="0">
                <a:solidFill>
                  <a:srgbClr val="B90F0A"/>
                </a:solidFill>
                <a:latin typeface="Calibri"/>
              </a:rPr>
              <a:t>Çağrı açılmadı</a:t>
            </a:r>
          </a:p>
        </p:txBody>
      </p:sp>
      <p:sp>
        <p:nvSpPr>
          <p:cNvPr id="12" name="Rounded Rectangle 11"/>
          <p:cNvSpPr/>
          <p:nvPr/>
        </p:nvSpPr>
        <p:spPr>
          <a:xfrm>
            <a:off x="2834640" y="2862072"/>
            <a:ext cx="1005840" cy="347472"/>
          </a:xfrm>
          <a:prstGeom prst="roundRect">
            <a:avLst>
              <a:gd name="adj" fmla="val 50000"/>
            </a:avLst>
          </a:prstGeom>
          <a:solidFill>
            <a:srgbClr val="E10514"/>
          </a:solidFill>
          <a:ln>
            <a:noFill/>
          </a:ln>
          <a:effectLst/>
        </p:spPr>
        <p:txBody>
          <a:bodyPr rtlCol="0" anchor="ctr"/>
          <a:lstStyle/>
          <a:p/>
        </p:txBody>
      </p:sp>
      <p:sp>
        <p:nvSpPr>
          <p:cNvPr id="13" name="TextBox 12"/>
          <p:cNvSpPr txBox="1"/>
          <p:nvPr/>
        </p:nvSpPr>
        <p:spPr>
          <a:xfrm>
            <a:off x="2834640" y="2862072"/>
            <a:ext cx="1005840" cy="347472"/>
          </a:xfrm>
          <a:prstGeom prst="rect">
            <a:avLst/>
          </a:prstGeom>
          <a:noFill/>
        </p:spPr>
        <p:txBody>
          <a:bodyPr wrap="square" anchor="ctr" lIns="0" rIns="0" tIns="0" bIns="0">
            <a:spAutoFit/>
          </a:bodyPr>
          <a:lstStyle/>
          <a:p>
            <a:pPr algn="ctr">
              <a:spcAft>
                <a:spcPts val="400"/>
              </a:spcAft>
            </a:pPr>
            <a:r>
              <a:rPr sz="1100" b="1" i="0">
                <a:solidFill>
                  <a:srgbClr val="FFFFFF"/>
                </a:solidFill>
                <a:latin typeface="Calibri"/>
              </a:rPr>
              <a:t>CANLI</a:t>
            </a:r>
          </a:p>
        </p:txBody>
      </p:sp>
      <p:sp>
        <p:nvSpPr>
          <p:cNvPr id="14" name="Rounded Rectangle 13"/>
          <p:cNvSpPr/>
          <p:nvPr/>
        </p:nvSpPr>
        <p:spPr>
          <a:xfrm>
            <a:off x="4251960" y="1097280"/>
            <a:ext cx="3611880" cy="2377440"/>
          </a:xfrm>
          <a:prstGeom prst="roundRect">
            <a:avLst>
              <a:gd name="adj" fmla="val 6000"/>
            </a:avLst>
          </a:prstGeom>
          <a:solidFill>
            <a:srgbClr val="F2F5F6"/>
          </a:solidFill>
          <a:ln>
            <a:noFill/>
          </a:ln>
          <a:effectLst/>
        </p:spPr>
        <p:txBody>
          <a:bodyPr rtlCol="0" anchor="ctr"/>
          <a:lstStyle/>
          <a:p/>
        </p:txBody>
      </p:sp>
      <p:sp>
        <p:nvSpPr>
          <p:cNvPr id="15" name="Oval 14"/>
          <p:cNvSpPr/>
          <p:nvPr/>
        </p:nvSpPr>
        <p:spPr>
          <a:xfrm>
            <a:off x="4480560" y="1325880"/>
            <a:ext cx="566928" cy="566928"/>
          </a:xfrm>
          <a:prstGeom prst="ellipse">
            <a:avLst/>
          </a:prstGeom>
          <a:solidFill>
            <a:srgbClr val="E10514"/>
          </a:solidFill>
          <a:ln>
            <a:noFill/>
          </a:ln>
          <a:effectLst/>
        </p:spPr>
        <p:txBody>
          <a:bodyPr rtlCol="0" anchor="ctr"/>
          <a:lstStyle/>
          <a:p/>
        </p:txBody>
      </p:sp>
      <p:sp>
        <p:nvSpPr>
          <p:cNvPr id="16" name="TextBox 15"/>
          <p:cNvSpPr txBox="1"/>
          <p:nvPr/>
        </p:nvSpPr>
        <p:spPr>
          <a:xfrm>
            <a:off x="4480560" y="1325880"/>
            <a:ext cx="566928" cy="566928"/>
          </a:xfrm>
          <a:prstGeom prst="rect">
            <a:avLst/>
          </a:prstGeom>
          <a:noFill/>
        </p:spPr>
        <p:txBody>
          <a:bodyPr wrap="square" anchor="ctr" lIns="0" rIns="0" tIns="0" bIns="0">
            <a:spAutoFit/>
          </a:bodyPr>
          <a:lstStyle/>
          <a:p>
            <a:pPr algn="ctr">
              <a:spcAft>
                <a:spcPts val="400"/>
              </a:spcAft>
            </a:pPr>
            <a:r>
              <a:rPr sz="2000" b="1" i="0">
                <a:solidFill>
                  <a:srgbClr val="FFFFFF"/>
                </a:solidFill>
                <a:latin typeface="Calibri"/>
              </a:rPr>
              <a:t>B</a:t>
            </a:r>
          </a:p>
        </p:txBody>
      </p:sp>
      <p:sp>
        <p:nvSpPr>
          <p:cNvPr id="17" name="TextBox 16"/>
          <p:cNvSpPr txBox="1"/>
          <p:nvPr/>
        </p:nvSpPr>
        <p:spPr>
          <a:xfrm>
            <a:off x="5184648" y="1280160"/>
            <a:ext cx="2560320" cy="685800"/>
          </a:xfrm>
          <a:prstGeom prst="rect">
            <a:avLst/>
          </a:prstGeom>
          <a:noFill/>
        </p:spPr>
        <p:txBody>
          <a:bodyPr wrap="square" anchor="ctr" lIns="0" rIns="0" tIns="0" bIns="0">
            <a:spAutoFit/>
          </a:bodyPr>
          <a:lstStyle/>
          <a:p>
            <a:pPr algn="l">
              <a:spcAft>
                <a:spcPts val="100"/>
              </a:spcAft>
            </a:pPr>
            <a:r>
              <a:rPr sz="1700" b="1" i="0">
                <a:solidFill>
                  <a:srgbClr val="1E1E1E"/>
                </a:solidFill>
                <a:latin typeface="Calibri"/>
              </a:rPr>
              <a:t>Yaygın sorun, bilinen çözüm</a:t>
            </a:r>
          </a:p>
          <a:p>
            <a:pPr algn="l">
              <a:spcAft>
                <a:spcPts val="100"/>
              </a:spcAft>
            </a:pPr>
            <a:r>
              <a:rPr sz="1200" b="0" i="0">
                <a:solidFill>
                  <a:srgbClr val="91969B"/>
                </a:solidFill>
                <a:latin typeface="Calibri"/>
              </a:rPr>
              <a:t>ODMTFATR · Mehmet → Zeynep → Kerem</a:t>
            </a:r>
          </a:p>
        </p:txBody>
      </p:sp>
      <p:sp>
        <p:nvSpPr>
          <p:cNvPr id="18" name="TextBox 17"/>
          <p:cNvSpPr txBox="1"/>
          <p:nvPr/>
        </p:nvSpPr>
        <p:spPr>
          <a:xfrm>
            <a:off x="4480560" y="2075688"/>
            <a:ext cx="3154680" cy="640080"/>
          </a:xfrm>
          <a:prstGeom prst="rect">
            <a:avLst/>
          </a:prstGeom>
          <a:noFill/>
        </p:spPr>
        <p:txBody>
          <a:bodyPr wrap="square" anchor="t" lIns="0" rIns="0" tIns="0" bIns="0">
            <a:spAutoFit/>
          </a:bodyPr>
          <a:lstStyle/>
          <a:p>
            <a:pPr algn="l">
              <a:spcAft>
                <a:spcPts val="400"/>
              </a:spcAft>
            </a:pPr>
            <a:r>
              <a:rPr sz="1400" b="0" i="0">
                <a:solidFill>
                  <a:srgbClr val="1E1E1E"/>
                </a:solidFill>
                <a:latin typeface="Calibri"/>
              </a:rPr>
              <a:t>Müşteriye hazır açıklama, %93 eşleşen çözüm</a:t>
            </a:r>
          </a:p>
        </p:txBody>
      </p:sp>
      <p:sp>
        <p:nvSpPr>
          <p:cNvPr id="19" name="TextBox 18"/>
          <p:cNvSpPr txBox="1"/>
          <p:nvPr/>
        </p:nvSpPr>
        <p:spPr>
          <a:xfrm>
            <a:off x="4480560" y="2788920"/>
            <a:ext cx="2194560" cy="502920"/>
          </a:xfrm>
          <a:prstGeom prst="rect">
            <a:avLst/>
          </a:prstGeom>
          <a:noFill/>
        </p:spPr>
        <p:txBody>
          <a:bodyPr wrap="square" anchor="ctr" lIns="0" rIns="0" tIns="0" bIns="0">
            <a:spAutoFit/>
          </a:bodyPr>
          <a:lstStyle/>
          <a:p>
            <a:pPr algn="l">
              <a:spcAft>
                <a:spcPts val="400"/>
              </a:spcAft>
            </a:pPr>
            <a:r>
              <a:rPr sz="1400" b="1" i="0">
                <a:solidFill>
                  <a:srgbClr val="B90F0A"/>
                </a:solidFill>
                <a:latin typeface="Calibri"/>
              </a:rPr>
              <a:t>Onlarca arama tek kayıtta</a:t>
            </a:r>
          </a:p>
        </p:txBody>
      </p:sp>
      <p:sp>
        <p:nvSpPr>
          <p:cNvPr id="20" name="Rounded Rectangle 19"/>
          <p:cNvSpPr/>
          <p:nvPr/>
        </p:nvSpPr>
        <p:spPr>
          <a:xfrm>
            <a:off x="6675120" y="2862072"/>
            <a:ext cx="1005840" cy="347472"/>
          </a:xfrm>
          <a:prstGeom prst="roundRect">
            <a:avLst>
              <a:gd name="adj" fmla="val 50000"/>
            </a:avLst>
          </a:prstGeom>
          <a:solidFill>
            <a:srgbClr val="E10514"/>
          </a:solidFill>
          <a:ln>
            <a:noFill/>
          </a:ln>
          <a:effectLst/>
        </p:spPr>
        <p:txBody>
          <a:bodyPr rtlCol="0" anchor="ctr"/>
          <a:lstStyle/>
          <a:p/>
        </p:txBody>
      </p:sp>
      <p:sp>
        <p:nvSpPr>
          <p:cNvPr id="21" name="TextBox 20"/>
          <p:cNvSpPr txBox="1"/>
          <p:nvPr/>
        </p:nvSpPr>
        <p:spPr>
          <a:xfrm>
            <a:off x="6675120" y="2862072"/>
            <a:ext cx="1005840" cy="347472"/>
          </a:xfrm>
          <a:prstGeom prst="rect">
            <a:avLst/>
          </a:prstGeom>
          <a:noFill/>
        </p:spPr>
        <p:txBody>
          <a:bodyPr wrap="square" anchor="ctr" lIns="0" rIns="0" tIns="0" bIns="0">
            <a:spAutoFit/>
          </a:bodyPr>
          <a:lstStyle/>
          <a:p>
            <a:pPr algn="ctr">
              <a:spcAft>
                <a:spcPts val="400"/>
              </a:spcAft>
            </a:pPr>
            <a:r>
              <a:rPr sz="1100" b="1" i="0">
                <a:solidFill>
                  <a:srgbClr val="FFFFFF"/>
                </a:solidFill>
                <a:latin typeface="Calibri"/>
              </a:rPr>
              <a:t>CANLI</a:t>
            </a:r>
          </a:p>
        </p:txBody>
      </p:sp>
      <p:sp>
        <p:nvSpPr>
          <p:cNvPr id="22" name="Rounded Rectangle 21"/>
          <p:cNvSpPr/>
          <p:nvPr/>
        </p:nvSpPr>
        <p:spPr>
          <a:xfrm>
            <a:off x="8092440" y="1097280"/>
            <a:ext cx="3611880" cy="2377440"/>
          </a:xfrm>
          <a:prstGeom prst="roundRect">
            <a:avLst>
              <a:gd name="adj" fmla="val 6000"/>
            </a:avLst>
          </a:prstGeom>
          <a:solidFill>
            <a:srgbClr val="F2F5F6"/>
          </a:solidFill>
          <a:ln>
            <a:noFill/>
          </a:ln>
          <a:effectLst/>
        </p:spPr>
        <p:txBody>
          <a:bodyPr rtlCol="0" anchor="ctr"/>
          <a:lstStyle/>
          <a:p/>
        </p:txBody>
      </p:sp>
      <p:sp>
        <p:nvSpPr>
          <p:cNvPr id="23" name="Oval 22"/>
          <p:cNvSpPr/>
          <p:nvPr/>
        </p:nvSpPr>
        <p:spPr>
          <a:xfrm>
            <a:off x="8321040" y="1325880"/>
            <a:ext cx="566928" cy="566928"/>
          </a:xfrm>
          <a:prstGeom prst="ellipse">
            <a:avLst/>
          </a:prstGeom>
          <a:solidFill>
            <a:srgbClr val="E10514"/>
          </a:solidFill>
          <a:ln>
            <a:noFill/>
          </a:ln>
          <a:effectLst/>
        </p:spPr>
        <p:txBody>
          <a:bodyPr rtlCol="0" anchor="ctr"/>
          <a:lstStyle/>
          <a:p/>
        </p:txBody>
      </p:sp>
      <p:sp>
        <p:nvSpPr>
          <p:cNvPr id="24" name="TextBox 23"/>
          <p:cNvSpPr txBox="1"/>
          <p:nvPr/>
        </p:nvSpPr>
        <p:spPr>
          <a:xfrm>
            <a:off x="8321040" y="1325880"/>
            <a:ext cx="566928" cy="566928"/>
          </a:xfrm>
          <a:prstGeom prst="rect">
            <a:avLst/>
          </a:prstGeom>
          <a:noFill/>
        </p:spPr>
        <p:txBody>
          <a:bodyPr wrap="square" anchor="ctr" lIns="0" rIns="0" tIns="0" bIns="0">
            <a:spAutoFit/>
          </a:bodyPr>
          <a:lstStyle/>
          <a:p>
            <a:pPr algn="ctr">
              <a:spcAft>
                <a:spcPts val="400"/>
              </a:spcAft>
            </a:pPr>
            <a:r>
              <a:rPr sz="2000" b="1" i="0">
                <a:solidFill>
                  <a:srgbClr val="FFFFFF"/>
                </a:solidFill>
                <a:latin typeface="Calibri"/>
              </a:rPr>
              <a:t>C</a:t>
            </a:r>
          </a:p>
        </p:txBody>
      </p:sp>
      <p:sp>
        <p:nvSpPr>
          <p:cNvPr id="25" name="TextBox 24"/>
          <p:cNvSpPr txBox="1"/>
          <p:nvPr/>
        </p:nvSpPr>
        <p:spPr>
          <a:xfrm>
            <a:off x="9025128" y="1280160"/>
            <a:ext cx="2560320" cy="685800"/>
          </a:xfrm>
          <a:prstGeom prst="rect">
            <a:avLst/>
          </a:prstGeom>
          <a:noFill/>
        </p:spPr>
        <p:txBody>
          <a:bodyPr wrap="square" anchor="ctr" lIns="0" rIns="0" tIns="0" bIns="0">
            <a:spAutoFit/>
          </a:bodyPr>
          <a:lstStyle/>
          <a:p>
            <a:pPr algn="l">
              <a:spcAft>
                <a:spcPts val="100"/>
              </a:spcAft>
            </a:pPr>
            <a:r>
              <a:rPr sz="1700" b="1" i="0">
                <a:solidFill>
                  <a:srgbClr val="1E1E1E"/>
                </a:solidFill>
                <a:latin typeface="Calibri"/>
              </a:rPr>
              <a:t>Dış dünya değişti</a:t>
            </a:r>
          </a:p>
          <a:p>
            <a:pPr algn="l">
              <a:spcAft>
                <a:spcPts val="100"/>
              </a:spcAft>
            </a:pPr>
            <a:r>
              <a:rPr sz="1200" b="0" i="0">
                <a:solidFill>
                  <a:srgbClr val="91969B"/>
                </a:solidFill>
                <a:latin typeface="Calibri"/>
              </a:rPr>
              <a:t>ODMTFATR · Elif → Kerem</a:t>
            </a:r>
          </a:p>
        </p:txBody>
      </p:sp>
      <p:sp>
        <p:nvSpPr>
          <p:cNvPr id="26" name="TextBox 25"/>
          <p:cNvSpPr txBox="1"/>
          <p:nvPr/>
        </p:nvSpPr>
        <p:spPr>
          <a:xfrm>
            <a:off x="8321040" y="2075688"/>
            <a:ext cx="3154680" cy="640080"/>
          </a:xfrm>
          <a:prstGeom prst="rect">
            <a:avLst/>
          </a:prstGeom>
          <a:noFill/>
        </p:spPr>
        <p:txBody>
          <a:bodyPr wrap="square" anchor="t" lIns="0" rIns="0" tIns="0" bIns="0">
            <a:spAutoFit/>
          </a:bodyPr>
          <a:lstStyle/>
          <a:p>
            <a:pPr algn="l">
              <a:spcAft>
                <a:spcPts val="400"/>
              </a:spcAft>
            </a:pPr>
            <a:r>
              <a:rPr sz="1400" b="0" i="0">
                <a:solidFill>
                  <a:srgbClr val="1E1E1E"/>
                </a:solidFill>
                <a:latin typeface="Calibri"/>
              </a:rPr>
              <a:t>Log + kurum duyurusu + kod; düzeltme önerisi</a:t>
            </a:r>
          </a:p>
        </p:txBody>
      </p:sp>
      <p:sp>
        <p:nvSpPr>
          <p:cNvPr id="27" name="TextBox 26"/>
          <p:cNvSpPr txBox="1"/>
          <p:nvPr/>
        </p:nvSpPr>
        <p:spPr>
          <a:xfrm>
            <a:off x="8321040" y="2788920"/>
            <a:ext cx="2194560" cy="502920"/>
          </a:xfrm>
          <a:prstGeom prst="rect">
            <a:avLst/>
          </a:prstGeom>
          <a:noFill/>
        </p:spPr>
        <p:txBody>
          <a:bodyPr wrap="square" anchor="ctr" lIns="0" rIns="0" tIns="0" bIns="0">
            <a:spAutoFit/>
          </a:bodyPr>
          <a:lstStyle/>
          <a:p>
            <a:pPr algn="l">
              <a:spcAft>
                <a:spcPts val="400"/>
              </a:spcAft>
            </a:pPr>
            <a:r>
              <a:rPr sz="1400" b="1" i="0">
                <a:solidFill>
                  <a:srgbClr val="B90F0A"/>
                </a:solidFill>
                <a:latin typeface="Calibri"/>
              </a:rPr>
              <a:t>187 müşteri · ASKİ önceden</a:t>
            </a:r>
          </a:p>
        </p:txBody>
      </p:sp>
      <p:sp>
        <p:nvSpPr>
          <p:cNvPr id="28" name="Rounded Rectangle 27"/>
          <p:cNvSpPr/>
          <p:nvPr/>
        </p:nvSpPr>
        <p:spPr>
          <a:xfrm>
            <a:off x="10515600" y="2862072"/>
            <a:ext cx="1005840" cy="347472"/>
          </a:xfrm>
          <a:prstGeom prst="roundRect">
            <a:avLst>
              <a:gd name="adj" fmla="val 50000"/>
            </a:avLst>
          </a:prstGeom>
          <a:solidFill>
            <a:srgbClr val="E10514"/>
          </a:solidFill>
          <a:ln>
            <a:noFill/>
          </a:ln>
          <a:effectLst/>
        </p:spPr>
        <p:txBody>
          <a:bodyPr rtlCol="0" anchor="ctr"/>
          <a:lstStyle/>
          <a:p/>
        </p:txBody>
      </p:sp>
      <p:sp>
        <p:nvSpPr>
          <p:cNvPr id="29" name="TextBox 28"/>
          <p:cNvSpPr txBox="1"/>
          <p:nvPr/>
        </p:nvSpPr>
        <p:spPr>
          <a:xfrm>
            <a:off x="10515600" y="2862072"/>
            <a:ext cx="1005840" cy="347472"/>
          </a:xfrm>
          <a:prstGeom prst="rect">
            <a:avLst/>
          </a:prstGeom>
          <a:noFill/>
        </p:spPr>
        <p:txBody>
          <a:bodyPr wrap="square" anchor="ctr" lIns="0" rIns="0" tIns="0" bIns="0">
            <a:spAutoFit/>
          </a:bodyPr>
          <a:lstStyle/>
          <a:p>
            <a:pPr algn="ctr">
              <a:spcAft>
                <a:spcPts val="400"/>
              </a:spcAft>
            </a:pPr>
            <a:r>
              <a:rPr sz="1100" b="1" i="0">
                <a:solidFill>
                  <a:srgbClr val="FFFFFF"/>
                </a:solidFill>
                <a:latin typeface="Calibri"/>
              </a:rPr>
              <a:t>CANLI</a:t>
            </a:r>
          </a:p>
        </p:txBody>
      </p:sp>
      <p:sp>
        <p:nvSpPr>
          <p:cNvPr id="30" name="Rounded Rectangle 29"/>
          <p:cNvSpPr/>
          <p:nvPr/>
        </p:nvSpPr>
        <p:spPr>
          <a:xfrm>
            <a:off x="411480" y="3657600"/>
            <a:ext cx="3611880" cy="2377440"/>
          </a:xfrm>
          <a:prstGeom prst="roundRect">
            <a:avLst>
              <a:gd name="adj" fmla="val 6000"/>
            </a:avLst>
          </a:prstGeom>
          <a:solidFill>
            <a:srgbClr val="F2F5F6"/>
          </a:solidFill>
          <a:ln>
            <a:noFill/>
          </a:ln>
          <a:effectLst/>
        </p:spPr>
        <p:txBody>
          <a:bodyPr rtlCol="0" anchor="ctr"/>
          <a:lstStyle/>
          <a:p/>
        </p:txBody>
      </p:sp>
      <p:sp>
        <p:nvSpPr>
          <p:cNvPr id="31" name="Oval 30"/>
          <p:cNvSpPr/>
          <p:nvPr/>
        </p:nvSpPr>
        <p:spPr>
          <a:xfrm>
            <a:off x="640080" y="3886200"/>
            <a:ext cx="566928" cy="566928"/>
          </a:xfrm>
          <a:prstGeom prst="ellipse">
            <a:avLst/>
          </a:prstGeom>
          <a:solidFill>
            <a:srgbClr val="E10514"/>
          </a:solidFill>
          <a:ln>
            <a:noFill/>
          </a:ln>
          <a:effectLst/>
        </p:spPr>
        <p:txBody>
          <a:bodyPr rtlCol="0" anchor="ctr"/>
          <a:lstStyle/>
          <a:p/>
        </p:txBody>
      </p:sp>
      <p:sp>
        <p:nvSpPr>
          <p:cNvPr id="32" name="TextBox 31"/>
          <p:cNvSpPr txBox="1"/>
          <p:nvPr/>
        </p:nvSpPr>
        <p:spPr>
          <a:xfrm>
            <a:off x="640080" y="3886200"/>
            <a:ext cx="566928" cy="566928"/>
          </a:xfrm>
          <a:prstGeom prst="rect">
            <a:avLst/>
          </a:prstGeom>
          <a:noFill/>
        </p:spPr>
        <p:txBody>
          <a:bodyPr wrap="square" anchor="ctr" lIns="0" rIns="0" tIns="0" bIns="0">
            <a:spAutoFit/>
          </a:bodyPr>
          <a:lstStyle/>
          <a:p>
            <a:pPr algn="ctr">
              <a:spcAft>
                <a:spcPts val="400"/>
              </a:spcAft>
            </a:pPr>
            <a:r>
              <a:rPr sz="2000" b="1" i="0">
                <a:solidFill>
                  <a:srgbClr val="FFFFFF"/>
                </a:solidFill>
                <a:latin typeface="Calibri"/>
              </a:rPr>
              <a:t>D</a:t>
            </a:r>
          </a:p>
        </p:txBody>
      </p:sp>
      <p:sp>
        <p:nvSpPr>
          <p:cNvPr id="33" name="TextBox 32"/>
          <p:cNvSpPr txBox="1"/>
          <p:nvPr/>
        </p:nvSpPr>
        <p:spPr>
          <a:xfrm>
            <a:off x="1344168" y="3840480"/>
            <a:ext cx="2560320" cy="685800"/>
          </a:xfrm>
          <a:prstGeom prst="rect">
            <a:avLst/>
          </a:prstGeom>
          <a:noFill/>
        </p:spPr>
        <p:txBody>
          <a:bodyPr wrap="square" anchor="ctr" lIns="0" rIns="0" tIns="0" bIns="0">
            <a:spAutoFit/>
          </a:bodyPr>
          <a:lstStyle/>
          <a:p>
            <a:pPr algn="l">
              <a:spcAft>
                <a:spcPts val="100"/>
              </a:spcAft>
            </a:pPr>
            <a:r>
              <a:rPr sz="1700" b="1" i="0">
                <a:solidFill>
                  <a:srgbClr val="1E1E1E"/>
                </a:solidFill>
                <a:latin typeface="Calibri"/>
              </a:rPr>
              <a:t>Talepten plana</a:t>
            </a:r>
          </a:p>
          <a:p>
            <a:pPr algn="l">
              <a:spcAft>
                <a:spcPts val="100"/>
              </a:spcAft>
            </a:pPr>
            <a:r>
              <a:rPr sz="1200" b="0" i="0">
                <a:solidFill>
                  <a:srgbClr val="91969B"/>
                </a:solidFill>
                <a:latin typeface="Calibri"/>
              </a:rPr>
              <a:t>Talep Yönlendirme · Fatma → Ayşe</a:t>
            </a:r>
          </a:p>
        </p:txBody>
      </p:sp>
      <p:sp>
        <p:nvSpPr>
          <p:cNvPr id="34" name="TextBox 33"/>
          <p:cNvSpPr txBox="1"/>
          <p:nvPr/>
        </p:nvSpPr>
        <p:spPr>
          <a:xfrm>
            <a:off x="640080" y="4636008"/>
            <a:ext cx="3154680" cy="640080"/>
          </a:xfrm>
          <a:prstGeom prst="rect">
            <a:avLst/>
          </a:prstGeom>
          <a:noFill/>
        </p:spPr>
        <p:txBody>
          <a:bodyPr wrap="square" anchor="t" lIns="0" rIns="0" tIns="0" bIns="0">
            <a:spAutoFit/>
          </a:bodyPr>
          <a:lstStyle/>
          <a:p>
            <a:pPr algn="l">
              <a:spcAft>
                <a:spcPts val="400"/>
              </a:spcAft>
            </a:pPr>
            <a:r>
              <a:rPr sz="1400" b="0" i="0">
                <a:solidFill>
                  <a:srgbClr val="1E1E1E"/>
                </a:solidFill>
                <a:latin typeface="Calibri"/>
              </a:rPr>
              <a:t>Servis, adam-gün, takvim; veriyle kapsam</a:t>
            </a:r>
          </a:p>
        </p:txBody>
      </p:sp>
      <p:sp>
        <p:nvSpPr>
          <p:cNvPr id="35" name="TextBox 34"/>
          <p:cNvSpPr txBox="1"/>
          <p:nvPr/>
        </p:nvSpPr>
        <p:spPr>
          <a:xfrm>
            <a:off x="640080" y="5349240"/>
            <a:ext cx="2194560" cy="502920"/>
          </a:xfrm>
          <a:prstGeom prst="rect">
            <a:avLst/>
          </a:prstGeom>
          <a:noFill/>
        </p:spPr>
        <p:txBody>
          <a:bodyPr wrap="square" anchor="ctr" lIns="0" rIns="0" tIns="0" bIns="0">
            <a:spAutoFit/>
          </a:bodyPr>
          <a:lstStyle/>
          <a:p>
            <a:pPr algn="l">
              <a:spcAft>
                <a:spcPts val="400"/>
              </a:spcAft>
            </a:pPr>
            <a:r>
              <a:rPr sz="1400" b="1" i="0">
                <a:solidFill>
                  <a:srgbClr val="B90F0A"/>
                </a:solidFill>
                <a:latin typeface="Calibri"/>
              </a:rPr>
              <a:t>Erişim %58 → %89 · 20 a/g</a:t>
            </a:r>
          </a:p>
        </p:txBody>
      </p:sp>
      <p:sp>
        <p:nvSpPr>
          <p:cNvPr id="36" name="Rounded Rectangle 35"/>
          <p:cNvSpPr/>
          <p:nvPr/>
        </p:nvSpPr>
        <p:spPr>
          <a:xfrm>
            <a:off x="2834640" y="5422392"/>
            <a:ext cx="1005840" cy="347472"/>
          </a:xfrm>
          <a:prstGeom prst="roundRect">
            <a:avLst>
              <a:gd name="adj" fmla="val 50000"/>
            </a:avLst>
          </a:prstGeom>
          <a:solidFill>
            <a:srgbClr val="E10514"/>
          </a:solidFill>
          <a:ln>
            <a:noFill/>
          </a:ln>
          <a:effectLst/>
        </p:spPr>
        <p:txBody>
          <a:bodyPr rtlCol="0" anchor="ctr"/>
          <a:lstStyle/>
          <a:p/>
        </p:txBody>
      </p:sp>
      <p:sp>
        <p:nvSpPr>
          <p:cNvPr id="37" name="TextBox 36"/>
          <p:cNvSpPr txBox="1"/>
          <p:nvPr/>
        </p:nvSpPr>
        <p:spPr>
          <a:xfrm>
            <a:off x="2834640" y="5422392"/>
            <a:ext cx="1005840" cy="347472"/>
          </a:xfrm>
          <a:prstGeom prst="rect">
            <a:avLst/>
          </a:prstGeom>
          <a:noFill/>
        </p:spPr>
        <p:txBody>
          <a:bodyPr wrap="square" anchor="ctr" lIns="0" rIns="0" tIns="0" bIns="0">
            <a:spAutoFit/>
          </a:bodyPr>
          <a:lstStyle/>
          <a:p>
            <a:pPr algn="ctr">
              <a:spcAft>
                <a:spcPts val="400"/>
              </a:spcAft>
            </a:pPr>
            <a:r>
              <a:rPr sz="1100" b="1" i="0">
                <a:solidFill>
                  <a:srgbClr val="FFFFFF"/>
                </a:solidFill>
                <a:latin typeface="Calibri"/>
              </a:rPr>
              <a:t>CANLI</a:t>
            </a:r>
          </a:p>
        </p:txBody>
      </p:sp>
      <p:sp>
        <p:nvSpPr>
          <p:cNvPr id="38" name="Rounded Rectangle 37"/>
          <p:cNvSpPr/>
          <p:nvPr/>
        </p:nvSpPr>
        <p:spPr>
          <a:xfrm>
            <a:off x="4251960" y="3657600"/>
            <a:ext cx="3611880" cy="2377440"/>
          </a:xfrm>
          <a:prstGeom prst="roundRect">
            <a:avLst>
              <a:gd name="adj" fmla="val 6000"/>
            </a:avLst>
          </a:prstGeom>
          <a:solidFill>
            <a:srgbClr val="F2F5F6"/>
          </a:solidFill>
          <a:ln>
            <a:noFill/>
          </a:ln>
          <a:effectLst/>
        </p:spPr>
        <p:txBody>
          <a:bodyPr rtlCol="0" anchor="ctr"/>
          <a:lstStyle/>
          <a:p/>
        </p:txBody>
      </p:sp>
      <p:sp>
        <p:nvSpPr>
          <p:cNvPr id="39" name="Oval 38"/>
          <p:cNvSpPr/>
          <p:nvPr/>
        </p:nvSpPr>
        <p:spPr>
          <a:xfrm>
            <a:off x="4480560" y="3886200"/>
            <a:ext cx="566928" cy="566928"/>
          </a:xfrm>
          <a:prstGeom prst="ellipse">
            <a:avLst/>
          </a:prstGeom>
          <a:solidFill>
            <a:srgbClr val="91969B"/>
          </a:solidFill>
          <a:ln>
            <a:noFill/>
          </a:ln>
          <a:effectLst/>
        </p:spPr>
        <p:txBody>
          <a:bodyPr rtlCol="0" anchor="ctr"/>
          <a:lstStyle/>
          <a:p/>
        </p:txBody>
      </p:sp>
      <p:sp>
        <p:nvSpPr>
          <p:cNvPr id="40" name="TextBox 39"/>
          <p:cNvSpPr txBox="1"/>
          <p:nvPr/>
        </p:nvSpPr>
        <p:spPr>
          <a:xfrm>
            <a:off x="4480560" y="3886200"/>
            <a:ext cx="566928" cy="566928"/>
          </a:xfrm>
          <a:prstGeom prst="rect">
            <a:avLst/>
          </a:prstGeom>
          <a:noFill/>
        </p:spPr>
        <p:txBody>
          <a:bodyPr wrap="square" anchor="ctr" lIns="0" rIns="0" tIns="0" bIns="0">
            <a:spAutoFit/>
          </a:bodyPr>
          <a:lstStyle/>
          <a:p>
            <a:pPr algn="ctr">
              <a:spcAft>
                <a:spcPts val="400"/>
              </a:spcAft>
            </a:pPr>
            <a:r>
              <a:rPr sz="2000" b="1" i="0">
                <a:solidFill>
                  <a:srgbClr val="FFFFFF"/>
                </a:solidFill>
                <a:latin typeface="Calibri"/>
              </a:rPr>
              <a:t>E</a:t>
            </a:r>
          </a:p>
        </p:txBody>
      </p:sp>
      <p:sp>
        <p:nvSpPr>
          <p:cNvPr id="41" name="TextBox 40"/>
          <p:cNvSpPr txBox="1"/>
          <p:nvPr/>
        </p:nvSpPr>
        <p:spPr>
          <a:xfrm>
            <a:off x="5184648" y="3840480"/>
            <a:ext cx="2560320" cy="685800"/>
          </a:xfrm>
          <a:prstGeom prst="rect">
            <a:avLst/>
          </a:prstGeom>
          <a:noFill/>
        </p:spPr>
        <p:txBody>
          <a:bodyPr wrap="square" anchor="ctr" lIns="0" rIns="0" tIns="0" bIns="0">
            <a:spAutoFit/>
          </a:bodyPr>
          <a:lstStyle/>
          <a:p>
            <a:pPr algn="l">
              <a:spcAft>
                <a:spcPts val="100"/>
              </a:spcAft>
            </a:pPr>
            <a:r>
              <a:rPr sz="1700" b="1" i="0">
                <a:solidFill>
                  <a:srgbClr val="1E1E1E"/>
                </a:solidFill>
                <a:latin typeface="Calibri"/>
              </a:rPr>
              <a:t>Acil yeni ekran</a:t>
            </a:r>
          </a:p>
          <a:p>
            <a:pPr algn="l">
              <a:spcAft>
                <a:spcPts val="100"/>
              </a:spcAft>
            </a:pPr>
            <a:r>
              <a:rPr sz="1200" b="0" i="0">
                <a:solidFill>
                  <a:srgbClr val="91969B"/>
                </a:solidFill>
                <a:latin typeface="Calibri"/>
              </a:rPr>
              <a:t>KRDTERTL (yeni) · Hakan → Ayşe</a:t>
            </a:r>
          </a:p>
        </p:txBody>
      </p:sp>
      <p:sp>
        <p:nvSpPr>
          <p:cNvPr id="42" name="TextBox 41"/>
          <p:cNvSpPr txBox="1"/>
          <p:nvPr/>
        </p:nvSpPr>
        <p:spPr>
          <a:xfrm>
            <a:off x="4480560" y="4636008"/>
            <a:ext cx="3154680" cy="640080"/>
          </a:xfrm>
          <a:prstGeom prst="rect">
            <a:avLst/>
          </a:prstGeom>
          <a:noFill/>
        </p:spPr>
        <p:txBody>
          <a:bodyPr wrap="square" anchor="t" lIns="0" rIns="0" tIns="0" bIns="0">
            <a:spAutoFit/>
          </a:bodyPr>
          <a:lstStyle/>
          <a:p>
            <a:pPr algn="l">
              <a:spcAft>
                <a:spcPts val="400"/>
              </a:spcAft>
            </a:pPr>
            <a:r>
              <a:rPr sz="1400" b="0" i="0">
                <a:solidFill>
                  <a:srgbClr val="1E1E1E"/>
                </a:solidFill>
                <a:latin typeface="Calibri"/>
              </a:rPr>
              <a:t>Etkilenen müşteri, riskli sorular, kapasite çatışması</a:t>
            </a:r>
          </a:p>
        </p:txBody>
      </p:sp>
      <p:sp>
        <p:nvSpPr>
          <p:cNvPr id="43" name="TextBox 42"/>
          <p:cNvSpPr txBox="1"/>
          <p:nvPr/>
        </p:nvSpPr>
        <p:spPr>
          <a:xfrm>
            <a:off x="4480560" y="5349240"/>
            <a:ext cx="2194560" cy="502920"/>
          </a:xfrm>
          <a:prstGeom prst="rect">
            <a:avLst/>
          </a:prstGeom>
          <a:noFill/>
        </p:spPr>
        <p:txBody>
          <a:bodyPr wrap="square" anchor="ctr" lIns="0" rIns="0" tIns="0" bIns="0">
            <a:spAutoFit/>
          </a:bodyPr>
          <a:lstStyle/>
          <a:p>
            <a:pPr algn="l">
              <a:spcAft>
                <a:spcPts val="400"/>
              </a:spcAft>
            </a:pPr>
            <a:r>
              <a:rPr sz="1400" b="1" i="0">
                <a:solidFill>
                  <a:srgbClr val="1E1E1E"/>
                </a:solidFill>
                <a:latin typeface="Calibri"/>
              </a:rPr>
              <a:t>Aynı gün karar · 17 a/g</a:t>
            </a:r>
          </a:p>
        </p:txBody>
      </p:sp>
      <p:sp>
        <p:nvSpPr>
          <p:cNvPr id="44" name="Rounded Rectangle 43"/>
          <p:cNvSpPr/>
          <p:nvPr/>
        </p:nvSpPr>
        <p:spPr>
          <a:xfrm>
            <a:off x="6675120" y="5422392"/>
            <a:ext cx="1005840" cy="347472"/>
          </a:xfrm>
          <a:prstGeom prst="roundRect">
            <a:avLst>
              <a:gd name="adj" fmla="val 50000"/>
            </a:avLst>
          </a:prstGeom>
          <a:solidFill>
            <a:srgbClr val="91969B"/>
          </a:solidFill>
          <a:ln>
            <a:noFill/>
          </a:ln>
          <a:effectLst/>
        </p:spPr>
        <p:txBody>
          <a:bodyPr rtlCol="0" anchor="ctr"/>
          <a:lstStyle/>
          <a:p/>
        </p:txBody>
      </p:sp>
      <p:sp>
        <p:nvSpPr>
          <p:cNvPr id="45" name="TextBox 44"/>
          <p:cNvSpPr txBox="1"/>
          <p:nvPr/>
        </p:nvSpPr>
        <p:spPr>
          <a:xfrm>
            <a:off x="6675120" y="5422392"/>
            <a:ext cx="1005840" cy="347472"/>
          </a:xfrm>
          <a:prstGeom prst="rect">
            <a:avLst/>
          </a:prstGeom>
          <a:noFill/>
        </p:spPr>
        <p:txBody>
          <a:bodyPr wrap="square" anchor="ctr" lIns="0" rIns="0" tIns="0" bIns="0">
            <a:spAutoFit/>
          </a:bodyPr>
          <a:lstStyle/>
          <a:p>
            <a:pPr algn="ctr">
              <a:spcAft>
                <a:spcPts val="400"/>
              </a:spcAft>
            </a:pPr>
            <a:r>
              <a:rPr sz="1100" b="1" i="0">
                <a:solidFill>
                  <a:srgbClr val="FFFFFF"/>
                </a:solidFill>
                <a:latin typeface="Calibri"/>
              </a:rPr>
              <a:t>KAYIT</a:t>
            </a:r>
          </a:p>
        </p:txBody>
      </p:sp>
      <p:sp>
        <p:nvSpPr>
          <p:cNvPr id="46" name="Rounded Rectangle 45"/>
          <p:cNvSpPr/>
          <p:nvPr/>
        </p:nvSpPr>
        <p:spPr>
          <a:xfrm>
            <a:off x="8092440" y="3657600"/>
            <a:ext cx="3611880" cy="2377440"/>
          </a:xfrm>
          <a:prstGeom prst="roundRect">
            <a:avLst>
              <a:gd name="adj" fmla="val 6000"/>
            </a:avLst>
          </a:prstGeom>
          <a:solidFill>
            <a:srgbClr val="F2F5F6"/>
          </a:solidFill>
          <a:ln>
            <a:noFill/>
          </a:ln>
          <a:effectLst/>
        </p:spPr>
        <p:txBody>
          <a:bodyPr rtlCol="0" anchor="ctr"/>
          <a:lstStyle/>
          <a:p/>
        </p:txBody>
      </p:sp>
      <p:sp>
        <p:nvSpPr>
          <p:cNvPr id="47" name="Oval 46"/>
          <p:cNvSpPr/>
          <p:nvPr/>
        </p:nvSpPr>
        <p:spPr>
          <a:xfrm>
            <a:off x="8321040" y="3886200"/>
            <a:ext cx="566928" cy="566928"/>
          </a:xfrm>
          <a:prstGeom prst="ellipse">
            <a:avLst/>
          </a:prstGeom>
          <a:solidFill>
            <a:srgbClr val="91969B"/>
          </a:solidFill>
          <a:ln>
            <a:noFill/>
          </a:ln>
          <a:effectLst/>
        </p:spPr>
        <p:txBody>
          <a:bodyPr rtlCol="0" anchor="ctr"/>
          <a:lstStyle/>
          <a:p/>
        </p:txBody>
      </p:sp>
      <p:sp>
        <p:nvSpPr>
          <p:cNvPr id="48" name="TextBox 47"/>
          <p:cNvSpPr txBox="1"/>
          <p:nvPr/>
        </p:nvSpPr>
        <p:spPr>
          <a:xfrm>
            <a:off x="8321040" y="3886200"/>
            <a:ext cx="566928" cy="566928"/>
          </a:xfrm>
          <a:prstGeom prst="rect">
            <a:avLst/>
          </a:prstGeom>
          <a:noFill/>
        </p:spPr>
        <p:txBody>
          <a:bodyPr wrap="square" anchor="ctr" lIns="0" rIns="0" tIns="0" bIns="0">
            <a:spAutoFit/>
          </a:bodyPr>
          <a:lstStyle/>
          <a:p>
            <a:pPr algn="ctr">
              <a:spcAft>
                <a:spcPts val="400"/>
              </a:spcAft>
            </a:pPr>
            <a:r>
              <a:rPr sz="2000" b="1" i="0">
                <a:solidFill>
                  <a:srgbClr val="FFFFFF"/>
                </a:solidFill>
                <a:latin typeface="Calibri"/>
              </a:rPr>
              <a:t>F</a:t>
            </a:r>
          </a:p>
        </p:txBody>
      </p:sp>
      <p:sp>
        <p:nvSpPr>
          <p:cNvPr id="49" name="TextBox 48"/>
          <p:cNvSpPr txBox="1"/>
          <p:nvPr/>
        </p:nvSpPr>
        <p:spPr>
          <a:xfrm>
            <a:off x="9025128" y="3840480"/>
            <a:ext cx="2560320" cy="685800"/>
          </a:xfrm>
          <a:prstGeom prst="rect">
            <a:avLst/>
          </a:prstGeom>
          <a:noFill/>
        </p:spPr>
        <p:txBody>
          <a:bodyPr wrap="square" anchor="ctr" lIns="0" rIns="0" tIns="0" bIns="0">
            <a:spAutoFit/>
          </a:bodyPr>
          <a:lstStyle/>
          <a:p>
            <a:pPr algn="l">
              <a:spcAft>
                <a:spcPts val="100"/>
              </a:spcAft>
            </a:pPr>
            <a:r>
              <a:rPr sz="1700" b="1" i="0">
                <a:solidFill>
                  <a:srgbClr val="1E1E1E"/>
                </a:solidFill>
                <a:latin typeface="Calibri"/>
              </a:rPr>
              <a:t>Günlük durum özeti</a:t>
            </a:r>
          </a:p>
          <a:p>
            <a:pPr algn="l">
              <a:spcAft>
                <a:spcPts val="100"/>
              </a:spcAft>
            </a:pPr>
            <a:r>
              <a:rPr sz="1200" b="0" i="0">
                <a:solidFill>
                  <a:srgbClr val="91969B"/>
                </a:solidFill>
                <a:latin typeface="Calibri"/>
              </a:rPr>
              <a:t>Mercek sohbet · Kerem</a:t>
            </a:r>
          </a:p>
        </p:txBody>
      </p:sp>
      <p:sp>
        <p:nvSpPr>
          <p:cNvPr id="50" name="TextBox 49"/>
          <p:cNvSpPr txBox="1"/>
          <p:nvPr/>
        </p:nvSpPr>
        <p:spPr>
          <a:xfrm>
            <a:off x="8321040" y="4636008"/>
            <a:ext cx="3154680" cy="640080"/>
          </a:xfrm>
          <a:prstGeom prst="rect">
            <a:avLst/>
          </a:prstGeom>
          <a:noFill/>
        </p:spPr>
        <p:txBody>
          <a:bodyPr wrap="square" anchor="t" lIns="0" rIns="0" tIns="0" bIns="0">
            <a:spAutoFit/>
          </a:bodyPr>
          <a:lstStyle/>
          <a:p>
            <a:pPr algn="l">
              <a:spcAft>
                <a:spcPts val="400"/>
              </a:spcAft>
            </a:pPr>
            <a:r>
              <a:rPr sz="1400" b="0" i="0">
                <a:solidFill>
                  <a:srgbClr val="1E1E1E"/>
                </a:solidFill>
                <a:latin typeface="Calibri"/>
              </a:rPr>
              <a:t>Kibana bilgisi gerektirmeden sohbetle özet</a:t>
            </a:r>
          </a:p>
        </p:txBody>
      </p:sp>
      <p:sp>
        <p:nvSpPr>
          <p:cNvPr id="51" name="TextBox 50"/>
          <p:cNvSpPr txBox="1"/>
          <p:nvPr/>
        </p:nvSpPr>
        <p:spPr>
          <a:xfrm>
            <a:off x="8321040" y="5349240"/>
            <a:ext cx="2194560" cy="502920"/>
          </a:xfrm>
          <a:prstGeom prst="rect">
            <a:avLst/>
          </a:prstGeom>
          <a:noFill/>
        </p:spPr>
        <p:txBody>
          <a:bodyPr wrap="square" anchor="ctr" lIns="0" rIns="0" tIns="0" bIns="0">
            <a:spAutoFit/>
          </a:bodyPr>
          <a:lstStyle/>
          <a:p>
            <a:pPr algn="l">
              <a:spcAft>
                <a:spcPts val="400"/>
              </a:spcAft>
            </a:pPr>
            <a:r>
              <a:rPr sz="1400" b="1" i="0">
                <a:solidFill>
                  <a:srgbClr val="1E1E1E"/>
                </a:solidFill>
                <a:latin typeface="Calibri"/>
              </a:rPr>
              <a:t>En sorunlu ekran: ODMTFATR</a:t>
            </a:r>
          </a:p>
        </p:txBody>
      </p:sp>
      <p:sp>
        <p:nvSpPr>
          <p:cNvPr id="52" name="Rounded Rectangle 51"/>
          <p:cNvSpPr/>
          <p:nvPr/>
        </p:nvSpPr>
        <p:spPr>
          <a:xfrm>
            <a:off x="10515600" y="5422392"/>
            <a:ext cx="1005840" cy="347472"/>
          </a:xfrm>
          <a:prstGeom prst="roundRect">
            <a:avLst>
              <a:gd name="adj" fmla="val 50000"/>
            </a:avLst>
          </a:prstGeom>
          <a:solidFill>
            <a:srgbClr val="91969B"/>
          </a:solidFill>
          <a:ln>
            <a:noFill/>
          </a:ln>
          <a:effectLst/>
        </p:spPr>
        <p:txBody>
          <a:bodyPr rtlCol="0" anchor="ctr"/>
          <a:lstStyle/>
          <a:p/>
        </p:txBody>
      </p:sp>
      <p:sp>
        <p:nvSpPr>
          <p:cNvPr id="53" name="TextBox 52"/>
          <p:cNvSpPr txBox="1"/>
          <p:nvPr/>
        </p:nvSpPr>
        <p:spPr>
          <a:xfrm>
            <a:off x="10515600" y="5422392"/>
            <a:ext cx="1005840" cy="347472"/>
          </a:xfrm>
          <a:prstGeom prst="rect">
            <a:avLst/>
          </a:prstGeom>
          <a:noFill/>
        </p:spPr>
        <p:txBody>
          <a:bodyPr wrap="square" anchor="ctr" lIns="0" rIns="0" tIns="0" bIns="0">
            <a:spAutoFit/>
          </a:bodyPr>
          <a:lstStyle/>
          <a:p>
            <a:pPr algn="ctr">
              <a:spcAft>
                <a:spcPts val="400"/>
              </a:spcAft>
            </a:pPr>
            <a:r>
              <a:rPr sz="1100" b="1" i="0">
                <a:solidFill>
                  <a:srgbClr val="FFFFFF"/>
                </a:solidFill>
                <a:latin typeface="Calibri"/>
              </a:rPr>
              <a:t>KAYIT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 y="91440"/>
            <a:ext cx="10058400" cy="566928"/>
          </a:xfrm>
          <a:prstGeom prst="rect">
            <a:avLst/>
          </a:prstGeom>
          <a:noFill/>
        </p:spPr>
        <p:txBody>
          <a:bodyPr wrap="square" anchor="t" lIns="0" rIns="0" tIns="0" bIns="0">
            <a:spAutoFit/>
          </a:bodyPr>
          <a:lstStyle/>
          <a:p>
            <a:pPr algn="l">
              <a:spcAft>
                <a:spcPts val="400"/>
              </a:spcAft>
            </a:pPr>
            <a:r>
              <a:rPr sz="3200" b="1" i="0">
                <a:solidFill>
                  <a:srgbClr val="1E1E1E"/>
                </a:solidFill>
                <a:latin typeface="Calibri"/>
              </a:rPr>
              <a:t>Canlı Demo: Dört Sahne</a:t>
            </a:r>
          </a:p>
        </p:txBody>
      </p:sp>
      <p:pic>
        <p:nvPicPr>
          <p:cNvPr id="3" name="Picture 2" descr="mercek-logo-kucuk.png"/>
          <p:cNvPicPr>
            <a:picLocks noChangeAspect="1"/>
          </p:cNvPicPr>
          <p:nvPr/>
        </p:nvPicPr>
        <p:blipFill>
          <a:blip r:embed="rId2"/>
          <a:stretch>
            <a:fillRect/>
          </a:stretch>
        </p:blipFill>
        <p:spPr>
          <a:xfrm>
            <a:off x="10561320" y="155448"/>
            <a:ext cx="351129" cy="351129"/>
          </a:xfrm>
          <a:prstGeom prst="rect">
            <a:avLst/>
          </a:prstGeom>
        </p:spPr>
      </p:pic>
      <p:sp>
        <p:nvSpPr>
          <p:cNvPr id="4" name="TextBox 3"/>
          <p:cNvSpPr txBox="1"/>
          <p:nvPr/>
        </p:nvSpPr>
        <p:spPr>
          <a:xfrm>
            <a:off x="10978286" y="155448"/>
            <a:ext cx="1645919" cy="351129"/>
          </a:xfrm>
          <a:prstGeom prst="rect">
            <a:avLst/>
          </a:prstGeom>
          <a:noFill/>
        </p:spPr>
        <p:txBody>
          <a:bodyPr wrap="square" anchor="ctr" lIns="0" rIns="0" tIns="0" bIns="0">
            <a:spAutoFit/>
          </a:bodyPr>
          <a:lstStyle/>
          <a:p>
            <a:pPr algn="l">
              <a:spcAft>
                <a:spcPts val="400"/>
              </a:spcAft>
            </a:pPr>
            <a:r>
              <a:rPr sz="1500" b="1" i="0">
                <a:solidFill>
                  <a:srgbClr val="1E1E1E"/>
                </a:solidFill>
                <a:latin typeface="Calibri"/>
              </a:rPr>
              <a:t>MERCEK</a:t>
            </a:r>
          </a:p>
        </p:txBody>
      </p:sp>
      <p:sp>
        <p:nvSpPr>
          <p:cNvPr id="5" name="TextBox 4"/>
          <p:cNvSpPr txBox="1"/>
          <p:nvPr/>
        </p:nvSpPr>
        <p:spPr>
          <a:xfrm>
            <a:off x="11292840" y="6382512"/>
            <a:ext cx="685800" cy="274320"/>
          </a:xfrm>
          <a:prstGeom prst="rect">
            <a:avLst/>
          </a:prstGeom>
          <a:noFill/>
        </p:spPr>
        <p:txBody>
          <a:bodyPr wrap="square" anchor="t" lIns="0" rIns="0" tIns="0" bIns="0">
            <a:spAutoFit/>
          </a:bodyPr>
          <a:lstStyle/>
          <a:p>
            <a:pPr algn="r">
              <a:spcAft>
                <a:spcPts val="400"/>
              </a:spcAft>
            </a:pPr>
            <a:r>
              <a:rPr sz="1100" b="0" i="0">
                <a:solidFill>
                  <a:srgbClr val="91969B"/>
                </a:solidFill>
                <a:latin typeface="Calibri"/>
              </a:rPr>
              <a:t>8</a:t>
            </a:r>
          </a:p>
        </p:txBody>
      </p:sp>
      <p:sp>
        <p:nvSpPr>
          <p:cNvPr id="6" name="Rounded Rectangle 5"/>
          <p:cNvSpPr/>
          <p:nvPr/>
        </p:nvSpPr>
        <p:spPr>
          <a:xfrm>
            <a:off x="411480" y="1051560"/>
            <a:ext cx="5577840" cy="2377440"/>
          </a:xfrm>
          <a:prstGeom prst="roundRect">
            <a:avLst>
              <a:gd name="adj" fmla="val 6000"/>
            </a:avLst>
          </a:prstGeom>
          <a:solidFill>
            <a:srgbClr val="F2F5F6"/>
          </a:solidFill>
          <a:ln>
            <a:noFill/>
          </a:ln>
          <a:effectLst/>
        </p:spPr>
        <p:txBody>
          <a:bodyPr rtlCol="0" anchor="ctr"/>
          <a:lstStyle/>
          <a:p/>
        </p:txBody>
      </p:sp>
      <p:pic>
        <p:nvPicPr>
          <p:cNvPr id="7" name="Picture 6" descr="m-a-panel.png"/>
          <p:cNvPicPr>
            <a:picLocks noChangeAspect="1"/>
          </p:cNvPicPr>
          <p:nvPr/>
        </p:nvPicPr>
        <p:blipFill>
          <a:blip r:embed="rId3"/>
          <a:stretch>
            <a:fillRect/>
          </a:stretch>
        </p:blipFill>
        <p:spPr>
          <a:xfrm>
            <a:off x="594360" y="1234439"/>
            <a:ext cx="3397032" cy="2011680"/>
          </a:xfrm>
          <a:prstGeom prst="rect">
            <a:avLst/>
          </a:prstGeom>
          <a:ln>
            <a:solidFill>
              <a:srgbClr val="B4BEC3"/>
            </a:solidFill>
          </a:ln>
        </p:spPr>
      </p:pic>
      <p:sp>
        <p:nvSpPr>
          <p:cNvPr id="8" name="Rounded Rectangle 7"/>
          <p:cNvSpPr/>
          <p:nvPr/>
        </p:nvSpPr>
        <p:spPr>
          <a:xfrm>
            <a:off x="4174272" y="1234439"/>
            <a:ext cx="868680" cy="310896"/>
          </a:xfrm>
          <a:prstGeom prst="roundRect">
            <a:avLst>
              <a:gd name="adj" fmla="val 50000"/>
            </a:avLst>
          </a:prstGeom>
          <a:solidFill>
            <a:srgbClr val="E10514"/>
          </a:solidFill>
          <a:ln>
            <a:noFill/>
          </a:ln>
          <a:effectLst/>
        </p:spPr>
        <p:txBody>
          <a:bodyPr rtlCol="0" anchor="ctr"/>
          <a:lstStyle/>
          <a:p/>
        </p:txBody>
      </p:sp>
      <p:sp>
        <p:nvSpPr>
          <p:cNvPr id="9" name="TextBox 8"/>
          <p:cNvSpPr txBox="1"/>
          <p:nvPr/>
        </p:nvSpPr>
        <p:spPr>
          <a:xfrm>
            <a:off x="4174272" y="1234439"/>
            <a:ext cx="868680" cy="310896"/>
          </a:xfrm>
          <a:prstGeom prst="rect">
            <a:avLst/>
          </a:prstGeom>
          <a:noFill/>
        </p:spPr>
        <p:txBody>
          <a:bodyPr wrap="square" anchor="ctr" lIns="0" rIns="0" tIns="0" bIns="0">
            <a:spAutoFit/>
          </a:bodyPr>
          <a:lstStyle/>
          <a:p>
            <a:pPr algn="ctr">
              <a:spcAft>
                <a:spcPts val="400"/>
              </a:spcAft>
            </a:pPr>
            <a:r>
              <a:rPr sz="1100" b="1" i="0">
                <a:solidFill>
                  <a:srgbClr val="FFFFFF"/>
                </a:solidFill>
                <a:latin typeface="Calibri"/>
              </a:rPr>
              <a:t>~45 sn</a:t>
            </a:r>
          </a:p>
        </p:txBody>
      </p:sp>
      <p:sp>
        <p:nvSpPr>
          <p:cNvPr id="10" name="TextBox 9"/>
          <p:cNvSpPr txBox="1"/>
          <p:nvPr/>
        </p:nvSpPr>
        <p:spPr>
          <a:xfrm>
            <a:off x="4174272" y="1645919"/>
            <a:ext cx="1632167" cy="502920"/>
          </a:xfrm>
          <a:prstGeom prst="rect">
            <a:avLst/>
          </a:prstGeom>
          <a:noFill/>
        </p:spPr>
        <p:txBody>
          <a:bodyPr wrap="square" anchor="t" lIns="0" rIns="0" tIns="0" bIns="0">
            <a:spAutoFit/>
          </a:bodyPr>
          <a:lstStyle/>
          <a:p>
            <a:pPr algn="l">
              <a:spcAft>
                <a:spcPts val="400"/>
              </a:spcAft>
            </a:pPr>
            <a:r>
              <a:rPr sz="1600" b="1" i="0">
                <a:solidFill>
                  <a:srgbClr val="1E1E1E"/>
                </a:solidFill>
                <a:latin typeface="Calibri"/>
              </a:rPr>
              <a:t>A · Hata mı, kural mı?</a:t>
            </a:r>
          </a:p>
        </p:txBody>
      </p:sp>
      <p:sp>
        <p:nvSpPr>
          <p:cNvPr id="11" name="TextBox 10"/>
          <p:cNvSpPr txBox="1"/>
          <p:nvPr/>
        </p:nvSpPr>
        <p:spPr>
          <a:xfrm>
            <a:off x="4174272" y="2148839"/>
            <a:ext cx="1632167" cy="1188720"/>
          </a:xfrm>
          <a:prstGeom prst="rect">
            <a:avLst/>
          </a:prstGeom>
          <a:noFill/>
        </p:spPr>
        <p:txBody>
          <a:bodyPr wrap="square" anchor="t" lIns="0" rIns="0" tIns="0" bIns="0">
            <a:spAutoFit/>
          </a:bodyPr>
          <a:lstStyle/>
          <a:p>
            <a:pPr algn="l">
              <a:spcAft>
                <a:spcPts val="400"/>
              </a:spcAft>
            </a:pPr>
            <a:r>
              <a:rPr sz="1200" b="0" i="0">
                <a:solidFill>
                  <a:srgbClr val="1E1E1E"/>
                </a:solidFill>
                <a:latin typeface="Calibri"/>
              </a:rPr>
              <a:t>Elif yazmadan Mercek iş kuralını açıklıyor, 'Bana göster' ile 330.000 TL / 36 ay dolduruluyor. Çağrı açılmıyor.</a:t>
            </a:r>
          </a:p>
        </p:txBody>
      </p:sp>
      <p:sp>
        <p:nvSpPr>
          <p:cNvPr id="12" name="Rounded Rectangle 11"/>
          <p:cNvSpPr/>
          <p:nvPr/>
        </p:nvSpPr>
        <p:spPr>
          <a:xfrm>
            <a:off x="6172200" y="1051560"/>
            <a:ext cx="5577840" cy="2377440"/>
          </a:xfrm>
          <a:prstGeom prst="roundRect">
            <a:avLst>
              <a:gd name="adj" fmla="val 6000"/>
            </a:avLst>
          </a:prstGeom>
          <a:solidFill>
            <a:srgbClr val="F2F5F6"/>
          </a:solidFill>
          <a:ln>
            <a:noFill/>
          </a:ln>
          <a:effectLst/>
        </p:spPr>
        <p:txBody>
          <a:bodyPr rtlCol="0" anchor="ctr"/>
          <a:lstStyle/>
          <a:p/>
        </p:txBody>
      </p:sp>
      <p:pic>
        <p:nvPicPr>
          <p:cNvPr id="13" name="Picture 12" descr="m-b-callcenter.png"/>
          <p:cNvPicPr>
            <a:picLocks noChangeAspect="1"/>
          </p:cNvPicPr>
          <p:nvPr/>
        </p:nvPicPr>
        <p:blipFill>
          <a:blip r:embed="rId4"/>
          <a:stretch>
            <a:fillRect/>
          </a:stretch>
        </p:blipFill>
        <p:spPr>
          <a:xfrm>
            <a:off x="6355080" y="1234439"/>
            <a:ext cx="3397032" cy="2011680"/>
          </a:xfrm>
          <a:prstGeom prst="rect">
            <a:avLst/>
          </a:prstGeom>
          <a:ln>
            <a:solidFill>
              <a:srgbClr val="B4BEC3"/>
            </a:solidFill>
          </a:ln>
        </p:spPr>
      </p:pic>
      <p:sp>
        <p:nvSpPr>
          <p:cNvPr id="14" name="Rounded Rectangle 13"/>
          <p:cNvSpPr/>
          <p:nvPr/>
        </p:nvSpPr>
        <p:spPr>
          <a:xfrm>
            <a:off x="9934992" y="1234439"/>
            <a:ext cx="868680" cy="310896"/>
          </a:xfrm>
          <a:prstGeom prst="roundRect">
            <a:avLst>
              <a:gd name="adj" fmla="val 50000"/>
            </a:avLst>
          </a:prstGeom>
          <a:solidFill>
            <a:srgbClr val="E10514"/>
          </a:solidFill>
          <a:ln>
            <a:noFill/>
          </a:ln>
          <a:effectLst/>
        </p:spPr>
        <p:txBody>
          <a:bodyPr rtlCol="0" anchor="ctr"/>
          <a:lstStyle/>
          <a:p/>
        </p:txBody>
      </p:sp>
      <p:sp>
        <p:nvSpPr>
          <p:cNvPr id="15" name="TextBox 14"/>
          <p:cNvSpPr txBox="1"/>
          <p:nvPr/>
        </p:nvSpPr>
        <p:spPr>
          <a:xfrm>
            <a:off x="9934992" y="1234439"/>
            <a:ext cx="868680" cy="310896"/>
          </a:xfrm>
          <a:prstGeom prst="rect">
            <a:avLst/>
          </a:prstGeom>
          <a:noFill/>
        </p:spPr>
        <p:txBody>
          <a:bodyPr wrap="square" anchor="ctr" lIns="0" rIns="0" tIns="0" bIns="0">
            <a:spAutoFit/>
          </a:bodyPr>
          <a:lstStyle/>
          <a:p>
            <a:pPr algn="ctr">
              <a:spcAft>
                <a:spcPts val="400"/>
              </a:spcAft>
            </a:pPr>
            <a:r>
              <a:rPr sz="1100" b="1" i="0">
                <a:solidFill>
                  <a:srgbClr val="FFFFFF"/>
                </a:solidFill>
                <a:latin typeface="Calibri"/>
              </a:rPr>
              <a:t>~50 sn</a:t>
            </a:r>
          </a:p>
        </p:txBody>
      </p:sp>
      <p:sp>
        <p:nvSpPr>
          <p:cNvPr id="16" name="TextBox 15"/>
          <p:cNvSpPr txBox="1"/>
          <p:nvPr/>
        </p:nvSpPr>
        <p:spPr>
          <a:xfrm>
            <a:off x="9934992" y="1645919"/>
            <a:ext cx="1632167" cy="502920"/>
          </a:xfrm>
          <a:prstGeom prst="rect">
            <a:avLst/>
          </a:prstGeom>
          <a:noFill/>
        </p:spPr>
        <p:txBody>
          <a:bodyPr wrap="square" anchor="t" lIns="0" rIns="0" tIns="0" bIns="0">
            <a:spAutoFit/>
          </a:bodyPr>
          <a:lstStyle/>
          <a:p>
            <a:pPr algn="l">
              <a:spcAft>
                <a:spcPts val="400"/>
              </a:spcAft>
            </a:pPr>
            <a:r>
              <a:rPr sz="1600" b="1" i="0">
                <a:solidFill>
                  <a:srgbClr val="1E1E1E"/>
                </a:solidFill>
                <a:latin typeface="Calibri"/>
              </a:rPr>
              <a:t>B · Bilinen çözüm</a:t>
            </a:r>
          </a:p>
        </p:txBody>
      </p:sp>
      <p:sp>
        <p:nvSpPr>
          <p:cNvPr id="17" name="TextBox 16"/>
          <p:cNvSpPr txBox="1"/>
          <p:nvPr/>
        </p:nvSpPr>
        <p:spPr>
          <a:xfrm>
            <a:off x="9934992" y="2148839"/>
            <a:ext cx="1632167" cy="1188720"/>
          </a:xfrm>
          <a:prstGeom prst="rect">
            <a:avLst/>
          </a:prstGeom>
          <a:noFill/>
        </p:spPr>
        <p:txBody>
          <a:bodyPr wrap="square" anchor="t" lIns="0" rIns="0" tIns="0" bIns="0">
            <a:spAutoFit/>
          </a:bodyPr>
          <a:lstStyle/>
          <a:p>
            <a:pPr algn="l">
              <a:spcAft>
                <a:spcPts val="400"/>
              </a:spcAft>
            </a:pPr>
            <a:r>
              <a:rPr sz="1200" b="0" i="0">
                <a:solidFill>
                  <a:srgbClr val="1E1E1E"/>
                </a:solidFill>
                <a:latin typeface="Calibri"/>
              </a:rPr>
              <a:t>Zeynep'e müşteriye söylenecek metin; vaka CAG-2051'e bağlanıyor; Kerem'e %93 eşleşen çözüm.</a:t>
            </a:r>
          </a:p>
        </p:txBody>
      </p:sp>
      <p:sp>
        <p:nvSpPr>
          <p:cNvPr id="18" name="Rounded Rectangle 17"/>
          <p:cNvSpPr/>
          <p:nvPr/>
        </p:nvSpPr>
        <p:spPr>
          <a:xfrm>
            <a:off x="411480" y="3566160"/>
            <a:ext cx="5577840" cy="2377440"/>
          </a:xfrm>
          <a:prstGeom prst="roundRect">
            <a:avLst>
              <a:gd name="adj" fmla="val 6000"/>
            </a:avLst>
          </a:prstGeom>
          <a:solidFill>
            <a:srgbClr val="F2F5F6"/>
          </a:solidFill>
          <a:ln>
            <a:noFill/>
          </a:ln>
          <a:effectLst/>
        </p:spPr>
        <p:txBody>
          <a:bodyPr rtlCol="0" anchor="ctr"/>
          <a:lstStyle/>
          <a:p/>
        </p:txBody>
      </p:sp>
      <p:pic>
        <p:nvPicPr>
          <p:cNvPr id="19" name="Picture 18" descr="m-c-code.png"/>
          <p:cNvPicPr>
            <a:picLocks noChangeAspect="1"/>
          </p:cNvPicPr>
          <p:nvPr/>
        </p:nvPicPr>
        <p:blipFill>
          <a:blip r:embed="rId5"/>
          <a:stretch>
            <a:fillRect/>
          </a:stretch>
        </p:blipFill>
        <p:spPr>
          <a:xfrm>
            <a:off x="594360" y="3749039"/>
            <a:ext cx="3397032" cy="2011680"/>
          </a:xfrm>
          <a:prstGeom prst="rect">
            <a:avLst/>
          </a:prstGeom>
          <a:ln>
            <a:solidFill>
              <a:srgbClr val="B4BEC3"/>
            </a:solidFill>
          </a:ln>
        </p:spPr>
      </p:pic>
      <p:sp>
        <p:nvSpPr>
          <p:cNvPr id="20" name="Rounded Rectangle 19"/>
          <p:cNvSpPr/>
          <p:nvPr/>
        </p:nvSpPr>
        <p:spPr>
          <a:xfrm>
            <a:off x="4174272" y="3749039"/>
            <a:ext cx="868680" cy="310896"/>
          </a:xfrm>
          <a:prstGeom prst="roundRect">
            <a:avLst>
              <a:gd name="adj" fmla="val 50000"/>
            </a:avLst>
          </a:prstGeom>
          <a:solidFill>
            <a:srgbClr val="E10514"/>
          </a:solidFill>
          <a:ln>
            <a:noFill/>
          </a:ln>
          <a:effectLst/>
        </p:spPr>
        <p:txBody>
          <a:bodyPr rtlCol="0" anchor="ctr"/>
          <a:lstStyle/>
          <a:p/>
        </p:txBody>
      </p:sp>
      <p:sp>
        <p:nvSpPr>
          <p:cNvPr id="21" name="TextBox 20"/>
          <p:cNvSpPr txBox="1"/>
          <p:nvPr/>
        </p:nvSpPr>
        <p:spPr>
          <a:xfrm>
            <a:off x="4174272" y="3749039"/>
            <a:ext cx="868680" cy="310896"/>
          </a:xfrm>
          <a:prstGeom prst="rect">
            <a:avLst/>
          </a:prstGeom>
          <a:noFill/>
        </p:spPr>
        <p:txBody>
          <a:bodyPr wrap="square" anchor="ctr" lIns="0" rIns="0" tIns="0" bIns="0">
            <a:spAutoFit/>
          </a:bodyPr>
          <a:lstStyle/>
          <a:p>
            <a:pPr algn="ctr">
              <a:spcAft>
                <a:spcPts val="400"/>
              </a:spcAft>
            </a:pPr>
            <a:r>
              <a:rPr sz="1100" b="1" i="0">
                <a:solidFill>
                  <a:srgbClr val="FFFFFF"/>
                </a:solidFill>
                <a:latin typeface="Calibri"/>
              </a:rPr>
              <a:t>~35 sn</a:t>
            </a:r>
          </a:p>
        </p:txBody>
      </p:sp>
      <p:sp>
        <p:nvSpPr>
          <p:cNvPr id="22" name="TextBox 21"/>
          <p:cNvSpPr txBox="1"/>
          <p:nvPr/>
        </p:nvSpPr>
        <p:spPr>
          <a:xfrm>
            <a:off x="4174272" y="4160520"/>
            <a:ext cx="1632167" cy="502920"/>
          </a:xfrm>
          <a:prstGeom prst="rect">
            <a:avLst/>
          </a:prstGeom>
          <a:noFill/>
        </p:spPr>
        <p:txBody>
          <a:bodyPr wrap="square" anchor="t" lIns="0" rIns="0" tIns="0" bIns="0">
            <a:spAutoFit/>
          </a:bodyPr>
          <a:lstStyle/>
          <a:p>
            <a:pPr algn="l">
              <a:spcAft>
                <a:spcPts val="400"/>
              </a:spcAft>
            </a:pPr>
            <a:r>
              <a:rPr sz="1600" b="1" i="0">
                <a:solidFill>
                  <a:srgbClr val="1E1E1E"/>
                </a:solidFill>
                <a:latin typeface="Calibri"/>
              </a:rPr>
              <a:t>C · Dış dünya değişti</a:t>
            </a:r>
          </a:p>
        </p:txBody>
      </p:sp>
      <p:sp>
        <p:nvSpPr>
          <p:cNvPr id="23" name="TextBox 22"/>
          <p:cNvSpPr txBox="1"/>
          <p:nvPr/>
        </p:nvSpPr>
        <p:spPr>
          <a:xfrm>
            <a:off x="4174272" y="4663440"/>
            <a:ext cx="1632167" cy="1188720"/>
          </a:xfrm>
          <a:prstGeom prst="rect">
            <a:avLst/>
          </a:prstGeom>
          <a:noFill/>
        </p:spPr>
        <p:txBody>
          <a:bodyPr wrap="square" anchor="t" lIns="0" rIns="0" tIns="0" bIns="0">
            <a:spAutoFit/>
          </a:bodyPr>
          <a:lstStyle/>
          <a:p>
            <a:pPr algn="l">
              <a:spcAft>
                <a:spcPts val="400"/>
              </a:spcAft>
            </a:pPr>
            <a:r>
              <a:rPr sz="1200" b="0" i="0">
                <a:solidFill>
                  <a:srgbClr val="1E1E1E"/>
                </a:solidFill>
                <a:latin typeface="Calibri"/>
              </a:rPr>
              <a:t>412 hata, %97 İSKİ, 13 hane; İSKİ duyurusu; kuralın koddaki iki yeri ve düzeltme; ASKİ uyarısı.</a:t>
            </a:r>
          </a:p>
        </p:txBody>
      </p:sp>
      <p:sp>
        <p:nvSpPr>
          <p:cNvPr id="24" name="Rounded Rectangle 23"/>
          <p:cNvSpPr/>
          <p:nvPr/>
        </p:nvSpPr>
        <p:spPr>
          <a:xfrm>
            <a:off x="6172200" y="3566160"/>
            <a:ext cx="5577840" cy="2377440"/>
          </a:xfrm>
          <a:prstGeom prst="roundRect">
            <a:avLst>
              <a:gd name="adj" fmla="val 6000"/>
            </a:avLst>
          </a:prstGeom>
          <a:solidFill>
            <a:srgbClr val="F2F5F6"/>
          </a:solidFill>
          <a:ln>
            <a:noFill/>
          </a:ln>
          <a:effectLst/>
        </p:spPr>
        <p:txBody>
          <a:bodyPr rtlCol="0" anchor="ctr"/>
          <a:lstStyle/>
          <a:p/>
        </p:txBody>
      </p:sp>
      <p:pic>
        <p:nvPicPr>
          <p:cNvPr id="25" name="Picture 24" descr="m-d-request.png"/>
          <p:cNvPicPr>
            <a:picLocks noChangeAspect="1"/>
          </p:cNvPicPr>
          <p:nvPr/>
        </p:nvPicPr>
        <p:blipFill>
          <a:blip r:embed="rId6"/>
          <a:stretch>
            <a:fillRect/>
          </a:stretch>
        </p:blipFill>
        <p:spPr>
          <a:xfrm>
            <a:off x="6355080" y="3749039"/>
            <a:ext cx="3397032" cy="2011680"/>
          </a:xfrm>
          <a:prstGeom prst="rect">
            <a:avLst/>
          </a:prstGeom>
          <a:ln>
            <a:solidFill>
              <a:srgbClr val="B4BEC3"/>
            </a:solidFill>
          </a:ln>
        </p:spPr>
      </p:pic>
      <p:sp>
        <p:nvSpPr>
          <p:cNvPr id="26" name="Rounded Rectangle 25"/>
          <p:cNvSpPr/>
          <p:nvPr/>
        </p:nvSpPr>
        <p:spPr>
          <a:xfrm>
            <a:off x="9934992" y="3749039"/>
            <a:ext cx="868680" cy="310896"/>
          </a:xfrm>
          <a:prstGeom prst="roundRect">
            <a:avLst>
              <a:gd name="adj" fmla="val 50000"/>
            </a:avLst>
          </a:prstGeom>
          <a:solidFill>
            <a:srgbClr val="E10514"/>
          </a:solidFill>
          <a:ln>
            <a:noFill/>
          </a:ln>
          <a:effectLst/>
        </p:spPr>
        <p:txBody>
          <a:bodyPr rtlCol="0" anchor="ctr"/>
          <a:lstStyle/>
          <a:p/>
        </p:txBody>
      </p:sp>
      <p:sp>
        <p:nvSpPr>
          <p:cNvPr id="27" name="TextBox 26"/>
          <p:cNvSpPr txBox="1"/>
          <p:nvPr/>
        </p:nvSpPr>
        <p:spPr>
          <a:xfrm>
            <a:off x="9934992" y="3749039"/>
            <a:ext cx="868680" cy="310896"/>
          </a:xfrm>
          <a:prstGeom prst="rect">
            <a:avLst/>
          </a:prstGeom>
          <a:noFill/>
        </p:spPr>
        <p:txBody>
          <a:bodyPr wrap="square" anchor="ctr" lIns="0" rIns="0" tIns="0" bIns="0">
            <a:spAutoFit/>
          </a:bodyPr>
          <a:lstStyle/>
          <a:p>
            <a:pPr algn="ctr">
              <a:spcAft>
                <a:spcPts val="400"/>
              </a:spcAft>
            </a:pPr>
            <a:r>
              <a:rPr sz="1100" b="1" i="0">
                <a:solidFill>
                  <a:srgbClr val="FFFFFF"/>
                </a:solidFill>
                <a:latin typeface="Calibri"/>
              </a:rPr>
              <a:t>~45 sn</a:t>
            </a:r>
          </a:p>
        </p:txBody>
      </p:sp>
      <p:sp>
        <p:nvSpPr>
          <p:cNvPr id="28" name="TextBox 27"/>
          <p:cNvSpPr txBox="1"/>
          <p:nvPr/>
        </p:nvSpPr>
        <p:spPr>
          <a:xfrm>
            <a:off x="9934992" y="4160520"/>
            <a:ext cx="1632167" cy="502920"/>
          </a:xfrm>
          <a:prstGeom prst="rect">
            <a:avLst/>
          </a:prstGeom>
          <a:noFill/>
        </p:spPr>
        <p:txBody>
          <a:bodyPr wrap="square" anchor="t" lIns="0" rIns="0" tIns="0" bIns="0">
            <a:spAutoFit/>
          </a:bodyPr>
          <a:lstStyle/>
          <a:p>
            <a:pPr algn="l">
              <a:spcAft>
                <a:spcPts val="400"/>
              </a:spcAft>
            </a:pPr>
            <a:r>
              <a:rPr sz="1600" b="1" i="0">
                <a:solidFill>
                  <a:srgbClr val="1E1E1E"/>
                </a:solidFill>
                <a:latin typeface="Calibri"/>
              </a:rPr>
              <a:t>D · Talepten plana</a:t>
            </a:r>
          </a:p>
        </p:txBody>
      </p:sp>
      <p:sp>
        <p:nvSpPr>
          <p:cNvPr id="29" name="TextBox 28"/>
          <p:cNvSpPr txBox="1"/>
          <p:nvPr/>
        </p:nvSpPr>
        <p:spPr>
          <a:xfrm>
            <a:off x="9934992" y="4663440"/>
            <a:ext cx="1632167" cy="1188720"/>
          </a:xfrm>
          <a:prstGeom prst="rect">
            <a:avLst/>
          </a:prstGeom>
          <a:noFill/>
        </p:spPr>
        <p:txBody>
          <a:bodyPr wrap="square" anchor="t" lIns="0" rIns="0" tIns="0" bIns="0">
            <a:spAutoFit/>
          </a:bodyPr>
          <a:lstStyle/>
          <a:p>
            <a:pPr algn="l">
              <a:spcAft>
                <a:spcPts val="400"/>
              </a:spcAft>
            </a:pPr>
            <a:r>
              <a:rPr sz="1200" b="0" i="0">
                <a:solidFill>
                  <a:srgbClr val="1E1E1E"/>
                </a:solidFill>
                <a:latin typeface="Calibri"/>
              </a:rPr>
              <a:t>KRDRTKSR'ye buton + batch işi, 18 a/g; SMS ile erişim %58 → %89, 20 a/g, 4 Aralık.</a:t>
            </a:r>
          </a:p>
        </p:txBody>
      </p:sp>
      <p:sp>
        <p:nvSpPr>
          <p:cNvPr id="30" name="TextBox 29"/>
          <p:cNvSpPr txBox="1"/>
          <p:nvPr/>
        </p:nvSpPr>
        <p:spPr>
          <a:xfrm>
            <a:off x="411480" y="6108192"/>
            <a:ext cx="6400800" cy="256032"/>
          </a:xfrm>
          <a:prstGeom prst="rect">
            <a:avLst/>
          </a:prstGeom>
          <a:noFill/>
        </p:spPr>
        <p:txBody>
          <a:bodyPr wrap="square" anchor="t" lIns="0" rIns="0" tIns="0" bIns="0">
            <a:spAutoFit/>
          </a:bodyPr>
          <a:lstStyle/>
          <a:p>
            <a:pPr algn="l">
              <a:spcAft>
                <a:spcPts val="400"/>
              </a:spcAft>
            </a:pPr>
            <a:r>
              <a:rPr sz="1100" b="0" i="1">
                <a:solidFill>
                  <a:srgbClr val="91969B"/>
                </a:solidFill>
                <a:latin typeface="Calibri"/>
              </a:rPr>
              <a:t>Taslak görsel — gerçek ekran görüntüsüyle değiştirilecek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 y="91440"/>
            <a:ext cx="10058400" cy="566928"/>
          </a:xfrm>
          <a:prstGeom prst="rect">
            <a:avLst/>
          </a:prstGeom>
          <a:noFill/>
        </p:spPr>
        <p:txBody>
          <a:bodyPr wrap="square" anchor="t" lIns="0" rIns="0" tIns="0" bIns="0">
            <a:spAutoFit/>
          </a:bodyPr>
          <a:lstStyle/>
          <a:p>
            <a:pPr algn="l">
              <a:spcAft>
                <a:spcPts val="400"/>
              </a:spcAft>
            </a:pPr>
            <a:r>
              <a:rPr sz="3200" b="1" i="0">
                <a:solidFill>
                  <a:srgbClr val="1E1E1E"/>
                </a:solidFill>
                <a:latin typeface="Calibri"/>
              </a:rPr>
              <a:t>İş Değeri: Önce ve Sonra</a:t>
            </a:r>
          </a:p>
        </p:txBody>
      </p:sp>
      <p:pic>
        <p:nvPicPr>
          <p:cNvPr id="3" name="Picture 2" descr="mercek-logo-kucuk.png"/>
          <p:cNvPicPr>
            <a:picLocks noChangeAspect="1"/>
          </p:cNvPicPr>
          <p:nvPr/>
        </p:nvPicPr>
        <p:blipFill>
          <a:blip r:embed="rId2"/>
          <a:stretch>
            <a:fillRect/>
          </a:stretch>
        </p:blipFill>
        <p:spPr>
          <a:xfrm>
            <a:off x="10561320" y="155448"/>
            <a:ext cx="351129" cy="351129"/>
          </a:xfrm>
          <a:prstGeom prst="rect">
            <a:avLst/>
          </a:prstGeom>
        </p:spPr>
      </p:pic>
      <p:sp>
        <p:nvSpPr>
          <p:cNvPr id="4" name="TextBox 3"/>
          <p:cNvSpPr txBox="1"/>
          <p:nvPr/>
        </p:nvSpPr>
        <p:spPr>
          <a:xfrm>
            <a:off x="10978286" y="155448"/>
            <a:ext cx="1645919" cy="351129"/>
          </a:xfrm>
          <a:prstGeom prst="rect">
            <a:avLst/>
          </a:prstGeom>
          <a:noFill/>
        </p:spPr>
        <p:txBody>
          <a:bodyPr wrap="square" anchor="ctr" lIns="0" rIns="0" tIns="0" bIns="0">
            <a:spAutoFit/>
          </a:bodyPr>
          <a:lstStyle/>
          <a:p>
            <a:pPr algn="l">
              <a:spcAft>
                <a:spcPts val="400"/>
              </a:spcAft>
            </a:pPr>
            <a:r>
              <a:rPr sz="1500" b="1" i="0">
                <a:solidFill>
                  <a:srgbClr val="1E1E1E"/>
                </a:solidFill>
                <a:latin typeface="Calibri"/>
              </a:rPr>
              <a:t>MERCEK</a:t>
            </a:r>
          </a:p>
        </p:txBody>
      </p:sp>
      <p:sp>
        <p:nvSpPr>
          <p:cNvPr id="5" name="TextBox 4"/>
          <p:cNvSpPr txBox="1"/>
          <p:nvPr/>
        </p:nvSpPr>
        <p:spPr>
          <a:xfrm>
            <a:off x="11292840" y="6382512"/>
            <a:ext cx="685800" cy="274320"/>
          </a:xfrm>
          <a:prstGeom prst="rect">
            <a:avLst/>
          </a:prstGeom>
          <a:noFill/>
        </p:spPr>
        <p:txBody>
          <a:bodyPr wrap="square" anchor="t" lIns="0" rIns="0" tIns="0" bIns="0">
            <a:spAutoFit/>
          </a:bodyPr>
          <a:lstStyle/>
          <a:p>
            <a:pPr algn="r">
              <a:spcAft>
                <a:spcPts val="400"/>
              </a:spcAft>
            </a:pPr>
            <a:r>
              <a:rPr sz="1100" b="0" i="0">
                <a:solidFill>
                  <a:srgbClr val="91969B"/>
                </a:solidFill>
                <a:latin typeface="Calibri"/>
              </a:rPr>
              <a:t>9</a:t>
            </a:r>
          </a:p>
        </p:txBody>
      </p:sp>
      <p:sp>
        <p:nvSpPr>
          <p:cNvPr id="6" name="Rounded Rectangle 5"/>
          <p:cNvSpPr/>
          <p:nvPr/>
        </p:nvSpPr>
        <p:spPr>
          <a:xfrm>
            <a:off x="411480" y="1097280"/>
            <a:ext cx="3611880" cy="1371600"/>
          </a:xfrm>
          <a:prstGeom prst="roundRect">
            <a:avLst>
              <a:gd name="adj" fmla="val 6000"/>
            </a:avLst>
          </a:prstGeom>
          <a:solidFill>
            <a:srgbClr val="F2F5F6"/>
          </a:solidFill>
          <a:ln>
            <a:noFill/>
          </a:ln>
          <a:effectLst/>
        </p:spPr>
        <p:txBody>
          <a:bodyPr rtlCol="0" anchor="ctr"/>
          <a:lstStyle/>
          <a:p/>
        </p:txBody>
      </p:sp>
      <p:sp>
        <p:nvSpPr>
          <p:cNvPr id="7" name="TextBox 6"/>
          <p:cNvSpPr txBox="1"/>
          <p:nvPr/>
        </p:nvSpPr>
        <p:spPr>
          <a:xfrm>
            <a:off x="685800" y="1097280"/>
            <a:ext cx="3108960" cy="1371600"/>
          </a:xfrm>
          <a:prstGeom prst="rect">
            <a:avLst/>
          </a:prstGeom>
          <a:noFill/>
        </p:spPr>
        <p:txBody>
          <a:bodyPr wrap="square" anchor="ctr" lIns="0" rIns="0" tIns="0" bIns="0">
            <a:spAutoFit/>
          </a:bodyPr>
          <a:lstStyle/>
          <a:p>
            <a:pPr algn="l">
              <a:spcAft>
                <a:spcPts val="200"/>
              </a:spcAft>
            </a:pPr>
            <a:r>
              <a:rPr sz="2200" b="1" i="0">
                <a:solidFill>
                  <a:srgbClr val="E10514"/>
                </a:solidFill>
                <a:latin typeface="Calibri"/>
              </a:rPr>
              <a:t>Çağrı hiç açılmıyor</a:t>
            </a:r>
          </a:p>
          <a:p>
            <a:pPr algn="l">
              <a:spcAft>
                <a:spcPts val="200"/>
              </a:spcAft>
            </a:pPr>
            <a:r>
              <a:rPr sz="1400" b="0" i="0">
                <a:solidFill>
                  <a:srgbClr val="91969B"/>
                </a:solidFill>
                <a:latin typeface="Calibri"/>
              </a:rPr>
              <a:t>İş kuralı reddinde (A)</a:t>
            </a:r>
          </a:p>
        </p:txBody>
      </p:sp>
      <p:sp>
        <p:nvSpPr>
          <p:cNvPr id="8" name="Rounded Rectangle 7"/>
          <p:cNvSpPr/>
          <p:nvPr/>
        </p:nvSpPr>
        <p:spPr>
          <a:xfrm>
            <a:off x="4251960" y="1097280"/>
            <a:ext cx="3611880" cy="1371600"/>
          </a:xfrm>
          <a:prstGeom prst="roundRect">
            <a:avLst>
              <a:gd name="adj" fmla="val 6000"/>
            </a:avLst>
          </a:prstGeom>
          <a:solidFill>
            <a:srgbClr val="F2F5F6"/>
          </a:solidFill>
          <a:ln>
            <a:noFill/>
          </a:ln>
          <a:effectLst/>
        </p:spPr>
        <p:txBody>
          <a:bodyPr rtlCol="0" anchor="ctr"/>
          <a:lstStyle/>
          <a:p/>
        </p:txBody>
      </p:sp>
      <p:sp>
        <p:nvSpPr>
          <p:cNvPr id="9" name="TextBox 8"/>
          <p:cNvSpPr txBox="1"/>
          <p:nvPr/>
        </p:nvSpPr>
        <p:spPr>
          <a:xfrm>
            <a:off x="4526280" y="1097280"/>
            <a:ext cx="3108960" cy="1371600"/>
          </a:xfrm>
          <a:prstGeom prst="rect">
            <a:avLst/>
          </a:prstGeom>
          <a:noFill/>
        </p:spPr>
        <p:txBody>
          <a:bodyPr wrap="square" anchor="ctr" lIns="0" rIns="0" tIns="0" bIns="0">
            <a:spAutoFit/>
          </a:bodyPr>
          <a:lstStyle/>
          <a:p>
            <a:pPr algn="l">
              <a:spcAft>
                <a:spcPts val="200"/>
              </a:spcAft>
            </a:pPr>
            <a:r>
              <a:rPr sz="2200" b="1" i="0">
                <a:solidFill>
                  <a:srgbClr val="B90F0A"/>
                </a:solidFill>
                <a:latin typeface="Calibri"/>
              </a:rPr>
              <a:t>Onlarca arama → tek kayıt</a:t>
            </a:r>
          </a:p>
          <a:p>
            <a:pPr algn="l">
              <a:spcAft>
                <a:spcPts val="200"/>
              </a:spcAft>
            </a:pPr>
            <a:r>
              <a:rPr sz="1400" b="0" i="0">
                <a:solidFill>
                  <a:srgbClr val="91969B"/>
                </a:solidFill>
                <a:latin typeface="Calibri"/>
              </a:rPr>
              <a:t>Kurum kaynaklı sorunda (B)</a:t>
            </a:r>
          </a:p>
        </p:txBody>
      </p:sp>
      <p:sp>
        <p:nvSpPr>
          <p:cNvPr id="10" name="Rounded Rectangle 9"/>
          <p:cNvSpPr/>
          <p:nvPr/>
        </p:nvSpPr>
        <p:spPr>
          <a:xfrm>
            <a:off x="8092440" y="1097280"/>
            <a:ext cx="3611880" cy="1371600"/>
          </a:xfrm>
          <a:prstGeom prst="roundRect">
            <a:avLst>
              <a:gd name="adj" fmla="val 6000"/>
            </a:avLst>
          </a:prstGeom>
          <a:solidFill>
            <a:srgbClr val="F2F5F6"/>
          </a:solidFill>
          <a:ln>
            <a:noFill/>
          </a:ln>
          <a:effectLst/>
        </p:spPr>
        <p:txBody>
          <a:bodyPr rtlCol="0" anchor="ctr"/>
          <a:lstStyle/>
          <a:p/>
        </p:txBody>
      </p:sp>
      <p:sp>
        <p:nvSpPr>
          <p:cNvPr id="11" name="TextBox 10"/>
          <p:cNvSpPr txBox="1"/>
          <p:nvPr/>
        </p:nvSpPr>
        <p:spPr>
          <a:xfrm>
            <a:off x="8366760" y="1097280"/>
            <a:ext cx="3108960" cy="1371600"/>
          </a:xfrm>
          <a:prstGeom prst="rect">
            <a:avLst/>
          </a:prstGeom>
          <a:noFill/>
        </p:spPr>
        <p:txBody>
          <a:bodyPr wrap="square" anchor="ctr" lIns="0" rIns="0" tIns="0" bIns="0">
            <a:spAutoFit/>
          </a:bodyPr>
          <a:lstStyle/>
          <a:p>
            <a:pPr algn="l">
              <a:spcAft>
                <a:spcPts val="200"/>
              </a:spcAft>
            </a:pPr>
            <a:r>
              <a:rPr sz="2200" b="1" i="0">
                <a:solidFill>
                  <a:srgbClr val="870F00"/>
                </a:solidFill>
                <a:latin typeface="Calibri"/>
              </a:rPr>
              <a:t>Toplantı → dakikalar</a:t>
            </a:r>
          </a:p>
          <a:p>
            <a:pPr algn="l">
              <a:spcAft>
                <a:spcPts val="200"/>
              </a:spcAft>
            </a:pPr>
            <a:r>
              <a:rPr sz="1400" b="0" i="0">
                <a:solidFill>
                  <a:srgbClr val="91969B"/>
                </a:solidFill>
                <a:latin typeface="Calibri"/>
              </a:rPr>
              <a:t>Talep analizi ve planı (D)</a:t>
            </a:r>
          </a:p>
        </p:txBody>
      </p:sp>
      <p:graphicFrame>
        <p:nvGraphicFramePr>
          <p:cNvPr id="12" name="Table 11"/>
          <p:cNvGraphicFramePr>
            <a:graphicFrameLocks noGrp="1"/>
          </p:cNvGraphicFramePr>
          <p:nvPr/>
        </p:nvGraphicFramePr>
        <p:xfrm>
          <a:off x="411480" y="2697480"/>
          <a:ext cx="11338560" cy="3017520"/>
        </p:xfrm>
        <a:graphic>
          <a:graphicData uri="http://schemas.openxmlformats.org/drawingml/2006/table">
            <a:tbl>
              <a:tblPr firstRow="1" bandRow="1"/>
              <a:tblGrid>
                <a:gridCol w="2651760"/>
                <a:gridCol w="3931920"/>
                <a:gridCol w="4754880"/>
              </a:tblGrid>
              <a:tr h="502920">
                <a:tc>
                  <a:txBody>
                    <a:bodyPr/>
                    <a:lstStyle/>
                    <a:p>
                      <a:r>
                        <a:rPr sz="1400" b="1" i="0">
                          <a:solidFill>
                            <a:srgbClr val="FFFFFF"/>
                          </a:solidFill>
                          <a:latin typeface="Calibri"/>
                        </a:rPr>
                        <a:t>Ölçü</a:t>
                      </a:r>
                    </a:p>
                  </a:txBody>
                  <a:tcPr marL="109728" marR="109728" anchor="ctr">
                    <a:solidFill>
                      <a:srgbClr val="B90F0A"/>
                    </a:solidFill>
                  </a:tcPr>
                </a:tc>
                <a:tc>
                  <a:txBody>
                    <a:bodyPr/>
                    <a:lstStyle/>
                    <a:p>
                      <a:r>
                        <a:rPr sz="1400" b="1" i="0">
                          <a:solidFill>
                            <a:srgbClr val="FFFFFF"/>
                          </a:solidFill>
                          <a:latin typeface="Calibri"/>
                        </a:rPr>
                        <a:t>Bugün</a:t>
                      </a:r>
                    </a:p>
                  </a:txBody>
                  <a:tcPr marL="109728" marR="109728" anchor="ctr">
                    <a:solidFill>
                      <a:srgbClr val="B90F0A"/>
                    </a:solidFill>
                  </a:tcPr>
                </a:tc>
                <a:tc>
                  <a:txBody>
                    <a:bodyPr/>
                    <a:lstStyle/>
                    <a:p>
                      <a:r>
                        <a:rPr sz="1400" b="1" i="0">
                          <a:solidFill>
                            <a:srgbClr val="FFFFFF"/>
                          </a:solidFill>
                          <a:latin typeface="Calibri"/>
                        </a:rPr>
                        <a:t>Mercek ile</a:t>
                      </a:r>
                    </a:p>
                  </a:txBody>
                  <a:tcPr marL="109728" marR="109728" anchor="ctr">
                    <a:solidFill>
                      <a:srgbClr val="B90F0A"/>
                    </a:solidFill>
                  </a:tcPr>
                </a:tc>
              </a:tr>
              <a:tr h="502920">
                <a:tc>
                  <a:txBody>
                    <a:bodyPr/>
                    <a:lstStyle/>
                    <a:p>
                      <a:r>
                        <a:rPr sz="1400" b="1" i="0">
                          <a:solidFill>
                            <a:srgbClr val="1E1E1E"/>
                          </a:solidFill>
                          <a:latin typeface="Calibri"/>
                        </a:rPr>
                        <a:t>İş kuralı reddi</a:t>
                      </a:r>
                    </a:p>
                  </a:txBody>
                  <a:tcPr marL="109728" marR="109728" anchor="ctr">
                    <a:solidFill>
                      <a:srgbClr val="FFFFFF"/>
                    </a:solidFill>
                  </a:tcPr>
                </a:tc>
                <a:tc>
                  <a:txBody>
                    <a:bodyPr/>
                    <a:lstStyle/>
                    <a:p>
                      <a:r>
                        <a:rPr sz="1400" b="0" i="0">
                          <a:solidFill>
                            <a:srgbClr val="1E1E1E"/>
                          </a:solidFill>
                          <a:latin typeface="Calibri"/>
                        </a:rPr>
                        <a:t>Çağrı açılır, L1 kuralı açıklar</a:t>
                      </a:r>
                    </a:p>
                  </a:txBody>
                  <a:tcPr marL="109728" marR="109728" anchor="ctr">
                    <a:solidFill>
                      <a:srgbClr val="FFFFFF"/>
                    </a:solidFill>
                  </a:tcPr>
                </a:tc>
                <a:tc>
                  <a:txBody>
                    <a:bodyPr/>
                    <a:lstStyle/>
                    <a:p>
                      <a:r>
                        <a:rPr sz="1400" b="0" i="0">
                          <a:solidFill>
                            <a:srgbClr val="1E1E1E"/>
                          </a:solidFill>
                          <a:latin typeface="Calibri"/>
                        </a:rPr>
                        <a:t>Ekranda açıklanır, uygun alternatif hesaplanır</a:t>
                      </a:r>
                    </a:p>
                  </a:txBody>
                  <a:tcPr marL="109728" marR="109728" anchor="ctr">
                    <a:solidFill>
                      <a:srgbClr val="FFFFFF"/>
                    </a:solidFill>
                  </a:tcPr>
                </a:tc>
              </a:tr>
              <a:tr h="502920">
                <a:tc>
                  <a:txBody>
                    <a:bodyPr/>
                    <a:lstStyle/>
                    <a:p>
                      <a:r>
                        <a:rPr sz="1400" b="1" i="0">
                          <a:solidFill>
                            <a:srgbClr val="1E1E1E"/>
                          </a:solidFill>
                          <a:latin typeface="Calibri"/>
                        </a:rPr>
                        <a:t>Yaygın kurum sorunu</a:t>
                      </a:r>
                    </a:p>
                  </a:txBody>
                  <a:tcPr marL="109728" marR="109728" anchor="ctr">
                    <a:solidFill>
                      <a:srgbClr val="F2F5F6"/>
                    </a:solidFill>
                  </a:tcPr>
                </a:tc>
                <a:tc>
                  <a:txBody>
                    <a:bodyPr/>
                    <a:lstStyle/>
                    <a:p>
                      <a:r>
                        <a:rPr sz="1400" b="0" i="0">
                          <a:solidFill>
                            <a:srgbClr val="1E1E1E"/>
                          </a:solidFill>
                          <a:latin typeface="Calibri"/>
                        </a:rPr>
                        <a:t>Her arama ayrı çağrı</a:t>
                      </a:r>
                    </a:p>
                  </a:txBody>
                  <a:tcPr marL="109728" marR="109728" anchor="ctr">
                    <a:solidFill>
                      <a:srgbClr val="F2F5F6"/>
                    </a:solidFill>
                  </a:tcPr>
                </a:tc>
                <a:tc>
                  <a:txBody>
                    <a:bodyPr/>
                    <a:lstStyle/>
                    <a:p>
                      <a:r>
                        <a:rPr sz="1400" b="0" i="0">
                          <a:solidFill>
                            <a:srgbClr val="1E1E1E"/>
                          </a:solidFill>
                          <a:latin typeface="Calibri"/>
                        </a:rPr>
                        <a:t>Tek ana kayıt, temsilciye hazır müşteri açıklaması</a:t>
                      </a:r>
                    </a:p>
                  </a:txBody>
                  <a:tcPr marL="109728" marR="109728" anchor="ctr">
                    <a:solidFill>
                      <a:srgbClr val="F2F5F6"/>
                    </a:solidFill>
                  </a:tcPr>
                </a:tc>
              </a:tr>
              <a:tr h="502920">
                <a:tc>
                  <a:txBody>
                    <a:bodyPr/>
                    <a:lstStyle/>
                    <a:p>
                      <a:r>
                        <a:rPr sz="1400" b="1" i="0">
                          <a:solidFill>
                            <a:srgbClr val="1E1E1E"/>
                          </a:solidFill>
                          <a:latin typeface="Calibri"/>
                        </a:rPr>
                        <a:t>Bilinen sorun</a:t>
                      </a:r>
                    </a:p>
                  </a:txBody>
                  <a:tcPr marL="109728" marR="109728" anchor="ctr">
                    <a:solidFill>
                      <a:srgbClr val="FFFFFF"/>
                    </a:solidFill>
                  </a:tcPr>
                </a:tc>
                <a:tc>
                  <a:txBody>
                    <a:bodyPr/>
                    <a:lstStyle/>
                    <a:p>
                      <a:r>
                        <a:rPr sz="1400" b="0" i="0">
                          <a:solidFill>
                            <a:srgbClr val="1E1E1E"/>
                          </a:solidFill>
                          <a:latin typeface="Calibri"/>
                        </a:rPr>
                        <a:t>L2 log arar, çözüm kişide</a:t>
                      </a:r>
                    </a:p>
                  </a:txBody>
                  <a:tcPr marL="109728" marR="109728" anchor="ctr">
                    <a:solidFill>
                      <a:srgbClr val="FFFFFF"/>
                    </a:solidFill>
                  </a:tcPr>
                </a:tc>
                <a:tc>
                  <a:txBody>
                    <a:bodyPr/>
                    <a:lstStyle/>
                    <a:p>
                      <a:r>
                        <a:rPr sz="1400" b="0" i="0">
                          <a:solidFill>
                            <a:srgbClr val="1E1E1E"/>
                          </a:solidFill>
                          <a:latin typeface="Calibri"/>
                        </a:rPr>
                        <a:t>Kaynaklı eşleşen çözüm, saniyeler içinde</a:t>
                      </a:r>
                    </a:p>
                  </a:txBody>
                  <a:tcPr marL="109728" marR="109728" anchor="ctr">
                    <a:solidFill>
                      <a:srgbClr val="FFFFFF"/>
                    </a:solidFill>
                  </a:tcPr>
                </a:tc>
              </a:tr>
              <a:tr h="502920">
                <a:tc>
                  <a:txBody>
                    <a:bodyPr/>
                    <a:lstStyle/>
                    <a:p>
                      <a:r>
                        <a:rPr sz="1400" b="1" i="0">
                          <a:solidFill>
                            <a:srgbClr val="1E1E1E"/>
                          </a:solidFill>
                          <a:latin typeface="Calibri"/>
                        </a:rPr>
                        <a:t>Yeni sorun</a:t>
                      </a:r>
                    </a:p>
                  </a:txBody>
                  <a:tcPr marL="109728" marR="109728" anchor="ctr">
                    <a:solidFill>
                      <a:srgbClr val="F2F5F6"/>
                    </a:solidFill>
                  </a:tcPr>
                </a:tc>
                <a:tc>
                  <a:txBody>
                    <a:bodyPr/>
                    <a:lstStyle/>
                    <a:p>
                      <a:r>
                        <a:rPr sz="1400" b="0" i="0">
                          <a:solidFill>
                            <a:srgbClr val="1E1E1E"/>
                          </a:solidFill>
                          <a:latin typeface="Calibri"/>
                        </a:rPr>
                        <a:t>Kök neden günlerce aranır</a:t>
                      </a:r>
                    </a:p>
                  </a:txBody>
                  <a:tcPr marL="109728" marR="109728" anchor="ctr">
                    <a:solidFill>
                      <a:srgbClr val="F2F5F6"/>
                    </a:solidFill>
                  </a:tcPr>
                </a:tc>
                <a:tc>
                  <a:txBody>
                    <a:bodyPr/>
                    <a:lstStyle/>
                    <a:p>
                      <a:r>
                        <a:rPr sz="1400" b="0" i="0">
                          <a:solidFill>
                            <a:srgbClr val="1E1E1E"/>
                          </a:solidFill>
                          <a:latin typeface="Calibri"/>
                        </a:rPr>
                        <a:t>Log + duyuru + kod; sonraki olay önceden görülür</a:t>
                      </a:r>
                    </a:p>
                  </a:txBody>
                  <a:tcPr marL="109728" marR="109728" anchor="ctr">
                    <a:solidFill>
                      <a:srgbClr val="F2F5F6"/>
                    </a:solidFill>
                  </a:tcPr>
                </a:tc>
              </a:tr>
              <a:tr h="502920">
                <a:tc>
                  <a:txBody>
                    <a:bodyPr/>
                    <a:lstStyle/>
                    <a:p>
                      <a:r>
                        <a:rPr sz="1400" b="1" i="0">
                          <a:solidFill>
                            <a:srgbClr val="1E1E1E"/>
                          </a:solidFill>
                          <a:latin typeface="Calibri"/>
                        </a:rPr>
                        <a:t>Talep planı</a:t>
                      </a:r>
                    </a:p>
                  </a:txBody>
                  <a:tcPr marL="109728" marR="109728" anchor="ctr">
                    <a:solidFill>
                      <a:srgbClr val="FFFFFF"/>
                    </a:solidFill>
                  </a:tcPr>
                </a:tc>
                <a:tc>
                  <a:txBody>
                    <a:bodyPr/>
                    <a:lstStyle/>
                    <a:p>
                      <a:r>
                        <a:rPr sz="1400" b="0" i="0">
                          <a:solidFill>
                            <a:srgbClr val="1E1E1E"/>
                          </a:solidFill>
                          <a:latin typeface="Calibri"/>
                        </a:rPr>
                        <a:t>Servisler ve erişim sorunu geç fark edilir</a:t>
                      </a:r>
                    </a:p>
                  </a:txBody>
                  <a:tcPr marL="109728" marR="109728" anchor="ctr">
                    <a:solidFill>
                      <a:srgbClr val="FFFFFF"/>
                    </a:solidFill>
                  </a:tcPr>
                </a:tc>
                <a:tc>
                  <a:txBody>
                    <a:bodyPr/>
                    <a:lstStyle/>
                    <a:p>
                      <a:r>
                        <a:rPr sz="1400" b="0" i="0">
                          <a:solidFill>
                            <a:srgbClr val="1E1E1E"/>
                          </a:solidFill>
                          <a:latin typeface="Calibri"/>
                        </a:rPr>
                        <a:t>Servis bazlı a/g ve takvim; kapsam veriyle düzeltilir</a:t>
                      </a:r>
                    </a:p>
                  </a:txBody>
                  <a:tcPr marL="109728" marR="109728" anchor="ctr">
                    <a:solidFill>
                      <a:srgbClr val="FFFFFF"/>
                    </a:solidFill>
                  </a:tcPr>
                </a:tc>
              </a:tr>
            </a:tbl>
          </a:graphicData>
        </a:graphic>
      </p:graphicFrame>
      <p:sp>
        <p:nvSpPr>
          <p:cNvPr id="13" name="TextBox 12"/>
          <p:cNvSpPr txBox="1"/>
          <p:nvPr/>
        </p:nvSpPr>
        <p:spPr>
          <a:xfrm>
            <a:off x="411480" y="5852160"/>
            <a:ext cx="11338560" cy="274320"/>
          </a:xfrm>
          <a:prstGeom prst="rect">
            <a:avLst/>
          </a:prstGeom>
          <a:noFill/>
        </p:spPr>
        <p:txBody>
          <a:bodyPr wrap="square" anchor="t" lIns="0" rIns="0" tIns="0" bIns="0">
            <a:spAutoFit/>
          </a:bodyPr>
          <a:lstStyle/>
          <a:p>
            <a:pPr algn="l">
              <a:spcAft>
                <a:spcPts val="400"/>
              </a:spcAft>
            </a:pPr>
            <a:r>
              <a:rPr sz="1200" b="0" i="1">
                <a:solidFill>
                  <a:srgbClr val="91969B"/>
                </a:solidFill>
                <a:latin typeface="Calibri"/>
              </a:rPr>
              <a:t>Rakamlar sentetik veriye dayanır; demo sırasında Mercek'in sayaçları (önlenen çağrı, bağlanan vaka, analiz süresi) gösterilir.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 y="91440"/>
            <a:ext cx="10058400" cy="566928"/>
          </a:xfrm>
          <a:prstGeom prst="rect">
            <a:avLst/>
          </a:prstGeom>
          <a:noFill/>
        </p:spPr>
        <p:txBody>
          <a:bodyPr wrap="square" anchor="t" lIns="0" rIns="0" tIns="0" bIns="0">
            <a:spAutoFit/>
          </a:bodyPr>
          <a:lstStyle/>
          <a:p>
            <a:pPr algn="l">
              <a:spcAft>
                <a:spcPts val="400"/>
              </a:spcAft>
            </a:pPr>
            <a:r>
              <a:rPr sz="3200" b="1" i="0">
                <a:solidFill>
                  <a:srgbClr val="1E1E1E"/>
                </a:solidFill>
                <a:latin typeface="Calibri"/>
              </a:rPr>
              <a:t>Neredeyiz, Sırada Ne Var</a:t>
            </a:r>
          </a:p>
        </p:txBody>
      </p:sp>
      <p:pic>
        <p:nvPicPr>
          <p:cNvPr id="3" name="Picture 2" descr="mercek-logo-kucuk.png"/>
          <p:cNvPicPr>
            <a:picLocks noChangeAspect="1"/>
          </p:cNvPicPr>
          <p:nvPr/>
        </p:nvPicPr>
        <p:blipFill>
          <a:blip r:embed="rId2"/>
          <a:stretch>
            <a:fillRect/>
          </a:stretch>
        </p:blipFill>
        <p:spPr>
          <a:xfrm>
            <a:off x="10561320" y="155448"/>
            <a:ext cx="351129" cy="351129"/>
          </a:xfrm>
          <a:prstGeom prst="rect">
            <a:avLst/>
          </a:prstGeom>
        </p:spPr>
      </p:pic>
      <p:sp>
        <p:nvSpPr>
          <p:cNvPr id="4" name="TextBox 3"/>
          <p:cNvSpPr txBox="1"/>
          <p:nvPr/>
        </p:nvSpPr>
        <p:spPr>
          <a:xfrm>
            <a:off x="10978286" y="155448"/>
            <a:ext cx="1645919" cy="351129"/>
          </a:xfrm>
          <a:prstGeom prst="rect">
            <a:avLst/>
          </a:prstGeom>
          <a:noFill/>
        </p:spPr>
        <p:txBody>
          <a:bodyPr wrap="square" anchor="ctr" lIns="0" rIns="0" tIns="0" bIns="0">
            <a:spAutoFit/>
          </a:bodyPr>
          <a:lstStyle/>
          <a:p>
            <a:pPr algn="l">
              <a:spcAft>
                <a:spcPts val="400"/>
              </a:spcAft>
            </a:pPr>
            <a:r>
              <a:rPr sz="1500" b="1" i="0">
                <a:solidFill>
                  <a:srgbClr val="1E1E1E"/>
                </a:solidFill>
                <a:latin typeface="Calibri"/>
              </a:rPr>
              <a:t>MERCEK</a:t>
            </a:r>
          </a:p>
        </p:txBody>
      </p:sp>
      <p:sp>
        <p:nvSpPr>
          <p:cNvPr id="5" name="TextBox 4"/>
          <p:cNvSpPr txBox="1"/>
          <p:nvPr/>
        </p:nvSpPr>
        <p:spPr>
          <a:xfrm>
            <a:off x="11292840" y="6382512"/>
            <a:ext cx="685800" cy="274320"/>
          </a:xfrm>
          <a:prstGeom prst="rect">
            <a:avLst/>
          </a:prstGeom>
          <a:noFill/>
        </p:spPr>
        <p:txBody>
          <a:bodyPr wrap="square" anchor="t" lIns="0" rIns="0" tIns="0" bIns="0">
            <a:spAutoFit/>
          </a:bodyPr>
          <a:lstStyle/>
          <a:p>
            <a:pPr algn="r">
              <a:spcAft>
                <a:spcPts val="400"/>
              </a:spcAft>
            </a:pPr>
            <a:r>
              <a:rPr sz="1100" b="0" i="0">
                <a:solidFill>
                  <a:srgbClr val="91969B"/>
                </a:solidFill>
                <a:latin typeface="Calibri"/>
              </a:rPr>
              <a:t>10</a:t>
            </a:r>
          </a:p>
        </p:txBody>
      </p:sp>
      <p:sp>
        <p:nvSpPr>
          <p:cNvPr id="6" name="Rounded Rectangle 5"/>
          <p:cNvSpPr/>
          <p:nvPr/>
        </p:nvSpPr>
        <p:spPr>
          <a:xfrm>
            <a:off x="411480" y="1097280"/>
            <a:ext cx="3611880" cy="4937760"/>
          </a:xfrm>
          <a:prstGeom prst="roundRect">
            <a:avLst>
              <a:gd name="adj" fmla="val 6000"/>
            </a:avLst>
          </a:prstGeom>
          <a:solidFill>
            <a:srgbClr val="F2F5F6"/>
          </a:solidFill>
          <a:ln>
            <a:noFill/>
          </a:ln>
          <a:effectLst/>
        </p:spPr>
        <p:txBody>
          <a:bodyPr rtlCol="0" anchor="ctr"/>
          <a:lstStyle/>
          <a:p/>
        </p:txBody>
      </p:sp>
      <p:sp>
        <p:nvSpPr>
          <p:cNvPr id="7" name="Oval 6"/>
          <p:cNvSpPr/>
          <p:nvPr/>
        </p:nvSpPr>
        <p:spPr>
          <a:xfrm>
            <a:off x="685800" y="1325880"/>
            <a:ext cx="685800" cy="685800"/>
          </a:xfrm>
          <a:prstGeom prst="ellipse">
            <a:avLst/>
          </a:prstGeom>
          <a:solidFill>
            <a:srgbClr val="E10514"/>
          </a:solidFill>
          <a:ln>
            <a:noFill/>
          </a:ln>
          <a:effectLst/>
        </p:spPr>
        <p:txBody>
          <a:bodyPr rtlCol="0" anchor="ctr"/>
          <a:lstStyle/>
          <a:p/>
        </p:txBody>
      </p:sp>
      <p:pic>
        <p:nvPicPr>
          <p:cNvPr id="8" name="Picture 7" descr="check-w.png"/>
          <p:cNvPicPr>
            <a:picLocks noChangeAspect="1"/>
          </p:cNvPicPr>
          <p:nvPr/>
        </p:nvPicPr>
        <p:blipFill>
          <a:blip r:embed="rId3"/>
          <a:stretch>
            <a:fillRect/>
          </a:stretch>
        </p:blipFill>
        <p:spPr>
          <a:xfrm>
            <a:off x="857250" y="1497330"/>
            <a:ext cx="342900" cy="342900"/>
          </a:xfrm>
          <a:prstGeom prst="rect">
            <a:avLst/>
          </a:prstGeom>
        </p:spPr>
      </p:pic>
      <p:sp>
        <p:nvSpPr>
          <p:cNvPr id="9" name="TextBox 8"/>
          <p:cNvSpPr txBox="1"/>
          <p:nvPr/>
        </p:nvSpPr>
        <p:spPr>
          <a:xfrm>
            <a:off x="1508760" y="1325880"/>
            <a:ext cx="2331720" cy="685800"/>
          </a:xfrm>
          <a:prstGeom prst="rect">
            <a:avLst/>
          </a:prstGeom>
          <a:noFill/>
        </p:spPr>
        <p:txBody>
          <a:bodyPr wrap="square" anchor="ctr" lIns="0" rIns="0" tIns="0" bIns="0">
            <a:spAutoFit/>
          </a:bodyPr>
          <a:lstStyle/>
          <a:p>
            <a:pPr algn="l">
              <a:spcAft>
                <a:spcPts val="400"/>
              </a:spcAft>
            </a:pPr>
            <a:r>
              <a:rPr sz="2000" b="1" i="0">
                <a:solidFill>
                  <a:srgbClr val="1E1E1E"/>
                </a:solidFill>
                <a:latin typeface="Calibri"/>
              </a:rPr>
              <a:t>Tamamlanan</a:t>
            </a:r>
          </a:p>
        </p:txBody>
      </p:sp>
      <p:sp>
        <p:nvSpPr>
          <p:cNvPr id="10" name="TextBox 9"/>
          <p:cNvSpPr txBox="1"/>
          <p:nvPr/>
        </p:nvSpPr>
        <p:spPr>
          <a:xfrm>
            <a:off x="685800" y="2286000"/>
            <a:ext cx="3063240" cy="3566160"/>
          </a:xfrm>
          <a:prstGeom prst="rect">
            <a:avLst/>
          </a:prstGeom>
          <a:noFill/>
        </p:spPr>
        <p:txBody>
          <a:bodyPr wrap="square" anchor="t" lIns="0" rIns="0" tIns="0" bIns="0">
            <a:spAutoFit/>
          </a:bodyPr>
          <a:lstStyle/>
          <a:p>
            <a:pPr algn="l" marL="228600" indent="-228600">
              <a:spcAft>
                <a:spcPts val="1000"/>
              </a:spcAft>
              <a:buClr>
                <a:srgbClr val="E10514"/>
              </a:buClr>
              <a:buFont typeface="Arial"/>
              <a:buChar char="•"/>
            </a:pPr>
            <a:r>
              <a:rPr sz="1500" b="0" i="0">
                <a:solidFill>
                  <a:srgbClr val="1E1E1E"/>
                </a:solidFill>
                <a:latin typeface="Calibri"/>
              </a:rPr>
              <a:t>M1: bağlam, log örüntüsü, servis ataması, ana kayıt, eşleştirme, kod analizi</a:t>
            </a:r>
          </a:p>
          <a:p>
            <a:pPr algn="l" marL="228600" indent="-228600">
              <a:spcAft>
                <a:spcPts val="1000"/>
              </a:spcAft>
              <a:buClr>
                <a:srgbClr val="E10514"/>
              </a:buClr>
              <a:buFont typeface="Arial"/>
              <a:buChar char="•"/>
            </a:pPr>
            <a:r>
              <a:rPr sz="1500" b="0" i="0">
                <a:solidFill>
                  <a:srgbClr val="1E1E1E"/>
                </a:solidFill>
                <a:latin typeface="Calibri"/>
              </a:rPr>
              <a:t>M2: talep analizi, servis etkisi, adam-gün, takvim, köprü</a:t>
            </a:r>
          </a:p>
          <a:p>
            <a:pPr algn="l" marL="228600" indent="-228600">
              <a:spcAft>
                <a:spcPts val="1000"/>
              </a:spcAft>
              <a:buClr>
                <a:srgbClr val="E10514"/>
              </a:buClr>
              <a:buFont typeface="Arial"/>
              <a:buChar char="•"/>
            </a:pPr>
            <a:r>
              <a:rPr sz="1500" b="0" i="0">
                <a:solidFill>
                  <a:srgbClr val="1E1E1E"/>
                </a:solidFill>
                <a:latin typeface="Calibri"/>
              </a:rPr>
              <a:t>Azure: 2 App Service, Foundry, hibrit RAG (AI Search + SQL)</a:t>
            </a:r>
          </a:p>
          <a:p>
            <a:pPr algn="l" marL="228600" indent="-228600">
              <a:spcAft>
                <a:spcPts val="1000"/>
              </a:spcAft>
              <a:buClr>
                <a:srgbClr val="E10514"/>
              </a:buClr>
              <a:buFont typeface="Arial"/>
              <a:buChar char="•"/>
            </a:pPr>
            <a:r>
              <a:rPr sz="1500" b="0" i="0">
                <a:solidFill>
                  <a:srgbClr val="1E1E1E"/>
                </a:solidFill>
                <a:latin typeface="Calibri"/>
              </a:rPr>
              <a:t>CI/CD ve PR'da güvenlik taraması</a:t>
            </a:r>
          </a:p>
        </p:txBody>
      </p:sp>
      <p:sp>
        <p:nvSpPr>
          <p:cNvPr id="11" name="Rounded Rectangle 10"/>
          <p:cNvSpPr/>
          <p:nvPr/>
        </p:nvSpPr>
        <p:spPr>
          <a:xfrm>
            <a:off x="4251960" y="1097280"/>
            <a:ext cx="3611880" cy="4937760"/>
          </a:xfrm>
          <a:prstGeom prst="roundRect">
            <a:avLst>
              <a:gd name="adj" fmla="val 6000"/>
            </a:avLst>
          </a:prstGeom>
          <a:solidFill>
            <a:srgbClr val="F2F5F6"/>
          </a:solidFill>
          <a:ln>
            <a:noFill/>
          </a:ln>
          <a:effectLst/>
        </p:spPr>
        <p:txBody>
          <a:bodyPr rtlCol="0" anchor="ctr"/>
          <a:lstStyle/>
          <a:p/>
        </p:txBody>
      </p:sp>
      <p:sp>
        <p:nvSpPr>
          <p:cNvPr id="12" name="Oval 11"/>
          <p:cNvSpPr/>
          <p:nvPr/>
        </p:nvSpPr>
        <p:spPr>
          <a:xfrm>
            <a:off x="4526280" y="1325880"/>
            <a:ext cx="685800" cy="685800"/>
          </a:xfrm>
          <a:prstGeom prst="ellipse">
            <a:avLst/>
          </a:prstGeom>
          <a:solidFill>
            <a:srgbClr val="91969B"/>
          </a:solidFill>
          <a:ln>
            <a:noFill/>
          </a:ln>
          <a:effectLst/>
        </p:spPr>
        <p:txBody>
          <a:bodyPr rtlCol="0" anchor="ctr"/>
          <a:lstStyle/>
          <a:p/>
        </p:txBody>
      </p:sp>
      <p:pic>
        <p:nvPicPr>
          <p:cNvPr id="13" name="Picture 12" descr="warn-w.png"/>
          <p:cNvPicPr>
            <a:picLocks noChangeAspect="1"/>
          </p:cNvPicPr>
          <p:nvPr/>
        </p:nvPicPr>
        <p:blipFill>
          <a:blip r:embed="rId4"/>
          <a:stretch>
            <a:fillRect/>
          </a:stretch>
        </p:blipFill>
        <p:spPr>
          <a:xfrm>
            <a:off x="4697730" y="1497330"/>
            <a:ext cx="342900" cy="342900"/>
          </a:xfrm>
          <a:prstGeom prst="rect">
            <a:avLst/>
          </a:prstGeom>
        </p:spPr>
      </p:pic>
      <p:sp>
        <p:nvSpPr>
          <p:cNvPr id="14" name="TextBox 13"/>
          <p:cNvSpPr txBox="1"/>
          <p:nvPr/>
        </p:nvSpPr>
        <p:spPr>
          <a:xfrm>
            <a:off x="5349240" y="1325880"/>
            <a:ext cx="2331720" cy="685800"/>
          </a:xfrm>
          <a:prstGeom prst="rect">
            <a:avLst/>
          </a:prstGeom>
          <a:noFill/>
        </p:spPr>
        <p:txBody>
          <a:bodyPr wrap="square" anchor="ctr" lIns="0" rIns="0" tIns="0" bIns="0">
            <a:spAutoFit/>
          </a:bodyPr>
          <a:lstStyle/>
          <a:p>
            <a:pPr algn="l">
              <a:spcAft>
                <a:spcPts val="400"/>
              </a:spcAft>
            </a:pPr>
            <a:r>
              <a:rPr sz="2000" b="1" i="0">
                <a:solidFill>
                  <a:srgbClr val="1E1E1E"/>
                </a:solidFill>
                <a:latin typeface="Calibri"/>
              </a:rPr>
              <a:t>Sınırlamalar</a:t>
            </a:r>
          </a:p>
        </p:txBody>
      </p:sp>
      <p:sp>
        <p:nvSpPr>
          <p:cNvPr id="15" name="TextBox 14"/>
          <p:cNvSpPr txBox="1"/>
          <p:nvPr/>
        </p:nvSpPr>
        <p:spPr>
          <a:xfrm>
            <a:off x="4526280" y="2286000"/>
            <a:ext cx="3063240" cy="3566160"/>
          </a:xfrm>
          <a:prstGeom prst="rect">
            <a:avLst/>
          </a:prstGeom>
          <a:noFill/>
        </p:spPr>
        <p:txBody>
          <a:bodyPr wrap="square" anchor="t" lIns="0" rIns="0" tIns="0" bIns="0">
            <a:spAutoFit/>
          </a:bodyPr>
          <a:lstStyle/>
          <a:p>
            <a:pPr algn="l" marL="228600" indent="-228600">
              <a:spcAft>
                <a:spcPts val="1000"/>
              </a:spcAft>
              <a:buClr>
                <a:srgbClr val="E10514"/>
              </a:buClr>
              <a:buFont typeface="Arial"/>
              <a:buChar char="•"/>
            </a:pPr>
            <a:r>
              <a:rPr sz="1500" b="0" i="0">
                <a:solidFill>
                  <a:srgbClr val="1E1E1E"/>
                </a:solidFill>
                <a:latin typeface="Calibri"/>
              </a:rPr>
              <a:t>Veri tamamen sentetik</a:t>
            </a:r>
          </a:p>
          <a:p>
            <a:pPr algn="l" marL="228600" indent="-228600">
              <a:spcAft>
                <a:spcPts val="1000"/>
              </a:spcAft>
              <a:buClr>
                <a:srgbClr val="E10514"/>
              </a:buClr>
              <a:buFont typeface="Arial"/>
              <a:buChar char="•"/>
            </a:pPr>
            <a:r>
              <a:rPr sz="1500" b="0" i="0">
                <a:solidFill>
                  <a:srgbClr val="1E1E1E"/>
                </a:solidFill>
                <a:latin typeface="Calibri"/>
              </a:rPr>
              <a:t>Gerçek log, çağrı ve kod entegrasyonu yok</a:t>
            </a:r>
          </a:p>
          <a:p>
            <a:pPr algn="l" marL="228600" indent="-228600">
              <a:spcAft>
                <a:spcPts val="1000"/>
              </a:spcAft>
              <a:buClr>
                <a:srgbClr val="E10514"/>
              </a:buClr>
              <a:buFont typeface="Arial"/>
              <a:buChar char="•"/>
            </a:pPr>
            <a:r>
              <a:rPr sz="1500" b="0" i="0">
                <a:solidFill>
                  <a:srgbClr val="1E1E1E"/>
                </a:solidFill>
                <a:latin typeface="Calibri"/>
              </a:rPr>
              <a:t>Kod düzeltmeleri öneri; uygulama insan onaylı</a:t>
            </a:r>
          </a:p>
          <a:p>
            <a:pPr algn="l" marL="228600" indent="-228600">
              <a:spcAft>
                <a:spcPts val="1000"/>
              </a:spcAft>
              <a:buClr>
                <a:srgbClr val="E10514"/>
              </a:buClr>
              <a:buFont typeface="Arial"/>
              <a:buChar char="•"/>
            </a:pPr>
            <a:r>
              <a:rPr sz="1500" b="0" i="0">
                <a:solidFill>
                  <a:srgbClr val="1E1E1E"/>
                </a:solidFill>
                <a:latin typeface="Calibri"/>
              </a:rPr>
              <a:t>E-posta ve SMS gönderimi simülasyon</a:t>
            </a:r>
          </a:p>
        </p:txBody>
      </p:sp>
      <p:sp>
        <p:nvSpPr>
          <p:cNvPr id="16" name="Rounded Rectangle 15"/>
          <p:cNvSpPr/>
          <p:nvPr/>
        </p:nvSpPr>
        <p:spPr>
          <a:xfrm>
            <a:off x="8092440" y="1097280"/>
            <a:ext cx="3611880" cy="4937760"/>
          </a:xfrm>
          <a:prstGeom prst="roundRect">
            <a:avLst>
              <a:gd name="adj" fmla="val 6000"/>
            </a:avLst>
          </a:prstGeom>
          <a:solidFill>
            <a:srgbClr val="F2F5F6"/>
          </a:solidFill>
          <a:ln>
            <a:noFill/>
          </a:ln>
          <a:effectLst/>
        </p:spPr>
        <p:txBody>
          <a:bodyPr rtlCol="0" anchor="ctr"/>
          <a:lstStyle/>
          <a:p/>
        </p:txBody>
      </p:sp>
      <p:sp>
        <p:nvSpPr>
          <p:cNvPr id="17" name="Oval 16"/>
          <p:cNvSpPr/>
          <p:nvPr/>
        </p:nvSpPr>
        <p:spPr>
          <a:xfrm>
            <a:off x="8366760" y="1325880"/>
            <a:ext cx="685800" cy="685800"/>
          </a:xfrm>
          <a:prstGeom prst="ellipse">
            <a:avLst/>
          </a:prstGeom>
          <a:solidFill>
            <a:srgbClr val="870F00"/>
          </a:solidFill>
          <a:ln>
            <a:noFill/>
          </a:ln>
          <a:effectLst/>
        </p:spPr>
        <p:txBody>
          <a:bodyPr rtlCol="0" anchor="ctr"/>
          <a:lstStyle/>
          <a:p/>
        </p:txBody>
      </p:sp>
      <p:pic>
        <p:nvPicPr>
          <p:cNvPr id="18" name="Picture 17" descr="route-w.png"/>
          <p:cNvPicPr>
            <a:picLocks noChangeAspect="1"/>
          </p:cNvPicPr>
          <p:nvPr/>
        </p:nvPicPr>
        <p:blipFill>
          <a:blip r:embed="rId5"/>
          <a:stretch>
            <a:fillRect/>
          </a:stretch>
        </p:blipFill>
        <p:spPr>
          <a:xfrm>
            <a:off x="8538210" y="1497330"/>
            <a:ext cx="342900" cy="342900"/>
          </a:xfrm>
          <a:prstGeom prst="rect">
            <a:avLst/>
          </a:prstGeom>
        </p:spPr>
      </p:pic>
      <p:sp>
        <p:nvSpPr>
          <p:cNvPr id="19" name="TextBox 18"/>
          <p:cNvSpPr txBox="1"/>
          <p:nvPr/>
        </p:nvSpPr>
        <p:spPr>
          <a:xfrm>
            <a:off x="9189719" y="1325880"/>
            <a:ext cx="2331720" cy="685800"/>
          </a:xfrm>
          <a:prstGeom prst="rect">
            <a:avLst/>
          </a:prstGeom>
          <a:noFill/>
        </p:spPr>
        <p:txBody>
          <a:bodyPr wrap="square" anchor="ctr" lIns="0" rIns="0" tIns="0" bIns="0">
            <a:spAutoFit/>
          </a:bodyPr>
          <a:lstStyle/>
          <a:p>
            <a:pPr algn="l">
              <a:spcAft>
                <a:spcPts val="400"/>
              </a:spcAft>
            </a:pPr>
            <a:r>
              <a:rPr sz="2000" b="1" i="0">
                <a:solidFill>
                  <a:srgbClr val="1E1E1E"/>
                </a:solidFill>
                <a:latin typeface="Calibri"/>
              </a:rPr>
              <a:t>Canlıya geçiş</a:t>
            </a:r>
          </a:p>
        </p:txBody>
      </p:sp>
      <p:sp>
        <p:nvSpPr>
          <p:cNvPr id="20" name="TextBox 19"/>
          <p:cNvSpPr txBox="1"/>
          <p:nvPr/>
        </p:nvSpPr>
        <p:spPr>
          <a:xfrm>
            <a:off x="8366760" y="2286000"/>
            <a:ext cx="3063240" cy="3566160"/>
          </a:xfrm>
          <a:prstGeom prst="rect">
            <a:avLst/>
          </a:prstGeom>
          <a:noFill/>
        </p:spPr>
        <p:txBody>
          <a:bodyPr wrap="square" anchor="t" lIns="0" rIns="0" tIns="0" bIns="0">
            <a:spAutoFit/>
          </a:bodyPr>
          <a:lstStyle/>
          <a:p>
            <a:pPr algn="l" marL="228600" indent="-228600">
              <a:spcAft>
                <a:spcPts val="1000"/>
              </a:spcAft>
              <a:buClr>
                <a:srgbClr val="E10514"/>
              </a:buClr>
              <a:buFont typeface="Arial"/>
              <a:buChar char="•"/>
            </a:pPr>
            <a:r>
              <a:rPr sz="1500" b="0" i="0">
                <a:solidFill>
                  <a:srgbClr val="1E1E1E"/>
                </a:solidFill>
                <a:latin typeface="Calibri"/>
              </a:rPr>
              <a:t>Log kaynağı: Kibana / Elasticsearch</a:t>
            </a:r>
          </a:p>
          <a:p>
            <a:pPr algn="l" marL="228600" indent="-228600">
              <a:spcAft>
                <a:spcPts val="1000"/>
              </a:spcAft>
              <a:buClr>
                <a:srgbClr val="E10514"/>
              </a:buClr>
              <a:buFont typeface="Arial"/>
              <a:buChar char="•"/>
            </a:pPr>
            <a:r>
              <a:rPr sz="1500" b="0" i="0">
                <a:solidFill>
                  <a:srgbClr val="1E1E1E"/>
                </a:solidFill>
                <a:latin typeface="Calibri"/>
              </a:rPr>
              <a:t>Çağrı sistemi ve kod reposu için salt-okur entegrasyon</a:t>
            </a:r>
          </a:p>
          <a:p>
            <a:pPr algn="l" marL="228600" indent="-228600">
              <a:spcAft>
                <a:spcPts val="1000"/>
              </a:spcAft>
              <a:buClr>
                <a:srgbClr val="E10514"/>
              </a:buClr>
              <a:buFont typeface="Arial"/>
              <a:buChar char="•"/>
            </a:pPr>
            <a:r>
              <a:rPr sz="1500" b="0" i="0">
                <a:solidFill>
                  <a:srgbClr val="1E1E1E"/>
                </a:solidFill>
                <a:latin typeface="Calibri"/>
              </a:rPr>
              <a:t>KVKK: loglarda maskeleme</a:t>
            </a:r>
          </a:p>
          <a:p>
            <a:pPr algn="l" marL="228600" indent="-228600">
              <a:spcAft>
                <a:spcPts val="1000"/>
              </a:spcAft>
              <a:buClr>
                <a:srgbClr val="E10514"/>
              </a:buClr>
              <a:buFont typeface="Arial"/>
              <a:buChar char="•"/>
            </a:pPr>
            <a:r>
              <a:rPr sz="1500" b="0" i="0">
                <a:solidFill>
                  <a:srgbClr val="1E1E1E"/>
                </a:solidFill>
                <a:latin typeface="Calibri"/>
              </a:rPr>
              <a:t>Pilot: şube kanalı, KRDTKULL ve ODMTFATR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 y="91440"/>
            <a:ext cx="10058400" cy="566928"/>
          </a:xfrm>
          <a:prstGeom prst="rect">
            <a:avLst/>
          </a:prstGeom>
          <a:noFill/>
        </p:spPr>
        <p:txBody>
          <a:bodyPr wrap="square" anchor="t" lIns="0" rIns="0" tIns="0" bIns="0">
            <a:spAutoFit/>
          </a:bodyPr>
          <a:lstStyle/>
          <a:p>
            <a:pPr algn="l">
              <a:spcAft>
                <a:spcPts val="400"/>
              </a:spcAft>
            </a:pPr>
            <a:r>
              <a:rPr sz="3200" b="1" i="0">
                <a:solidFill>
                  <a:srgbClr val="1E1E1E"/>
                </a:solidFill>
                <a:latin typeface="Calibri"/>
              </a:rPr>
              <a:t>Ekler</a:t>
            </a:r>
          </a:p>
        </p:txBody>
      </p:sp>
      <p:pic>
        <p:nvPicPr>
          <p:cNvPr id="3" name="Picture 2" descr="mercek-logo-kucuk.png"/>
          <p:cNvPicPr>
            <a:picLocks noChangeAspect="1"/>
          </p:cNvPicPr>
          <p:nvPr/>
        </p:nvPicPr>
        <p:blipFill>
          <a:blip r:embed="rId2"/>
          <a:stretch>
            <a:fillRect/>
          </a:stretch>
        </p:blipFill>
        <p:spPr>
          <a:xfrm>
            <a:off x="10561320" y="155448"/>
            <a:ext cx="351129" cy="351129"/>
          </a:xfrm>
          <a:prstGeom prst="rect">
            <a:avLst/>
          </a:prstGeom>
        </p:spPr>
      </p:pic>
      <p:sp>
        <p:nvSpPr>
          <p:cNvPr id="4" name="TextBox 3"/>
          <p:cNvSpPr txBox="1"/>
          <p:nvPr/>
        </p:nvSpPr>
        <p:spPr>
          <a:xfrm>
            <a:off x="10978286" y="155448"/>
            <a:ext cx="1645919" cy="351129"/>
          </a:xfrm>
          <a:prstGeom prst="rect">
            <a:avLst/>
          </a:prstGeom>
          <a:noFill/>
        </p:spPr>
        <p:txBody>
          <a:bodyPr wrap="square" anchor="ctr" lIns="0" rIns="0" tIns="0" bIns="0">
            <a:spAutoFit/>
          </a:bodyPr>
          <a:lstStyle/>
          <a:p>
            <a:pPr algn="l">
              <a:spcAft>
                <a:spcPts val="400"/>
              </a:spcAft>
            </a:pPr>
            <a:r>
              <a:rPr sz="1500" b="1" i="0">
                <a:solidFill>
                  <a:srgbClr val="1E1E1E"/>
                </a:solidFill>
                <a:latin typeface="Calibri"/>
              </a:rPr>
              <a:t>MERCEK</a:t>
            </a:r>
          </a:p>
        </p:txBody>
      </p:sp>
      <p:sp>
        <p:nvSpPr>
          <p:cNvPr id="5" name="TextBox 4"/>
          <p:cNvSpPr txBox="1"/>
          <p:nvPr/>
        </p:nvSpPr>
        <p:spPr>
          <a:xfrm>
            <a:off x="11292840" y="6382512"/>
            <a:ext cx="685800" cy="274320"/>
          </a:xfrm>
          <a:prstGeom prst="rect">
            <a:avLst/>
          </a:prstGeom>
          <a:noFill/>
        </p:spPr>
        <p:txBody>
          <a:bodyPr wrap="square" anchor="t" lIns="0" rIns="0" tIns="0" bIns="0">
            <a:spAutoFit/>
          </a:bodyPr>
          <a:lstStyle/>
          <a:p>
            <a:pPr algn="r">
              <a:spcAft>
                <a:spcPts val="400"/>
              </a:spcAft>
            </a:pPr>
            <a:r>
              <a:rPr sz="1100" b="0" i="0">
                <a:solidFill>
                  <a:srgbClr val="91969B"/>
                </a:solidFill>
                <a:latin typeface="Calibri"/>
              </a:rPr>
              <a:t>11</a:t>
            </a:r>
          </a:p>
        </p:txBody>
      </p:sp>
      <p:sp>
        <p:nvSpPr>
          <p:cNvPr id="6" name="Oval 5"/>
          <p:cNvSpPr/>
          <p:nvPr/>
        </p:nvSpPr>
        <p:spPr>
          <a:xfrm>
            <a:off x="548640" y="1371600"/>
            <a:ext cx="731520" cy="731520"/>
          </a:xfrm>
          <a:prstGeom prst="ellipse">
            <a:avLst/>
          </a:prstGeom>
          <a:solidFill>
            <a:srgbClr val="B90F0A"/>
          </a:solidFill>
          <a:ln>
            <a:noFill/>
          </a:ln>
          <a:effectLst/>
        </p:spPr>
        <p:txBody>
          <a:bodyPr rtlCol="0" anchor="ctr"/>
          <a:lstStyle/>
          <a:p/>
        </p:txBody>
      </p:sp>
      <p:pic>
        <p:nvPicPr>
          <p:cNvPr id="7" name="Picture 6" descr="github-w.png"/>
          <p:cNvPicPr>
            <a:picLocks noChangeAspect="1"/>
          </p:cNvPicPr>
          <p:nvPr/>
        </p:nvPicPr>
        <p:blipFill>
          <a:blip r:embed="rId3"/>
          <a:stretch>
            <a:fillRect/>
          </a:stretch>
        </p:blipFill>
        <p:spPr>
          <a:xfrm>
            <a:off x="731520" y="1554480"/>
            <a:ext cx="365760" cy="365760"/>
          </a:xfrm>
          <a:prstGeom prst="rect">
            <a:avLst/>
          </a:prstGeom>
        </p:spPr>
      </p:pic>
      <p:sp>
        <p:nvSpPr>
          <p:cNvPr id="8" name="TextBox 7"/>
          <p:cNvSpPr txBox="1"/>
          <p:nvPr/>
        </p:nvSpPr>
        <p:spPr>
          <a:xfrm>
            <a:off x="1508760" y="1353312"/>
            <a:ext cx="5029200" cy="777240"/>
          </a:xfrm>
          <a:prstGeom prst="rect">
            <a:avLst/>
          </a:prstGeom>
          <a:noFill/>
        </p:spPr>
        <p:txBody>
          <a:bodyPr wrap="square" anchor="ctr" lIns="0" rIns="0" tIns="0" bIns="0">
            <a:spAutoFit/>
          </a:bodyPr>
          <a:lstStyle/>
          <a:p>
            <a:pPr algn="l">
              <a:spcAft>
                <a:spcPts val="200"/>
              </a:spcAft>
            </a:pPr>
            <a:r>
              <a:rPr sz="1800" b="1" i="0">
                <a:solidFill>
                  <a:srgbClr val="1E1E1E"/>
                </a:solidFill>
                <a:latin typeface="Calibri"/>
              </a:rPr>
              <a:t>GitHub repository</a:t>
            </a:r>
          </a:p>
          <a:p>
            <a:pPr algn="l">
              <a:spcAft>
                <a:spcPts val="200"/>
              </a:spcAft>
            </a:pPr>
            <a:r>
              <a:rPr sz="1600" b="0" i="0">
                <a:solidFill>
                  <a:srgbClr val="E10514"/>
                </a:solidFill>
                <a:latin typeface="Calibri"/>
              </a:rPr>
              <a:t>[repo bağlantısı]</a:t>
            </a:r>
          </a:p>
        </p:txBody>
      </p:sp>
      <p:sp>
        <p:nvSpPr>
          <p:cNvPr id="9" name="Oval 8"/>
          <p:cNvSpPr/>
          <p:nvPr/>
        </p:nvSpPr>
        <p:spPr>
          <a:xfrm>
            <a:off x="548640" y="2468880"/>
            <a:ext cx="731520" cy="731520"/>
          </a:xfrm>
          <a:prstGeom prst="ellipse">
            <a:avLst/>
          </a:prstGeom>
          <a:solidFill>
            <a:srgbClr val="B90F0A"/>
          </a:solidFill>
          <a:ln>
            <a:noFill/>
          </a:ln>
          <a:effectLst/>
        </p:spPr>
        <p:txBody>
          <a:bodyPr rtlCol="0" anchor="ctr"/>
          <a:lstStyle/>
          <a:p/>
        </p:txBody>
      </p:sp>
      <p:pic>
        <p:nvPicPr>
          <p:cNvPr id="10" name="Picture 9" descr="globe-w.png"/>
          <p:cNvPicPr>
            <a:picLocks noChangeAspect="1"/>
          </p:cNvPicPr>
          <p:nvPr/>
        </p:nvPicPr>
        <p:blipFill>
          <a:blip r:embed="rId4"/>
          <a:stretch>
            <a:fillRect/>
          </a:stretch>
        </p:blipFill>
        <p:spPr>
          <a:xfrm>
            <a:off x="731520" y="2651760"/>
            <a:ext cx="365760" cy="365760"/>
          </a:xfrm>
          <a:prstGeom prst="rect">
            <a:avLst/>
          </a:prstGeom>
        </p:spPr>
      </p:pic>
      <p:sp>
        <p:nvSpPr>
          <p:cNvPr id="11" name="TextBox 10"/>
          <p:cNvSpPr txBox="1"/>
          <p:nvPr/>
        </p:nvSpPr>
        <p:spPr>
          <a:xfrm>
            <a:off x="1508760" y="2450592"/>
            <a:ext cx="5029200" cy="777240"/>
          </a:xfrm>
          <a:prstGeom prst="rect">
            <a:avLst/>
          </a:prstGeom>
          <a:noFill/>
        </p:spPr>
        <p:txBody>
          <a:bodyPr wrap="square" anchor="ctr" lIns="0" rIns="0" tIns="0" bIns="0">
            <a:spAutoFit/>
          </a:bodyPr>
          <a:lstStyle/>
          <a:p>
            <a:pPr algn="l">
              <a:spcAft>
                <a:spcPts val="200"/>
              </a:spcAft>
            </a:pPr>
            <a:r>
              <a:rPr sz="1800" b="1" i="0">
                <a:solidFill>
                  <a:srgbClr val="1E1E1E"/>
                </a:solidFill>
                <a:latin typeface="Calibri"/>
              </a:rPr>
              <a:t>Web uygulaması</a:t>
            </a:r>
          </a:p>
          <a:p>
            <a:pPr algn="l">
              <a:spcAft>
                <a:spcPts val="200"/>
              </a:spcAft>
            </a:pPr>
            <a:r>
              <a:rPr sz="1600" b="0" i="0">
                <a:solidFill>
                  <a:srgbClr val="E10514"/>
                </a:solidFill>
                <a:latin typeface="Calibri"/>
              </a:rPr>
              <a:t>[mercek-web adresi]</a:t>
            </a:r>
          </a:p>
        </p:txBody>
      </p:sp>
      <p:sp>
        <p:nvSpPr>
          <p:cNvPr id="12" name="Oval 11"/>
          <p:cNvSpPr/>
          <p:nvPr/>
        </p:nvSpPr>
        <p:spPr>
          <a:xfrm>
            <a:off x="548640" y="3566160"/>
            <a:ext cx="731520" cy="731520"/>
          </a:xfrm>
          <a:prstGeom prst="ellipse">
            <a:avLst/>
          </a:prstGeom>
          <a:solidFill>
            <a:srgbClr val="B90F0A"/>
          </a:solidFill>
          <a:ln>
            <a:noFill/>
          </a:ln>
          <a:effectLst/>
        </p:spPr>
        <p:txBody>
          <a:bodyPr rtlCol="0" anchor="ctr"/>
          <a:lstStyle/>
          <a:p/>
        </p:txBody>
      </p:sp>
      <p:pic>
        <p:nvPicPr>
          <p:cNvPr id="13" name="Picture 12" descr="video-w.png"/>
          <p:cNvPicPr>
            <a:picLocks noChangeAspect="1"/>
          </p:cNvPicPr>
          <p:nvPr/>
        </p:nvPicPr>
        <p:blipFill>
          <a:blip r:embed="rId5"/>
          <a:stretch>
            <a:fillRect/>
          </a:stretch>
        </p:blipFill>
        <p:spPr>
          <a:xfrm>
            <a:off x="731520" y="3749039"/>
            <a:ext cx="365760" cy="365760"/>
          </a:xfrm>
          <a:prstGeom prst="rect">
            <a:avLst/>
          </a:prstGeom>
        </p:spPr>
      </p:pic>
      <p:sp>
        <p:nvSpPr>
          <p:cNvPr id="14" name="TextBox 13"/>
          <p:cNvSpPr txBox="1"/>
          <p:nvPr/>
        </p:nvSpPr>
        <p:spPr>
          <a:xfrm>
            <a:off x="1508760" y="3547872"/>
            <a:ext cx="5029200" cy="777240"/>
          </a:xfrm>
          <a:prstGeom prst="rect">
            <a:avLst/>
          </a:prstGeom>
          <a:noFill/>
        </p:spPr>
        <p:txBody>
          <a:bodyPr wrap="square" anchor="ctr" lIns="0" rIns="0" tIns="0" bIns="0">
            <a:spAutoFit/>
          </a:bodyPr>
          <a:lstStyle/>
          <a:p>
            <a:pPr algn="l">
              <a:spcAft>
                <a:spcPts val="200"/>
              </a:spcAft>
            </a:pPr>
            <a:r>
              <a:rPr sz="1800" b="1" i="0">
                <a:solidFill>
                  <a:srgbClr val="1E1E1E"/>
                </a:solidFill>
                <a:latin typeface="Calibri"/>
              </a:rPr>
              <a:t>Senaryo videoları</a:t>
            </a:r>
          </a:p>
          <a:p>
            <a:pPr algn="l">
              <a:spcAft>
                <a:spcPts val="200"/>
              </a:spcAft>
            </a:pPr>
            <a:r>
              <a:rPr sz="1600" b="0" i="0">
                <a:solidFill>
                  <a:srgbClr val="E10514"/>
                </a:solidFill>
                <a:latin typeface="Calibri"/>
              </a:rPr>
              <a:t>[video bağlantısı]</a:t>
            </a:r>
          </a:p>
        </p:txBody>
      </p:sp>
      <p:pic>
        <p:nvPicPr>
          <p:cNvPr id="15" name="Picture 14" descr="mercek-logo.png"/>
          <p:cNvPicPr>
            <a:picLocks noChangeAspect="1"/>
          </p:cNvPicPr>
          <p:nvPr/>
        </p:nvPicPr>
        <p:blipFill>
          <a:blip r:embed="rId6"/>
          <a:stretch>
            <a:fillRect/>
          </a:stretch>
        </p:blipFill>
        <p:spPr>
          <a:xfrm>
            <a:off x="7726679" y="1143000"/>
            <a:ext cx="3017520" cy="3017520"/>
          </a:xfrm>
          <a:prstGeom prst="rect">
            <a:avLst/>
          </a:prstGeom>
        </p:spPr>
      </p:pic>
      <p:sp>
        <p:nvSpPr>
          <p:cNvPr id="16" name="TextBox 15"/>
          <p:cNvSpPr txBox="1"/>
          <p:nvPr/>
        </p:nvSpPr>
        <p:spPr>
          <a:xfrm>
            <a:off x="6949440" y="4434840"/>
            <a:ext cx="4572000" cy="914400"/>
          </a:xfrm>
          <a:prstGeom prst="rect">
            <a:avLst/>
          </a:prstGeom>
          <a:noFill/>
        </p:spPr>
        <p:txBody>
          <a:bodyPr wrap="square" anchor="t" lIns="0" rIns="0" tIns="0" bIns="0">
            <a:spAutoFit/>
          </a:bodyPr>
          <a:lstStyle/>
          <a:p>
            <a:pPr algn="ctr">
              <a:spcAft>
                <a:spcPts val="400"/>
              </a:spcAft>
            </a:pPr>
            <a:r>
              <a:rPr sz="3200" b="1" i="0">
                <a:solidFill>
                  <a:srgbClr val="1E1E1E"/>
                </a:solidFill>
                <a:latin typeface="Calibri"/>
              </a:rPr>
              <a:t>MERCEK</a:t>
            </a:r>
          </a:p>
          <a:p>
            <a:pPr algn="ctr">
              <a:spcAft>
                <a:spcPts val="400"/>
              </a:spcAft>
            </a:pPr>
            <a:r>
              <a:rPr sz="1800" b="0" i="1">
                <a:solidFill>
                  <a:srgbClr val="B90F0A"/>
                </a:solidFill>
                <a:latin typeface="Calibri"/>
              </a:rPr>
              <a:t>Soruna odaklanır, çözümü netleştirir.</a:t>
            </a:r>
          </a:p>
        </p:txBody>
      </p:sp>
      <p:sp>
        <p:nvSpPr>
          <p:cNvPr id="17" name="TextBox 16"/>
          <p:cNvSpPr txBox="1"/>
          <p:nvPr/>
        </p:nvSpPr>
        <p:spPr>
          <a:xfrm>
            <a:off x="548640" y="4937760"/>
            <a:ext cx="10972800" cy="457200"/>
          </a:xfrm>
          <a:prstGeom prst="rect">
            <a:avLst/>
          </a:prstGeom>
          <a:noFill/>
        </p:spPr>
        <p:txBody>
          <a:bodyPr wrap="square" anchor="t" lIns="0" rIns="0" tIns="0" bIns="0">
            <a:spAutoFit/>
          </a:bodyPr>
          <a:lstStyle/>
          <a:p>
            <a:pPr algn="l">
              <a:spcAft>
                <a:spcPts val="400"/>
              </a:spcAft>
            </a:pPr>
            <a:r>
              <a:rPr sz="2000" b="1" i="0">
                <a:solidFill>
                  <a:srgbClr val="B90F0A"/>
                </a:solidFill>
                <a:latin typeface="Calibri"/>
              </a:rPr>
              <a:t>Teşekkürler · AI Overflow</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7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12&quot;&gt;&lt;elem m_fUsage=&quot;6.75167633144312073767E+00&quot;&gt;&lt;m_msothmcolidx val=&quot;0&quot;/&gt;&lt;m_rgb r=&quot;E1&quot; g=&quot;05&quot; b=&quot;14&quot;/&gt;&lt;m_nBrightness val=&quot;0&quot;/&gt;&lt;/elem&gt;&lt;elem m_fUsage=&quot;1.45937761194624893157E+00&quot;&gt;&lt;m_msothmcolidx val=&quot;0&quot;/&gt;&lt;m_rgb r=&quot;00&quot; g=&quot;B0&quot; b=&quot;50&quot;/&gt;&lt;m_nBrightness val=&quot;0&quot;/&gt;&lt;/elem&gt;&lt;elem m_fUsage=&quot;1.27632002757554285921E+00&quot;&gt;&lt;m_msothmcolidx val=&quot;0&quot;/&gt;&lt;m_rgb r=&quot;E6&quot; g=&quot;A8&quot; b=&quot;26&quot;/&gt;&lt;m_nBrightness val=&quot;0&quot;/&gt;&lt;/elem&gt;&lt;elem m_fUsage=&quot;2.28951097719494012228E-01&quot;&gt;&lt;m_msothmcolidx val=&quot;0&quot;/&gt;&lt;m_rgb r=&quot;C0&quot; g=&quot;00&quot; b=&quot;00&quot;/&gt;&lt;m_nBrightness val=&quot;0&quot;/&gt;&lt;/elem&gt;&lt;elem m_fUsage=&quot;1.22629232194560094937E-01&quot;&gt;&lt;m_msothmcolidx val=&quot;0&quot;/&gt;&lt;m_rgb r=&quot;12&quot; g=&quot;8E&quot; b=&quot;EB&quot;/&gt;&lt;m_nBrightness val=&quot;0&quot;/&gt;&lt;/elem&gt;&lt;elem m_fUsage=&quot;1.13496234317806241054E-01&quot;&gt;&lt;m_msothmcolidx val=&quot;0&quot;/&gt;&lt;m_rgb r=&quot;70&quot; g=&quot;E0&quot; b=&quot;2C&quot;/&gt;&lt;m_nBrightness val=&quot;0&quot;/&gt;&lt;/elem&gt;&lt;elem m_fUsage=&quot;4.10177351476903456762E-02&quot;&gt;&lt;m_msothmcolidx val=&quot;0&quot;/&gt;&lt;m_rgb r=&quot;10&quot; g=&quot;09&quot; b=&quot;9B&quot;/&gt;&lt;m_nBrightness val=&quot;0&quot;/&gt;&lt;/elem&gt;&lt;elem m_fUsage=&quot;3.97557662666475717522E-03&quot;&gt;&lt;m_msothmcolidx val=&quot;0&quot;/&gt;&lt;m_rgb r=&quot;EA&quot; g=&quot;2D&quot; b=&quot;0B&quot;/&gt;&lt;m_nBrightness val=&quot;0&quot;/&gt;&lt;/elem&gt;&lt;elem m_fUsage=&quot;2.50147009437863034054E-03&quot;&gt;&lt;m_msothmcolidx val=&quot;0&quot;/&gt;&lt;m_rgb r=&quot;33&quot; g=&quot;88&quot; b=&quot;40&quot;/&gt;&lt;m_nBrightness val=&quot;0&quot;/&gt;&lt;/elem&gt;&lt;elem m_fUsage=&quot;2.65613988875875437802E-05&quot;&gt;&lt;m_msothmcolidx val=&quot;0&quot;/&gt;&lt;m_rgb r=&quot;93&quot; g=&quot;77&quot; b=&quot;95&quot;/&gt;&lt;m_nBrightness val=&quot;0&quot;/&gt;&lt;/elem&gt;&lt;elem m_fUsage=&quot;1.95845728732013649631E-05&quot;&gt;&lt;m_msothmcolidx val=&quot;0&quot;/&gt;&lt;m_rgb r=&quot;02&quot; g=&quot;7D&quot; b=&quot;27&quot;/&gt;&lt;m_nBrightness val=&quot;0&quot;/&gt;&lt;/elem&gt;&lt;elem m_fUsage=&quot;4.61095345797014455319E-06&quot;&gt;&lt;m_msothmcolidx val=&quot;0&quot;/&gt;&lt;m_rgb r=&quot;39&quot; g=&quot;D6&quot; b=&quot;F7&quot;/&gt;&lt;m_nBrightness val=&quot;0&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7f2a2c318ea48f8bf2be12c7bb49163 xmlns="872b0e65-a850-4256-91a8-a543885a32f9">
      <Terms xmlns="http://schemas.microsoft.com/office/infopath/2007/PartnerControls"/>
    </d7f2a2c318ea48f8bf2be12c7bb49163>
    <TaxCatchAll xmlns="872b0e65-a850-4256-91a8-a543885a32f9"/>
  </documentManagement>
</p:properties>
</file>

<file path=customXml/item2.xml><?xml version="1.0" encoding="utf-8"?>
<ct:contentTypeSchema xmlns:ct="http://schemas.microsoft.com/office/2006/metadata/contentType" xmlns:ma="http://schemas.microsoft.com/office/2006/metadata/properties/metaAttributes" ct:_="" ma:_="" ma:contentTypeName="Belge" ma:contentTypeID="0x0101007FDE9DE898099B47AD53ECDD9E193140" ma:contentTypeVersion="4" ma:contentTypeDescription="Yeni belge oluşturun." ma:contentTypeScope="" ma:versionID="b70f0c76d93e25033cf4db8f120587fe">
  <xsd:schema xmlns:xsd="http://www.w3.org/2001/XMLSchema" xmlns:xs="http://www.w3.org/2001/XMLSchema" xmlns:p="http://schemas.microsoft.com/office/2006/metadata/properties" xmlns:ns2="872b0e65-a850-4256-91a8-a543885a32f9" targetNamespace="http://schemas.microsoft.com/office/2006/metadata/properties" ma:root="true" ma:fieldsID="dced2f8ce83e1d5451651c4c1899820e" ns2:_="">
    <xsd:import namespace="872b0e65-a850-4256-91a8-a543885a32f9"/>
    <xsd:element name="properties">
      <xsd:complexType>
        <xsd:sequence>
          <xsd:element name="documentManagement">
            <xsd:complexType>
              <xsd:all>
                <xsd:element ref="ns2:d7f2a2c318ea48f8bf2be12c7bb49163"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2b0e65-a850-4256-91a8-a543885a32f9" elementFormDefault="qualified">
    <xsd:import namespace="http://schemas.microsoft.com/office/2006/documentManagement/types"/>
    <xsd:import namespace="http://schemas.microsoft.com/office/infopath/2007/PartnerControls"/>
    <xsd:element name="d7f2a2c318ea48f8bf2be12c7bb49163" ma:index="9" nillable="true" ma:taxonomy="true" ma:internalName="d7f2a2c318ea48f8bf2be12c7bb49163" ma:taxonomyFieldName="DokumanEtiketleri" ma:displayName="Doküman Etiketi" ma:default="" ma:fieldId="{d7f2a2c3-18ea-48f8-bf2b-e12c7bb49163}" ma:taxonomyMulti="true" ma:sspId="9d946acd-f3a8-48c7-babb-734644f09d3c" ma:termSetId="5a1bfb8a-42d9-4784-bb29-cd70e36b4b18" ma:anchorId="00000000-0000-0000-0000-000000000000" ma:open="false" ma:isKeyword="false">
      <xsd:complexType>
        <xsd:sequence>
          <xsd:element ref="pc:Terms" minOccurs="0" maxOccurs="1"/>
        </xsd:sequence>
      </xsd:complexType>
    </xsd:element>
    <xsd:element name="TaxCatchAll" ma:index="10" nillable="true" ma:displayName="Taxonomy Catch All Column" ma:hidden="true" ma:list="{27ac4545-5272-484c-bb21-a940ae5d9a4e}" ma:internalName="TaxCatchAll" ma:showField="CatchAllData" ma:web="872b0e65-a850-4256-91a8-a543885a32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576518-83F3-4DEE-BF44-94473B43FD62}">
  <ds:schemaRefs>
    <ds:schemaRef ds:uri="http://schemas.microsoft.com/office/infopath/2007/PartnerControls"/>
    <ds:schemaRef ds:uri="http://purl.org/dc/terms/"/>
    <ds:schemaRef ds:uri="http://schemas.microsoft.com/office/2006/documentManagement/types"/>
    <ds:schemaRef ds:uri="http://purl.org/dc/dcmitype/"/>
    <ds:schemaRef ds:uri="872b0e65-a850-4256-91a8-a543885a32f9"/>
    <ds:schemaRef ds:uri="http://schemas.openxmlformats.org/package/2006/metadata/core-properties"/>
    <ds:schemaRef ds:uri="http://purl.org/dc/elements/1.1/"/>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478170A8-355B-4F3A-8ADC-EE20A1FFDB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2b0e65-a850-4256-91a8-a543885a32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5B5AB58-5B87-4770-808D-12108CC49C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16465</TotalTime>
  <Words>1060</Words>
  <Application>Microsoft Office PowerPoint</Application>
  <PresentationFormat>Widescreen</PresentationFormat>
  <Paragraphs>275</Paragraphs>
  <Slides>24</Slides>
  <Notes>14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24</vt:i4>
      </vt:variant>
    </vt:vector>
  </HeadingPairs>
  <TitlesOfParts>
    <vt:vector size="36" baseType="lpstr">
      <vt:lpstr>Amatic SC</vt:lpstr>
      <vt:lpstr>Arial</vt:lpstr>
      <vt:lpstr>Calibri</vt:lpstr>
      <vt:lpstr>Calibri Light</vt:lpstr>
      <vt:lpstr>Gabriola</vt:lpstr>
      <vt:lpstr>Helvetica</vt:lpstr>
      <vt:lpstr>Roboto Medium</vt:lpstr>
      <vt:lpstr>Tahoma</vt:lpstr>
      <vt:lpstr>Wingdings</vt:lpstr>
      <vt:lpstr>Office Teması</vt:lpstr>
      <vt:lpstr>think-cell Slide</vt:lpstr>
      <vt:lpstr>Çizelge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SEO &amp; Marketing Icons</vt:lpstr>
    </vt:vector>
  </TitlesOfParts>
  <Company>T.C. Ziraat Bankası A.Ş.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Mustafa Alper Aydın (Kurumsal Mimari Grup Başkanlığı)</dc:creator>
  <cp:lastModifiedBy>Elif EREN GÜRSOY (Dijital Bankacılık Portföy)</cp:lastModifiedBy>
  <cp:revision>678</cp:revision>
  <cp:lastPrinted>2017-10-06T11:42:26Z</cp:lastPrinted>
  <dcterms:created xsi:type="dcterms:W3CDTF">2017-01-25T08:39:48Z</dcterms:created>
  <dcterms:modified xsi:type="dcterms:W3CDTF">2025-10-03T13:04:48Z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0x0101007FDE9DE898099B47AD53ECDD9E193140</vt:lpwstr>
  </property>
  <property fmtid="{D5CDD505-2E9C-101B-9397-08002B2CF9AE}" pid="3" name="DokumanEtiketleri">
    <vt:lpwstr/>
  </property>
</Properties>
</file>