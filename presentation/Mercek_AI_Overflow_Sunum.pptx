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embeddings/oleObject1.bin" ContentType="application/vnd.openxmlformats-officedocument.oleObject"/>
  <Override PartName="/ppt/embeddings/oleObject2.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29"/>
  </p:notesMasterIdLst>
  <p:sldIdLst>
    <p:sldId id="256" r:id="rId12"/>
    <p:sldId id="257" r:id="rId13"/>
    <p:sldId id="258" r:id="rId14"/>
    <p:sldId id="259" r:id="rId15"/>
    <p:sldId id="260" r:id="rId16"/>
    <p:sldId id="261" r:id="rId17"/>
    <p:sldId id="262" r:id="rId18"/>
    <p:sldId id="263" r:id="rId19"/>
    <p:sldId id="264" r:id="rId20"/>
    <p:sldId id="265" r:id="rId21"/>
    <p:sldId id="266" r:id="rId22"/>
  </p:sldIdLst>
  <p:sldSz cx="12192000" cy="6858000"/>
  <p:notesSz cx="6797675" cy="9926638"/>
  <p:custDataLst>
    <p:tags r:id="rId30"/>
  </p:custDataLst>
  <p:defaultText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ustafa Alper Aydın (Kurumsal Mimari Grup Başkanlığı)" initials="MAA(MGB"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1969B"/>
    <a:srgbClr val="B4BEC3"/>
    <a:srgbClr val="D2DCE1"/>
    <a:srgbClr val="D7E6EB"/>
    <a:srgbClr val="870F00"/>
    <a:srgbClr val="B90F0A"/>
    <a:srgbClr val="FFFFFF"/>
    <a:srgbClr val="E10514"/>
    <a:srgbClr val="F0AE90"/>
    <a:srgbClr val="F967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Orta Stil 2 - Vurgu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Stil Yok, Tablo Kılavuz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7853C-536D-4A76-A0AE-DD22124D55A5}" styleName="Tema Uygulanmış Stil 1 - Vurgu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532" autoAdjust="0"/>
    <p:restoredTop sz="96800" autoAdjust="0"/>
  </p:normalViewPr>
  <p:slideViewPr>
    <p:cSldViewPr>
      <p:cViewPr varScale="1">
        <p:scale>
          <a:sx n="70" d="100"/>
          <a:sy n="70" d="100"/>
        </p:scale>
        <p:origin x="592" y="52"/>
      </p:cViewPr>
      <p:guideLst>
        <p:guide orient="horz" pos="2160"/>
        <p:guide pos="3840"/>
      </p:guideLst>
    </p:cSldViewPr>
  </p:slideViewPr>
  <p:notesTextViewPr>
    <p:cViewPr>
      <p:scale>
        <a:sx n="1" d="1"/>
        <a:sy n="1" d="1"/>
      </p:scale>
      <p:origin x="0" y="0"/>
    </p:cViewPr>
  </p:notesTextViewPr>
  <p:gridSpacing cx="90001" cy="90001"/>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12" Type="http://schemas.openxmlformats.org/officeDocument/2006/relationships/slide" Target="slides/slide1.xml"/><Relationship Id="rId13" Type="http://schemas.openxmlformats.org/officeDocument/2006/relationships/slide" Target="slides/slide2.xml"/><Relationship Id="rId14" Type="http://schemas.openxmlformats.org/officeDocument/2006/relationships/slide" Target="slides/slide3.xml"/><Relationship Id="rId15" Type="http://schemas.openxmlformats.org/officeDocument/2006/relationships/slide" Target="slides/slide4.xml"/><Relationship Id="rId16" Type="http://schemas.openxmlformats.org/officeDocument/2006/relationships/slide" Target="slides/slide5.xml"/><Relationship Id="rId17" Type="http://schemas.openxmlformats.org/officeDocument/2006/relationships/slide" Target="slides/slide6.xml"/><Relationship Id="rId18" Type="http://schemas.openxmlformats.org/officeDocument/2006/relationships/slide" Target="slides/slide7.xml"/><Relationship Id="rId19" Type="http://schemas.openxmlformats.org/officeDocument/2006/relationships/slide" Target="slides/slide8.xml"/><Relationship Id="rId20" Type="http://schemas.openxmlformats.org/officeDocument/2006/relationships/slide" Target="slides/slide9.xml"/><Relationship Id="rId21" Type="http://schemas.openxmlformats.org/officeDocument/2006/relationships/slide" Target="slides/slide10.xml"/><Relationship Id="rId22" Type="http://schemas.openxmlformats.org/officeDocument/2006/relationships/slide" Target="slides/slide11.xml"/><Relationship Id="rId29" Type="http://schemas.openxmlformats.org/officeDocument/2006/relationships/notesMaster" Target="notesMasters/notesMaster1.xml"/><Relationship Id="rId30" Type="http://schemas.openxmlformats.org/officeDocument/2006/relationships/tags" Target="tags/tag1.xml"/><Relationship Id="rId31" Type="http://schemas.openxmlformats.org/officeDocument/2006/relationships/commentAuthors" Target="commentAuthors.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Üstbilgi Yer Tutucusu 1"/>
          <p:cNvSpPr>
            <a:spLocks noGrp="1"/>
          </p:cNvSpPr>
          <p:nvPr>
            <p:ph type="hdr" sz="quarter"/>
          </p:nvPr>
        </p:nvSpPr>
        <p:spPr>
          <a:xfrm>
            <a:off x="0" y="0"/>
            <a:ext cx="2945659" cy="498056"/>
          </a:xfrm>
          <a:prstGeom prst="rect">
            <a:avLst/>
          </a:prstGeom>
        </p:spPr>
        <p:txBody>
          <a:bodyPr vert="horz" lIns="91440" tIns="45720" rIns="91440" bIns="45720" rtlCol="0"/>
          <a:lstStyle>
            <a:lvl1pPr algn="l">
              <a:defRPr sz="1200"/>
            </a:lvl1pPr>
          </a:lstStyle>
          <a:p>
            <a:endParaRPr lang="tr-TR"/>
          </a:p>
        </p:txBody>
      </p:sp>
      <p:sp>
        <p:nvSpPr>
          <p:cNvPr id="3" name="Veri Yer Tutucusu 2"/>
          <p:cNvSpPr>
            <a:spLocks noGrp="1"/>
          </p:cNvSpPr>
          <p:nvPr>
            <p:ph type="dt" idx="1"/>
          </p:nvPr>
        </p:nvSpPr>
        <p:spPr>
          <a:xfrm>
            <a:off x="3850443" y="0"/>
            <a:ext cx="2945659" cy="498056"/>
          </a:xfrm>
          <a:prstGeom prst="rect">
            <a:avLst/>
          </a:prstGeom>
        </p:spPr>
        <p:txBody>
          <a:bodyPr vert="horz" lIns="91440" tIns="45720" rIns="91440" bIns="45720" rtlCol="0"/>
          <a:lstStyle>
            <a:lvl1pPr algn="r">
              <a:defRPr sz="1200"/>
            </a:lvl1pPr>
          </a:lstStyle>
          <a:p>
            <a:fld id="{42478B06-6A38-4D9A-8235-039CB031A12B}" type="datetimeFigureOut">
              <a:rPr lang="tr-TR" smtClean="0"/>
              <a:t>3.10.2025</a:t>
            </a:fld>
            <a:endParaRPr lang="tr-TR"/>
          </a:p>
        </p:txBody>
      </p:sp>
      <p:sp>
        <p:nvSpPr>
          <p:cNvPr id="4" name="Slayt Görüntüsü Yer Tutucusu 3"/>
          <p:cNvSpPr>
            <a:spLocks noGrp="1" noRot="1" noChangeAspect="1"/>
          </p:cNvSpPr>
          <p:nvPr>
            <p:ph type="sldImg" idx="2"/>
          </p:nvPr>
        </p:nvSpPr>
        <p:spPr>
          <a:xfrm>
            <a:off x="422275" y="1241425"/>
            <a:ext cx="5953125" cy="3349625"/>
          </a:xfrm>
          <a:prstGeom prst="rect">
            <a:avLst/>
          </a:prstGeom>
          <a:noFill/>
          <a:ln w="12700">
            <a:solidFill>
              <a:prstClr val="black"/>
            </a:solidFill>
          </a:ln>
        </p:spPr>
        <p:txBody>
          <a:bodyPr vert="horz" lIns="91440" tIns="45720" rIns="91440" bIns="45720" rtlCol="0" anchor="ctr"/>
          <a:lstStyle/>
          <a:p>
            <a:endParaRPr lang="tr-TR"/>
          </a:p>
        </p:txBody>
      </p:sp>
      <p:sp>
        <p:nvSpPr>
          <p:cNvPr id="5" name="Not Yer Tutucusu 4"/>
          <p:cNvSpPr>
            <a:spLocks noGrp="1"/>
          </p:cNvSpPr>
          <p:nvPr>
            <p:ph type="body" sz="quarter" idx="3"/>
          </p:nvPr>
        </p:nvSpPr>
        <p:spPr>
          <a:xfrm>
            <a:off x="679768" y="4777194"/>
            <a:ext cx="5438140" cy="3908614"/>
          </a:xfrm>
          <a:prstGeom prst="rect">
            <a:avLst/>
          </a:prstGeom>
        </p:spPr>
        <p:txBody>
          <a:bodyPr vert="horz" lIns="91440" tIns="45720" rIns="91440" bIns="45720" rtlCol="0"/>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6" name="Altbilgi Yer Tutucusu 5"/>
          <p:cNvSpPr>
            <a:spLocks noGrp="1"/>
          </p:cNvSpPr>
          <p:nvPr>
            <p:ph type="ftr" sz="quarter" idx="4"/>
          </p:nvPr>
        </p:nvSpPr>
        <p:spPr>
          <a:xfrm>
            <a:off x="0" y="9428584"/>
            <a:ext cx="2945659" cy="498055"/>
          </a:xfrm>
          <a:prstGeom prst="rect">
            <a:avLst/>
          </a:prstGeom>
        </p:spPr>
        <p:txBody>
          <a:bodyPr vert="horz" lIns="91440" tIns="45720" rIns="91440" bIns="45720" rtlCol="0" anchor="b"/>
          <a:lstStyle>
            <a:lvl1pPr algn="l">
              <a:defRPr sz="1200"/>
            </a:lvl1pPr>
          </a:lstStyle>
          <a:p>
            <a:endParaRPr lang="tr-TR"/>
          </a:p>
        </p:txBody>
      </p:sp>
      <p:sp>
        <p:nvSpPr>
          <p:cNvPr id="7" name="Slayt Numarası Yer Tutucusu 6"/>
          <p:cNvSpPr>
            <a:spLocks noGrp="1"/>
          </p:cNvSpPr>
          <p:nvPr>
            <p:ph type="sldNum" sz="quarter" idx="5"/>
          </p:nvPr>
        </p:nvSpPr>
        <p:spPr>
          <a:xfrm>
            <a:off x="3850443" y="9428584"/>
            <a:ext cx="2945659" cy="498055"/>
          </a:xfrm>
          <a:prstGeom prst="rect">
            <a:avLst/>
          </a:prstGeom>
        </p:spPr>
        <p:txBody>
          <a:bodyPr vert="horz" lIns="91440" tIns="45720" rIns="91440" bIns="45720" rtlCol="0" anchor="b"/>
          <a:lstStyle>
            <a:lvl1pPr algn="r">
              <a:defRPr sz="1200"/>
            </a:lvl1pPr>
          </a:lstStyle>
          <a:p>
            <a:fld id="{322CD1B9-83A6-4443-98F3-89FCB3552544}" type="slidenum">
              <a:rPr lang="tr-TR" smtClean="0"/>
              <a:t>‹#›</a:t>
            </a:fld>
            <a:endParaRPr lang="tr-TR"/>
          </a:p>
        </p:txBody>
      </p:sp>
    </p:spTree>
    <p:extLst>
      <p:ext uri="{BB962C8B-B14F-4D97-AF65-F5344CB8AC3E}">
        <p14:creationId xmlns:p14="http://schemas.microsoft.com/office/powerpoint/2010/main" val="3226579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0:00–0:10 · Merhaba, biz AI Overflow. Projemizin adı Mercek: soruna odaklanır, çözümü netleştirir.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0:10–0:20 · Takımı tek cümleyle tanıtın. (Ad, birim ve rolleri doldurun; fotoğraf eklenecekse daire içine yerleştirin.)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0:20–0:40 · Şube personeli işlem yapamadığında hata mı kural mı bilemiyor, çağrı açıyor. L1 ve L2 Kibana'da log arıyor, aynı kurum sorunu için onlarca çağrı açılıyor, bilinen çözümler kişilerde kalıyor. Yeni talepler de bu sorunlardan habersiz planlanıyor.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0:40–0:50 · Tek cümle çözüm. İki modül ve köprü: loglar, çağrı ve müşteri verisi talep kapsamına giriyor. Mercek'i müşteri değil banka çalışanları kullanıyor.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0:50–0:58 · Mercek çağrıyı kaydetmekle kalmıyor: açıklıyor, birleştiriyor, koda bağlıyor ve talebi gerekçelendiriyor. AI'ın rolü sınırlı ve denetlenebilir.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0:58–1:05 · Mercek, Foundry Agent Service'te tanımlı mercek-cagri agent'ını kullanır. Agent dört araçtan hangisini çağıracağına karar verir: kibana_sorgula ve cagri_ara Azure SQL'deki log ve çağrı verisini, hata_ara ve benzer_cozum_ara AI Search'teki hata türü ve hazır çözüm indekslerini sorgular. Araçları backend çalıştırır; rakam, eşleşme yüzdesi (%75 eşik) ve yetki kodda. AI Search indeksleri SQL'den indexer ile 5 dakikada bir kendiliğinden güncellenir. Konuşma geçmişi ve KVKK erişim kaydı SQL'de; agent'ın her adımı Foundry'de App Insights ile izlenir. Tüm servis bağlantıları Managed Identity ile, parolasız.</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1:05–1:20 · 'CANLI' etiketli beşi Mercek'te çalışıyor ve birazdan gösterilecek; 'PLAN' Modül 2 (talep analizi), sıradaki iş. A: KRDTKULL 120218, taksit gelirin %50'sini aşıyor; iş kuralı. B: Başkentgaz kurum zaman aşımı, SOL-031 ile kapanmış 6 çağrı, cevabın altında 'Akışı izle'. C: İSKİ 13 hane, 158 kayıt; geçmişte 'kullanıcı hatası' diye kapatılmış ama tek kurumda yoğunlaşıyor, Mercek temkinli. D: L2 için etkilenen müşteri listesi, KVKK'ya uygun. F: Kerem 'Son durum ne?' diye sorar.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1:20–4:15 · CANLI DEMO (~3 dk). B: Elif → 'ODMTTLMT ekranında hata alıyorum' → 7 hata, GAZ02 110731, SOL-031 (6 çağrı) → 'Akışı izle'ye tıklayın; aynı sohbette 'Peki nasıl çözerim?' (önceki konuyu hatırlar). C: Yeni sohbet → 'abone numarasını sistem kabul etmiyor' → AI Search hata türünü bulur, İSKİ 13 hane, SOL-005 temkinli. D: Kerem → K8 sorusu → 'Etkilenen müşteriler (31)' → tablo, 11 aranabilir, maskeli telefonlar. Güvenilir AI: Kerem → K5 → hazır çözüm yok. Sonra Foundry → Aracılar → mercek-cagri → İzlemeler: araç adımları. Yedek: sorun çıkarsa LLM_MODE=chat; ekran kaydına geçin.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4:15–4:45 · Önce/sonra. Demodaki sayılarla bağlayın: 7 hata ve SOL-031 saniyeler içinde; İSKİ tarafında 158 kayıt tek kurumda; 31 etkilenen müşteri, 11 aranabilir. Veri sentetik.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4:45–4:55 · Tamamlanan: Modül 1 sohbeti dört araçla çalışıyor, Foundry agent ve izleme açık, L2 için KVKK'ya uygun müşteri listesi var, tüm bağlantılar parolasız. Sırada: modele gitmeden kişisel veri taraması, kurum e-postalarında kök neden araması ve Modül 2. Soru gelirse: AI yanlışsa → %75 eşik, kaynak, koddan rakam, insan onayı. Maliyet → tek agent, kısa bağlam, araç sonuçları özet.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4:55–5:00 · Sloganla kapatın. Bağlantıları sunumdan önce doldurun; şifre, anahtar veya gerçek müşteri verisi görünmediğini kontrol edin.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xml"/><Relationship Id="rId3" Type="http://schemas.openxmlformats.org/officeDocument/2006/relationships/oleObject" Target="../embeddings/oleObject2.bin"/><Relationship Id="rId4" Type="http://schemas.openxmlformats.org/officeDocument/2006/relationships/image" Target="../media/image2.emf"/></Relationships>
</file>

<file path=ppt/slideLayouts/_rels/slideLayout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xml"/><Relationship Id="rId3" Type="http://schemas.openxmlformats.org/officeDocument/2006/relationships/oleObject" Target="../embeddings/oleObject3.bin"/><Relationship Id="rId4" Type="http://schemas.openxmlformats.org/officeDocument/2006/relationships/image" Target="../media/image2.emf"/></Relationships>
</file>

<file path=ppt/slideLayouts/_rels/slideLayout3.xml.rels><?xml version='1.0' encoding='UTF-8' standalone='yes'?>
<Relationships xmlns="http://schemas.openxmlformats.org/package/2006/relationships"><Relationship Id="rId1" Type="http://schemas.openxmlformats.org/officeDocument/2006/relationships/tags" Target="../tags/tag5.xml"/><Relationship Id="rId2" Type="http://schemas.openxmlformats.org/officeDocument/2006/relationships/slideMaster" Target="../slideMasters/slideMaster1.xml"/><Relationship Id="rId3" Type="http://schemas.openxmlformats.org/officeDocument/2006/relationships/oleObject" Target="../embeddings/oleObject4.bin"/><Relationship Id="rId4"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tags" Target="../tags/tag6.xml"/><Relationship Id="rId2" Type="http://schemas.openxmlformats.org/officeDocument/2006/relationships/slideMaster" Target="../slideMasters/slideMaster1.xml"/><Relationship Id="rId3" Type="http://schemas.openxmlformats.org/officeDocument/2006/relationships/oleObject" Target="../embeddings/oleObject5.bin"/><Relationship Id="rId4" Type="http://schemas.openxmlformats.org/officeDocument/2006/relationships/image" Target="../media/image3.emf"/></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Başlık Slaydı">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2654586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ctrTitle"/>
          </p:nvPr>
        </p:nvSpPr>
        <p:spPr>
          <a:xfrm>
            <a:off x="1524000" y="1122363"/>
            <a:ext cx="9144000" cy="2387600"/>
          </a:xfrm>
        </p:spPr>
        <p:txBody>
          <a:bodyPr anchor="b"/>
          <a:lstStyle>
            <a:lvl1pPr algn="ctr">
              <a:defRPr sz="6000"/>
            </a:lvl1pPr>
          </a:lstStyle>
          <a:p>
            <a:r>
              <a:rPr lang="tr-TR"/>
              <a:t>Asıl başlık stili için tıklatın</a:t>
            </a:r>
          </a:p>
        </p:txBody>
      </p:sp>
      <p:sp>
        <p:nvSpPr>
          <p:cNvPr id="3" name="Alt Başlık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tr-TR"/>
              <a:t>Asıl alt başlık stilini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7063098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Başlık ve İçerik">
    <p:spTree>
      <p:nvGrpSpPr>
        <p:cNvPr id="1" name=""/>
        <p:cNvGrpSpPr/>
        <p:nvPr/>
      </p:nvGrpSpPr>
      <p:grpSpPr>
        <a:xfrm>
          <a:off x="0" y="0"/>
          <a:ext cx="0" cy="0"/>
          <a:chOff x="0" y="0"/>
          <a:chExt cx="0" cy="0"/>
        </a:xfrm>
      </p:grpSpPr>
      <p:graphicFrame>
        <p:nvGraphicFramePr>
          <p:cNvPr id="7" name="Nesne 6" hidden="1"/>
          <p:cNvGraphicFramePr>
            <a:graphicFrameLocks noChangeAspect="1"/>
          </p:cNvGraphicFramePr>
          <p:nvPr userDrawn="1">
            <p:custDataLst>
              <p:tags r:id="rId1"/>
            </p:custDataLst>
            <p:extLst>
              <p:ext uri="{D42A27DB-BD31-4B8C-83A1-F6EECF244321}">
                <p14:modId xmlns:p14="http://schemas.microsoft.com/office/powerpoint/2010/main" val="3830045427"/>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idx="1"/>
          </p:nvPr>
        </p:nvSpPr>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629582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Bölüm Üstbilgisi">
    <p:spTree>
      <p:nvGrpSpPr>
        <p:cNvPr id="1" name=""/>
        <p:cNvGrpSpPr/>
        <p:nvPr/>
      </p:nvGrpSpPr>
      <p:grpSpPr>
        <a:xfrm>
          <a:off x="0" y="0"/>
          <a:ext cx="0" cy="0"/>
          <a:chOff x="0" y="0"/>
          <a:chExt cx="0" cy="0"/>
        </a:xfrm>
      </p:grpSpPr>
      <p:graphicFrame>
        <p:nvGraphicFramePr>
          <p:cNvPr id="8" name="Nesne 7" hidden="1"/>
          <p:cNvGraphicFramePr>
            <a:graphicFrameLocks noChangeAspect="1"/>
          </p:cNvGraphicFramePr>
          <p:nvPr userDrawn="1">
            <p:custDataLst>
              <p:tags r:id="rId1"/>
            </p:custDataLst>
            <p:extLst>
              <p:ext uri="{D42A27DB-BD31-4B8C-83A1-F6EECF244321}">
                <p14:modId xmlns:p14="http://schemas.microsoft.com/office/powerpoint/2010/main" val="1644648522"/>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360" imgH="360" progId="TCLayout.ActiveDocument.1">
                  <p:embed/>
                </p:oleObj>
              </mc:Choice>
              <mc:Fallback>
                <p:oleObj name="think-cell Slide" r:id="rId3" imgW="360" imgH="36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2" name="Unvan 1"/>
          <p:cNvSpPr>
            <a:spLocks noGrp="1"/>
          </p:cNvSpPr>
          <p:nvPr>
            <p:ph type="title"/>
          </p:nvPr>
        </p:nvSpPr>
        <p:spPr>
          <a:xfrm>
            <a:off x="831850" y="1709738"/>
            <a:ext cx="10515600" cy="2852737"/>
          </a:xfrm>
        </p:spPr>
        <p:txBody>
          <a:bodyPr anchor="b"/>
          <a:lstStyle>
            <a:lvl1pPr>
              <a:defRPr sz="6000"/>
            </a:lvl1pPr>
          </a:lstStyle>
          <a:p>
            <a:r>
              <a:rPr lang="tr-TR"/>
              <a:t>Asıl başlık stili için tıklatın</a:t>
            </a:r>
          </a:p>
        </p:txBody>
      </p:sp>
      <p:sp>
        <p:nvSpPr>
          <p:cNvPr id="3" name="Metin Yer Tutucusu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tr-TR"/>
              <a:t>Asıl metin stillerini düzenlemek için tıklatın</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0106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İki İçeri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İçerik Yer Tutucusu 2"/>
          <p:cNvSpPr>
            <a:spLocks noGrp="1"/>
          </p:cNvSpPr>
          <p:nvPr>
            <p:ph sz="half" idx="1"/>
          </p:nvPr>
        </p:nvSpPr>
        <p:spPr>
          <a:xfrm>
            <a:off x="838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İçerik Yer Tutucusu 3"/>
          <p:cNvSpPr>
            <a:spLocks noGrp="1"/>
          </p:cNvSpPr>
          <p:nvPr>
            <p:ph sz="half" idx="2"/>
          </p:nvPr>
        </p:nvSpPr>
        <p:spPr>
          <a:xfrm>
            <a:off x="6172200" y="1825625"/>
            <a:ext cx="5181600" cy="435133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0731766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Karşılaştırma">
    <p:spTree>
      <p:nvGrpSpPr>
        <p:cNvPr id="1" name=""/>
        <p:cNvGrpSpPr/>
        <p:nvPr/>
      </p:nvGrpSpPr>
      <p:grpSpPr>
        <a:xfrm>
          <a:off x="0" y="0"/>
          <a:ext cx="0" cy="0"/>
          <a:chOff x="0" y="0"/>
          <a:chExt cx="0" cy="0"/>
        </a:xfrm>
      </p:grpSpPr>
      <p:sp>
        <p:nvSpPr>
          <p:cNvPr id="2" name="Unvan 1"/>
          <p:cNvSpPr>
            <a:spLocks noGrp="1"/>
          </p:cNvSpPr>
          <p:nvPr>
            <p:ph type="title"/>
          </p:nvPr>
        </p:nvSpPr>
        <p:spPr>
          <a:xfrm>
            <a:off x="839788" y="365125"/>
            <a:ext cx="10515600" cy="1325563"/>
          </a:xfrm>
        </p:spPr>
        <p:txBody>
          <a:bodyPr/>
          <a:lstStyle/>
          <a:p>
            <a:r>
              <a:rPr lang="tr-TR"/>
              <a:t>Asıl başlık stili için tıklatın</a:t>
            </a:r>
          </a:p>
        </p:txBody>
      </p:sp>
      <p:sp>
        <p:nvSpPr>
          <p:cNvPr id="3" name="Metin Yer Tutucusu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4" name="İçerik Yer Tutucusu 3"/>
          <p:cNvSpPr>
            <a:spLocks noGrp="1"/>
          </p:cNvSpPr>
          <p:nvPr>
            <p:ph sz="half" idx="2"/>
          </p:nvPr>
        </p:nvSpPr>
        <p:spPr>
          <a:xfrm>
            <a:off x="839788" y="2505075"/>
            <a:ext cx="5157787"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5" name="Metin Yer Tutucusu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tr-TR"/>
              <a:t>Asıl metin stillerini düzenlemek için tıklatın</a:t>
            </a:r>
          </a:p>
        </p:txBody>
      </p:sp>
      <p:sp>
        <p:nvSpPr>
          <p:cNvPr id="6" name="İçerik Yer Tutucusu 5"/>
          <p:cNvSpPr>
            <a:spLocks noGrp="1"/>
          </p:cNvSpPr>
          <p:nvPr>
            <p:ph sz="quarter" idx="4"/>
          </p:nvPr>
        </p:nvSpPr>
        <p:spPr>
          <a:xfrm>
            <a:off x="6172200" y="2505075"/>
            <a:ext cx="5183188" cy="3684588"/>
          </a:xfrm>
        </p:spPr>
        <p:txBody>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7" name="Veri Yer Tutucusu 6"/>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8" name="Altbilgi Yer Tutucusu 7"/>
          <p:cNvSpPr>
            <a:spLocks noGrp="1"/>
          </p:cNvSpPr>
          <p:nvPr>
            <p:ph type="ftr" sz="quarter" idx="11"/>
          </p:nvPr>
        </p:nvSpPr>
        <p:spPr/>
        <p:txBody>
          <a:bodyPr/>
          <a:lstStyle/>
          <a:p>
            <a:endParaRPr lang="tr-TR" dirty="0"/>
          </a:p>
        </p:txBody>
      </p:sp>
      <p:sp>
        <p:nvSpPr>
          <p:cNvPr id="9" name="Slayt Numarası Yer Tutucusu 8"/>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3270819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Yalnızca Başlık">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Veri Yer Tutucusu 2"/>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4" name="Altbilgi Yer Tutucusu 3"/>
          <p:cNvSpPr>
            <a:spLocks noGrp="1"/>
          </p:cNvSpPr>
          <p:nvPr>
            <p:ph type="ftr" sz="quarter" idx="11"/>
          </p:nvPr>
        </p:nvSpPr>
        <p:spPr/>
        <p:txBody>
          <a:bodyPr/>
          <a:lstStyle/>
          <a:p>
            <a:endParaRPr lang="tr-TR" dirty="0"/>
          </a:p>
        </p:txBody>
      </p:sp>
      <p:sp>
        <p:nvSpPr>
          <p:cNvPr id="5" name="Slayt Numarası Yer Tutucusu 4"/>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3504683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oş">
    <p:spTree>
      <p:nvGrpSpPr>
        <p:cNvPr id="1" name=""/>
        <p:cNvGrpSpPr/>
        <p:nvPr/>
      </p:nvGrpSpPr>
      <p:grpSpPr>
        <a:xfrm>
          <a:off x="0" y="0"/>
          <a:ext cx="0" cy="0"/>
          <a:chOff x="0" y="0"/>
          <a:chExt cx="0" cy="0"/>
        </a:xfrm>
      </p:grpSpPr>
      <p:sp>
        <p:nvSpPr>
          <p:cNvPr id="2" name="Veri Yer Tutucusu 1"/>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3" name="Altbilgi Yer Tutucusu 2"/>
          <p:cNvSpPr>
            <a:spLocks noGrp="1"/>
          </p:cNvSpPr>
          <p:nvPr>
            <p:ph type="ftr" sz="quarter" idx="11"/>
          </p:nvPr>
        </p:nvSpPr>
        <p:spPr/>
        <p:txBody>
          <a:bodyPr/>
          <a:lstStyle/>
          <a:p>
            <a:endParaRPr lang="tr-TR" dirty="0"/>
          </a:p>
        </p:txBody>
      </p:sp>
      <p:sp>
        <p:nvSpPr>
          <p:cNvPr id="4" name="Slayt Numarası Yer Tutucusu 3"/>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256463083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Başlıklı İçerik">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İçerik Yer Tutucus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535018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aşlıklı Resim">
    <p:spTree>
      <p:nvGrpSpPr>
        <p:cNvPr id="1" name=""/>
        <p:cNvGrpSpPr/>
        <p:nvPr/>
      </p:nvGrpSpPr>
      <p:grpSpPr>
        <a:xfrm>
          <a:off x="0" y="0"/>
          <a:ext cx="0" cy="0"/>
          <a:chOff x="0" y="0"/>
          <a:chExt cx="0" cy="0"/>
        </a:xfrm>
      </p:grpSpPr>
      <p:sp>
        <p:nvSpPr>
          <p:cNvPr id="2" name="Unvan 1"/>
          <p:cNvSpPr>
            <a:spLocks noGrp="1"/>
          </p:cNvSpPr>
          <p:nvPr>
            <p:ph type="title"/>
          </p:nvPr>
        </p:nvSpPr>
        <p:spPr>
          <a:xfrm>
            <a:off x="839788" y="457200"/>
            <a:ext cx="3932237" cy="1600200"/>
          </a:xfrm>
        </p:spPr>
        <p:txBody>
          <a:bodyPr anchor="b"/>
          <a:lstStyle>
            <a:lvl1pPr>
              <a:defRPr sz="3200"/>
            </a:lvl1pPr>
          </a:lstStyle>
          <a:p>
            <a:r>
              <a:rPr lang="tr-TR"/>
              <a:t>Asıl başlık stili için tıklatın</a:t>
            </a:r>
          </a:p>
        </p:txBody>
      </p:sp>
      <p:sp>
        <p:nvSpPr>
          <p:cNvPr id="3" name="Resim Yer Tutucusu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tr-TR" dirty="0"/>
          </a:p>
        </p:txBody>
      </p:sp>
      <p:sp>
        <p:nvSpPr>
          <p:cNvPr id="4" name="Metin Yer Tutucusu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tr-TR"/>
              <a:t>Asıl metin stillerini düzenlemek için tıklatın</a:t>
            </a:r>
          </a:p>
        </p:txBody>
      </p:sp>
      <p:sp>
        <p:nvSpPr>
          <p:cNvPr id="5" name="Veri Yer Tutucusu 4"/>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6" name="Altbilgi Yer Tutucusu 5"/>
          <p:cNvSpPr>
            <a:spLocks noGrp="1"/>
          </p:cNvSpPr>
          <p:nvPr>
            <p:ph type="ftr" sz="quarter" idx="11"/>
          </p:nvPr>
        </p:nvSpPr>
        <p:spPr/>
        <p:txBody>
          <a:bodyPr/>
          <a:lstStyle/>
          <a:p>
            <a:endParaRPr lang="tr-TR" dirty="0"/>
          </a:p>
        </p:txBody>
      </p:sp>
      <p:sp>
        <p:nvSpPr>
          <p:cNvPr id="7" name="Slayt Numarası Yer Tutucusu 6"/>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4926946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Başlık, Dikey Metin">
    <p:spTree>
      <p:nvGrpSpPr>
        <p:cNvPr id="1" name=""/>
        <p:cNvGrpSpPr/>
        <p:nvPr/>
      </p:nvGrpSpPr>
      <p:grpSpPr>
        <a:xfrm>
          <a:off x="0" y="0"/>
          <a:ext cx="0" cy="0"/>
          <a:chOff x="0" y="0"/>
          <a:chExt cx="0" cy="0"/>
        </a:xfrm>
      </p:grpSpPr>
      <p:sp>
        <p:nvSpPr>
          <p:cNvPr id="2" name="Unvan 1"/>
          <p:cNvSpPr>
            <a:spLocks noGrp="1"/>
          </p:cNvSpPr>
          <p:nvPr>
            <p:ph type="title"/>
          </p:nvPr>
        </p:nvSpPr>
        <p:spPr/>
        <p:txBody>
          <a:bodyPr/>
          <a:lstStyle/>
          <a:p>
            <a:r>
              <a:rPr lang="tr-TR"/>
              <a:t>Asıl başlık stili için tıklatın</a:t>
            </a:r>
          </a:p>
        </p:txBody>
      </p:sp>
      <p:sp>
        <p:nvSpPr>
          <p:cNvPr id="3" name="Dikey Metin Yer Tutucusu 2"/>
          <p:cNvSpPr>
            <a:spLocks noGrp="1"/>
          </p:cNvSpPr>
          <p:nvPr>
            <p:ph type="body" orient="vert" idx="1"/>
          </p:nvPr>
        </p:nvSpPr>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10131799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Dikey Başlık ve Metin">
    <p:spTree>
      <p:nvGrpSpPr>
        <p:cNvPr id="1" name=""/>
        <p:cNvGrpSpPr/>
        <p:nvPr/>
      </p:nvGrpSpPr>
      <p:grpSpPr>
        <a:xfrm>
          <a:off x="0" y="0"/>
          <a:ext cx="0" cy="0"/>
          <a:chOff x="0" y="0"/>
          <a:chExt cx="0" cy="0"/>
        </a:xfrm>
      </p:grpSpPr>
      <p:sp>
        <p:nvSpPr>
          <p:cNvPr id="2" name="Dikey Başlık 1"/>
          <p:cNvSpPr>
            <a:spLocks noGrp="1"/>
          </p:cNvSpPr>
          <p:nvPr>
            <p:ph type="title" orient="vert"/>
          </p:nvPr>
        </p:nvSpPr>
        <p:spPr>
          <a:xfrm>
            <a:off x="8724900" y="365125"/>
            <a:ext cx="2628900" cy="5811838"/>
          </a:xfrm>
        </p:spPr>
        <p:txBody>
          <a:bodyPr vert="eaVert"/>
          <a:lstStyle/>
          <a:p>
            <a:r>
              <a:rPr lang="tr-TR"/>
              <a:t>Asıl başlık stili için tıklatın</a:t>
            </a:r>
          </a:p>
        </p:txBody>
      </p:sp>
      <p:sp>
        <p:nvSpPr>
          <p:cNvPr id="3" name="Dikey Metin Yer Tutucusu 2"/>
          <p:cNvSpPr>
            <a:spLocks noGrp="1"/>
          </p:cNvSpPr>
          <p:nvPr>
            <p:ph type="body" orient="vert" idx="1"/>
          </p:nvPr>
        </p:nvSpPr>
        <p:spPr>
          <a:xfrm>
            <a:off x="838200" y="365125"/>
            <a:ext cx="7734300" cy="5811838"/>
          </a:xfrm>
        </p:spPr>
        <p:txBody>
          <a:bodyPr vert="eaVert"/>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10"/>
          </p:nvPr>
        </p:nvSpPr>
        <p:spPr/>
        <p:txBody>
          <a:bodyPr/>
          <a:lstStyle/>
          <a:p>
            <a:fld id="{08896AB5-6331-4D15-9B8F-6E61C0B1DA97}" type="datetimeFigureOut">
              <a:rPr lang="tr-TR" smtClean="0"/>
              <a:t>3.10.2025</a:t>
            </a:fld>
            <a:endParaRPr lang="tr-TR" dirty="0"/>
          </a:p>
        </p:txBody>
      </p:sp>
      <p:sp>
        <p:nvSpPr>
          <p:cNvPr id="5" name="Altbilgi Yer Tutucusu 4"/>
          <p:cNvSpPr>
            <a:spLocks noGrp="1"/>
          </p:cNvSpPr>
          <p:nvPr>
            <p:ph type="ftr" sz="quarter" idx="11"/>
          </p:nvPr>
        </p:nvSpPr>
        <p:spPr/>
        <p:txBody>
          <a:bodyPr/>
          <a:lstStyle/>
          <a:p>
            <a:endParaRPr lang="tr-TR" dirty="0"/>
          </a:p>
        </p:txBody>
      </p:sp>
      <p:sp>
        <p:nvSpPr>
          <p:cNvPr id="6" name="Slayt Numarası Yer Tutucusu 5"/>
          <p:cNvSpPr>
            <a:spLocks noGrp="1"/>
          </p:cNvSpPr>
          <p:nvPr>
            <p:ph type="sldNum" sz="quarter" idx="12"/>
          </p:nvPr>
        </p:nvSpPr>
        <p:spPr/>
        <p:txBody>
          <a:bodyPr/>
          <a:lstStyle/>
          <a:p>
            <a:fld id="{1B160DAF-6CD0-4F84-B624-AA1D29C488AF}" type="slidenum">
              <a:rPr lang="tr-TR" smtClean="0"/>
              <a:t>‹#›</a:t>
            </a:fld>
            <a:endParaRPr lang="tr-TR" dirty="0"/>
          </a:p>
        </p:txBody>
      </p:sp>
    </p:spTree>
    <p:extLst>
      <p:ext uri="{BB962C8B-B14F-4D97-AF65-F5344CB8AC3E}">
        <p14:creationId xmlns:p14="http://schemas.microsoft.com/office/powerpoint/2010/main" val="41629935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graphicFrame>
        <p:nvGraphicFramePr>
          <p:cNvPr id="2" name="Nesne 1" hidden="1"/>
          <p:cNvGraphicFramePr>
            <a:graphicFrameLocks noChangeAspect="1"/>
          </p:cNvGraphicFramePr>
          <p:nvPr userDrawn="1">
            <p:custDataLst>
              <p:tags r:id="rId1"/>
            </p:custData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3" imgW="270" imgH="270" progId="TCLayout.ActiveDocument.1">
                  <p:embed/>
                </p:oleObj>
              </mc:Choice>
              <mc:Fallback>
                <p:oleObj name="think-cell Slide" r:id="rId3" imgW="270" imgH="270" progId="TCLayout.ActiveDocument.1">
                  <p:embed/>
                  <p:pic>
                    <p:nvPicPr>
                      <p:cNvPr id="0" name=""/>
                      <p:cNvPicPr/>
                      <p:nvPr/>
                    </p:nvPicPr>
                    <p:blipFill>
                      <a:blip r:embed="rId4"/>
                      <a:stretch>
                        <a:fillRect/>
                      </a:stretch>
                    </p:blipFill>
                    <p:spPr>
                      <a:xfrm>
                        <a:off x="1588" y="1588"/>
                        <a:ext cx="1587" cy="1587"/>
                      </a:xfrm>
                      <a:prstGeom prst="rect">
                        <a:avLst/>
                      </a:prstGeom>
                    </p:spPr>
                  </p:pic>
                </p:oleObj>
              </mc:Fallback>
            </mc:AlternateContent>
          </a:graphicData>
        </a:graphic>
      </p:graphicFrame>
      <p:sp>
        <p:nvSpPr>
          <p:cNvPr id="5" name="Content Placeholder 4"/>
          <p:cNvSpPr>
            <a:spLocks noGrp="1"/>
          </p:cNvSpPr>
          <p:nvPr>
            <p:ph sz="quarter" idx="11"/>
          </p:nvPr>
        </p:nvSpPr>
        <p:spPr bwMode="gray">
          <a:xfrm>
            <a:off x="460375" y="1325564"/>
            <a:ext cx="11272838" cy="4660899"/>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 name="Title 2"/>
          <p:cNvSpPr>
            <a:spLocks noGrp="1"/>
          </p:cNvSpPr>
          <p:nvPr>
            <p:ph type="title"/>
          </p:nvPr>
        </p:nvSpPr>
        <p:spPr bwMode="auto">
          <a:xfrm>
            <a:off x="460375" y="228600"/>
            <a:ext cx="11272838" cy="535531"/>
          </a:xfrm>
          <a:prstGeom prst="rect">
            <a:avLst/>
          </a:prstGeom>
        </p:spPr>
        <p:txBody>
          <a:bodyPr>
            <a:spAutoFit/>
          </a:bodyPr>
          <a:lstStyle/>
          <a:p>
            <a:r>
              <a:rPr lang="en-US"/>
              <a:t>Click to edit Master title style</a:t>
            </a:r>
            <a:endParaRPr lang="en-US" dirty="0"/>
          </a:p>
        </p:txBody>
      </p:sp>
    </p:spTree>
    <p:extLst>
      <p:ext uri="{BB962C8B-B14F-4D97-AF65-F5344CB8AC3E}">
        <p14:creationId xmlns:p14="http://schemas.microsoft.com/office/powerpoint/2010/main" val="141594647"/>
      </p:ext>
    </p:extLst>
  </p:cSld>
  <p:clrMapOvr>
    <a:masterClrMapping/>
  </p:clrMapOvr>
  <p:transition/>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 Id="rId14" Type="http://schemas.openxmlformats.org/officeDocument/2006/relationships/tags" Target="../tags/tag2.xml"/><Relationship Id="rId15" Type="http://schemas.openxmlformats.org/officeDocument/2006/relationships/image" Target="../media/image1.png"/><Relationship Id="rId16" Type="http://schemas.openxmlformats.org/officeDocument/2006/relationships/oleObject" Target="../embeddings/oleObject1.bin"/><Relationship Id="rId17" Type="http://schemas.openxmlformats.org/officeDocument/2006/relationships/image" Target="../media/image2.emf"/></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E6EE8CAE-E084-41A3-8171-2677F1F6650B}"/>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55935" y="6399033"/>
            <a:ext cx="1854959" cy="324000"/>
          </a:xfrm>
          <a:prstGeom prst="rect">
            <a:avLst/>
          </a:prstGeom>
        </p:spPr>
      </p:pic>
      <p:graphicFrame>
        <p:nvGraphicFramePr>
          <p:cNvPr id="8" name="Nesne 7" hidden="1"/>
          <p:cNvGraphicFramePr>
            <a:graphicFrameLocks noChangeAspect="1"/>
          </p:cNvGraphicFramePr>
          <p:nvPr>
            <p:custDataLst>
              <p:tags r:id="rId14"/>
            </p:custDataLst>
            <p:extLst>
              <p:ext uri="{D42A27DB-BD31-4B8C-83A1-F6EECF244321}">
                <p14:modId xmlns:p14="http://schemas.microsoft.com/office/powerpoint/2010/main" val="3468129894"/>
              </p:ext>
            </p:extLst>
          </p:nvPr>
        </p:nvGraphicFramePr>
        <p:xfrm>
          <a:off x="1588" y="1588"/>
          <a:ext cx="1587" cy="1587"/>
        </p:xfrm>
        <a:graphic>
          <a:graphicData uri="http://schemas.openxmlformats.org/presentationml/2006/ole">
            <mc:AlternateContent xmlns:mc="http://schemas.openxmlformats.org/markup-compatibility/2006">
              <mc:Choice xmlns:v="urn:schemas-microsoft-com:vml" Requires="v">
                <p:oleObj name="think-cell Slide" r:id="rId16" imgW="270" imgH="270" progId="TCLayout.ActiveDocument.1">
                  <p:embed/>
                </p:oleObj>
              </mc:Choice>
              <mc:Fallback>
                <p:oleObj name="think-cell Slide" r:id="rId16" imgW="270" imgH="270" progId="TCLayout.ActiveDocument.1">
                  <p:embed/>
                  <p:pic>
                    <p:nvPicPr>
                      <p:cNvPr id="0" name=""/>
                      <p:cNvPicPr/>
                      <p:nvPr/>
                    </p:nvPicPr>
                    <p:blipFill>
                      <a:blip r:embed="rId17"/>
                      <a:stretch>
                        <a:fillRect/>
                      </a:stretch>
                    </p:blipFill>
                    <p:spPr>
                      <a:xfrm>
                        <a:off x="1588" y="1588"/>
                        <a:ext cx="1587" cy="1587"/>
                      </a:xfrm>
                      <a:prstGeom prst="rect">
                        <a:avLst/>
                      </a:prstGeom>
                    </p:spPr>
                  </p:pic>
                </p:oleObj>
              </mc:Fallback>
            </mc:AlternateContent>
          </a:graphicData>
        </a:graphic>
      </p:graphicFrame>
      <p:sp>
        <p:nvSpPr>
          <p:cNvPr id="2" name="Başlık Yer Tutucusu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tr-TR"/>
              <a:t>Asıl başlık stili için tıklatın</a:t>
            </a:r>
          </a:p>
        </p:txBody>
      </p:sp>
      <p:sp>
        <p:nvSpPr>
          <p:cNvPr id="3" name="Metin Yer Tutucusu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tr-TR"/>
              <a:t>Asıl metin stillerini düzenlemek için tıklatın</a:t>
            </a:r>
          </a:p>
          <a:p>
            <a:pPr lvl="1"/>
            <a:r>
              <a:rPr lang="tr-TR"/>
              <a:t>İkinci düzey</a:t>
            </a:r>
          </a:p>
          <a:p>
            <a:pPr lvl="2"/>
            <a:r>
              <a:rPr lang="tr-TR"/>
              <a:t>Üçüncü düzey</a:t>
            </a:r>
          </a:p>
          <a:p>
            <a:pPr lvl="3"/>
            <a:r>
              <a:rPr lang="tr-TR"/>
              <a:t>Dördüncü düzey</a:t>
            </a:r>
          </a:p>
          <a:p>
            <a:pPr lvl="4"/>
            <a:r>
              <a:rPr lang="tr-TR"/>
              <a:t>Beşinci düzey</a:t>
            </a:r>
          </a:p>
        </p:txBody>
      </p:sp>
      <p:sp>
        <p:nvSpPr>
          <p:cNvPr id="4" name="Veri Yer Tutucusu 3"/>
          <p:cNvSpPr>
            <a:spLocks noGrp="1"/>
          </p:cNvSpPr>
          <p:nvPr>
            <p:ph type="dt" sz="half" idx="2"/>
          </p:nvPr>
        </p:nvSpPr>
        <p:spPr>
          <a:xfrm>
            <a:off x="2315958" y="6356350"/>
            <a:ext cx="1265442"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8896AB5-6331-4D15-9B8F-6E61C0B1DA97}" type="datetimeFigureOut">
              <a:rPr lang="tr-TR" smtClean="0"/>
              <a:t>3.10.2025</a:t>
            </a:fld>
            <a:endParaRPr lang="tr-TR" dirty="0"/>
          </a:p>
        </p:txBody>
      </p:sp>
      <p:sp>
        <p:nvSpPr>
          <p:cNvPr id="5" name="Altbilgi Yer Tutucusu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tr-TR" dirty="0"/>
          </a:p>
        </p:txBody>
      </p:sp>
      <p:sp>
        <p:nvSpPr>
          <p:cNvPr id="6" name="Slayt Numarası Yer Tutucusu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B160DAF-6CD0-4F84-B624-AA1D29C488AF}" type="slidenum">
              <a:rPr lang="tr-TR" smtClean="0"/>
              <a:t>‹#›</a:t>
            </a:fld>
            <a:endParaRPr lang="tr-TR" dirty="0"/>
          </a:p>
        </p:txBody>
      </p:sp>
    </p:spTree>
    <p:extLst>
      <p:ext uri="{BB962C8B-B14F-4D97-AF65-F5344CB8AC3E}">
        <p14:creationId xmlns:p14="http://schemas.microsoft.com/office/powerpoint/2010/main" val="942725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tr-T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7.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1.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4.png"/><Relationship Id="rId7"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1417320"/>
            <a:ext cx="6217920" cy="365760"/>
          </a:xfrm>
          <a:prstGeom prst="rect">
            <a:avLst/>
          </a:prstGeom>
          <a:noFill/>
        </p:spPr>
        <p:txBody>
          <a:bodyPr wrap="square" anchor="t" lIns="0" rIns="0" tIns="0" bIns="0">
            <a:spAutoFit/>
          </a:bodyPr>
          <a:lstStyle/>
          <a:p>
            <a:pPr algn="l">
              <a:spcAft>
                <a:spcPts val="400"/>
              </a:spcAft>
            </a:pPr>
            <a:r>
              <a:rPr sz="1400" b="1" i="0">
                <a:solidFill>
                  <a:srgbClr val="E10514"/>
                </a:solidFill>
                <a:latin typeface="Calibri"/>
              </a:rPr>
              <a:t>ZİRAAT TEKNOLOJİ YAPAY ZEKÂ HACKATHONU · TEMA 2</a:t>
            </a:r>
          </a:p>
        </p:txBody>
      </p:sp>
      <p:sp>
        <p:nvSpPr>
          <p:cNvPr id="3" name="TextBox 2"/>
          <p:cNvSpPr txBox="1"/>
          <p:nvPr/>
        </p:nvSpPr>
        <p:spPr>
          <a:xfrm>
            <a:off x="914400" y="1828800"/>
            <a:ext cx="6217920" cy="1188720"/>
          </a:xfrm>
          <a:prstGeom prst="rect">
            <a:avLst/>
          </a:prstGeom>
          <a:noFill/>
        </p:spPr>
        <p:txBody>
          <a:bodyPr wrap="square" anchor="t" lIns="0" rIns="0" tIns="0" bIns="0">
            <a:spAutoFit/>
          </a:bodyPr>
          <a:lstStyle/>
          <a:p>
            <a:pPr algn="l">
              <a:spcAft>
                <a:spcPts val="400"/>
              </a:spcAft>
            </a:pPr>
            <a:r>
              <a:rPr sz="7200" b="1" i="0">
                <a:solidFill>
                  <a:srgbClr val="1E1E1E"/>
                </a:solidFill>
                <a:latin typeface="Calibri"/>
              </a:rPr>
              <a:t>MERCEK</a:t>
            </a:r>
          </a:p>
        </p:txBody>
      </p:sp>
      <p:sp>
        <p:nvSpPr>
          <p:cNvPr id="4" name="Rectangle 3"/>
          <p:cNvSpPr/>
          <p:nvPr/>
        </p:nvSpPr>
        <p:spPr>
          <a:xfrm>
            <a:off x="960120" y="3063240"/>
            <a:ext cx="1097280" cy="64008"/>
          </a:xfrm>
          <a:prstGeom prst="rect">
            <a:avLst/>
          </a:prstGeom>
          <a:solidFill>
            <a:srgbClr val="E10514"/>
          </a:solidFill>
          <a:ln>
            <a:noFill/>
          </a:ln>
          <a:effectLst/>
        </p:spPr>
        <p:txBody>
          <a:bodyPr rtlCol="0" anchor="ctr"/>
          <a:lstStyle/>
          <a:p/>
        </p:txBody>
      </p:sp>
      <p:sp>
        <p:nvSpPr>
          <p:cNvPr id="5" name="TextBox 4"/>
          <p:cNvSpPr txBox="1"/>
          <p:nvPr/>
        </p:nvSpPr>
        <p:spPr>
          <a:xfrm>
            <a:off x="914400" y="3291840"/>
            <a:ext cx="6217920" cy="548640"/>
          </a:xfrm>
          <a:prstGeom prst="rect">
            <a:avLst/>
          </a:prstGeom>
          <a:noFill/>
        </p:spPr>
        <p:txBody>
          <a:bodyPr wrap="square" anchor="t" lIns="0" rIns="0" tIns="0" bIns="0">
            <a:spAutoFit/>
          </a:bodyPr>
          <a:lstStyle/>
          <a:p>
            <a:pPr algn="l">
              <a:spcAft>
                <a:spcPts val="400"/>
              </a:spcAft>
            </a:pPr>
            <a:r>
              <a:rPr sz="2600" b="0" i="1">
                <a:solidFill>
                  <a:srgbClr val="B90F0A"/>
                </a:solidFill>
                <a:latin typeface="Calibri"/>
              </a:rPr>
              <a:t>Soruna odaklanır, çözümü netleştirir.</a:t>
            </a:r>
          </a:p>
        </p:txBody>
      </p:sp>
      <p:sp>
        <p:nvSpPr>
          <p:cNvPr id="6" name="TextBox 5"/>
          <p:cNvSpPr txBox="1"/>
          <p:nvPr/>
        </p:nvSpPr>
        <p:spPr>
          <a:xfrm>
            <a:off x="914400" y="4343400"/>
            <a:ext cx="6217920" cy="822960"/>
          </a:xfrm>
          <a:prstGeom prst="rect">
            <a:avLst/>
          </a:prstGeom>
          <a:noFill/>
        </p:spPr>
        <p:txBody>
          <a:bodyPr wrap="square" anchor="t" lIns="0" rIns="0" tIns="0" bIns="0">
            <a:spAutoFit/>
          </a:bodyPr>
          <a:lstStyle/>
          <a:p>
            <a:pPr algn="l">
              <a:spcAft>
                <a:spcPts val="400"/>
              </a:spcAft>
            </a:pPr>
            <a:r>
              <a:rPr sz="2000" b="1" i="0">
                <a:solidFill>
                  <a:srgbClr val="1E1E1E"/>
                </a:solidFill>
                <a:latin typeface="Calibri"/>
              </a:rPr>
              <a:t>AI Overflow Takımı</a:t>
            </a:r>
          </a:p>
          <a:p>
            <a:pPr algn="l">
              <a:spcAft>
                <a:spcPts val="400"/>
              </a:spcAft>
            </a:pPr>
            <a:r>
              <a:rPr sz="1600" b="0" i="0">
                <a:solidFill>
                  <a:srgbClr val="91969B"/>
                </a:solidFill>
                <a:latin typeface="Calibri"/>
              </a:rPr>
              <a:t>17 Ekim 2026</a:t>
            </a:r>
          </a:p>
        </p:txBody>
      </p:sp>
      <p:pic>
        <p:nvPicPr>
          <p:cNvPr id="7" name="Picture 6" descr="mercek-logo.png"/>
          <p:cNvPicPr>
            <a:picLocks noChangeAspect="1"/>
          </p:cNvPicPr>
          <p:nvPr/>
        </p:nvPicPr>
        <p:blipFill>
          <a:blip r:embed="rId2"/>
          <a:stretch>
            <a:fillRect/>
          </a:stretch>
        </p:blipFill>
        <p:spPr>
          <a:xfrm>
            <a:off x="7086600" y="914400"/>
            <a:ext cx="4206240" cy="42062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AI Overflow Takımı</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2</a:t>
            </a:r>
          </a:p>
        </p:txBody>
      </p:sp>
      <p:sp>
        <p:nvSpPr>
          <p:cNvPr id="6" name="Rounded Rectangle 5"/>
          <p:cNvSpPr/>
          <p:nvPr/>
        </p:nvSpPr>
        <p:spPr>
          <a:xfrm>
            <a:off x="502920" y="1325880"/>
            <a:ext cx="2103120" cy="420624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960119" y="1691640"/>
            <a:ext cx="1188720" cy="1188720"/>
          </a:xfrm>
          <a:prstGeom prst="ellipse">
            <a:avLst/>
          </a:prstGeom>
          <a:solidFill>
            <a:srgbClr val="FFFFFF"/>
          </a:solidFill>
          <a:ln w="15875">
            <a:solidFill>
              <a:srgbClr val="E10514"/>
            </a:solidFill>
          </a:ln>
          <a:effectLst/>
        </p:spPr>
        <p:txBody>
          <a:bodyPr rtlCol="0" anchor="ctr"/>
          <a:lstStyle/>
          <a:p/>
        </p:txBody>
      </p:sp>
      <p:pic>
        <p:nvPicPr>
          <p:cNvPr id="8" name="Picture 7" descr="user-g.png"/>
          <p:cNvPicPr>
            <a:picLocks noChangeAspect="1"/>
          </p:cNvPicPr>
          <p:nvPr/>
        </p:nvPicPr>
        <p:blipFill>
          <a:blip r:embed="rId3"/>
          <a:stretch>
            <a:fillRect/>
          </a:stretch>
        </p:blipFill>
        <p:spPr>
          <a:xfrm>
            <a:off x="1280160" y="2011680"/>
            <a:ext cx="548640" cy="548640"/>
          </a:xfrm>
          <a:prstGeom prst="rect">
            <a:avLst/>
          </a:prstGeom>
        </p:spPr>
      </p:pic>
      <p:sp>
        <p:nvSpPr>
          <p:cNvPr id="9" name="TextBox 8"/>
          <p:cNvSpPr txBox="1"/>
          <p:nvPr/>
        </p:nvSpPr>
        <p:spPr>
          <a:xfrm>
            <a:off x="640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0" name="Rounded Rectangle 9"/>
          <p:cNvSpPr/>
          <p:nvPr/>
        </p:nvSpPr>
        <p:spPr>
          <a:xfrm>
            <a:off x="2788920" y="1325880"/>
            <a:ext cx="2103120" cy="4206240"/>
          </a:xfrm>
          <a:prstGeom prst="roundRect">
            <a:avLst>
              <a:gd name="adj" fmla="val 6000"/>
            </a:avLst>
          </a:prstGeom>
          <a:solidFill>
            <a:srgbClr val="F2F5F6"/>
          </a:solidFill>
          <a:ln>
            <a:noFill/>
          </a:ln>
          <a:effectLst/>
        </p:spPr>
        <p:txBody>
          <a:bodyPr rtlCol="0" anchor="ctr"/>
          <a:lstStyle/>
          <a:p/>
        </p:txBody>
      </p:sp>
      <p:sp>
        <p:nvSpPr>
          <p:cNvPr id="11" name="Oval 10"/>
          <p:cNvSpPr/>
          <p:nvPr/>
        </p:nvSpPr>
        <p:spPr>
          <a:xfrm>
            <a:off x="3246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2" name="Picture 11" descr="user-g.png"/>
          <p:cNvPicPr>
            <a:picLocks noChangeAspect="1"/>
          </p:cNvPicPr>
          <p:nvPr/>
        </p:nvPicPr>
        <p:blipFill>
          <a:blip r:embed="rId3"/>
          <a:stretch>
            <a:fillRect/>
          </a:stretch>
        </p:blipFill>
        <p:spPr>
          <a:xfrm>
            <a:off x="3566159" y="2011680"/>
            <a:ext cx="548640" cy="548640"/>
          </a:xfrm>
          <a:prstGeom prst="rect">
            <a:avLst/>
          </a:prstGeom>
        </p:spPr>
      </p:pic>
      <p:sp>
        <p:nvSpPr>
          <p:cNvPr id="13" name="TextBox 12"/>
          <p:cNvSpPr txBox="1"/>
          <p:nvPr/>
        </p:nvSpPr>
        <p:spPr>
          <a:xfrm>
            <a:off x="2926079"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4" name="Rounded Rectangle 13"/>
          <p:cNvSpPr/>
          <p:nvPr/>
        </p:nvSpPr>
        <p:spPr>
          <a:xfrm>
            <a:off x="5074920" y="1325880"/>
            <a:ext cx="2103120" cy="420624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5532119" y="1691640"/>
            <a:ext cx="1188720" cy="1188720"/>
          </a:xfrm>
          <a:prstGeom prst="ellipse">
            <a:avLst/>
          </a:prstGeom>
          <a:solidFill>
            <a:srgbClr val="FFFFFF"/>
          </a:solidFill>
          <a:ln w="15875">
            <a:solidFill>
              <a:srgbClr val="E10514"/>
            </a:solidFill>
          </a:ln>
          <a:effectLst/>
        </p:spPr>
        <p:txBody>
          <a:bodyPr rtlCol="0" anchor="ctr"/>
          <a:lstStyle/>
          <a:p/>
        </p:txBody>
      </p:sp>
      <p:pic>
        <p:nvPicPr>
          <p:cNvPr id="16" name="Picture 15" descr="user-g.png"/>
          <p:cNvPicPr>
            <a:picLocks noChangeAspect="1"/>
          </p:cNvPicPr>
          <p:nvPr/>
        </p:nvPicPr>
        <p:blipFill>
          <a:blip r:embed="rId3"/>
          <a:stretch>
            <a:fillRect/>
          </a:stretch>
        </p:blipFill>
        <p:spPr>
          <a:xfrm>
            <a:off x="5852159" y="2011680"/>
            <a:ext cx="548640" cy="548640"/>
          </a:xfrm>
          <a:prstGeom prst="rect">
            <a:avLst/>
          </a:prstGeom>
        </p:spPr>
      </p:pic>
      <p:sp>
        <p:nvSpPr>
          <p:cNvPr id="17" name="TextBox 16"/>
          <p:cNvSpPr txBox="1"/>
          <p:nvPr/>
        </p:nvSpPr>
        <p:spPr>
          <a:xfrm>
            <a:off x="5212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18" name="Rounded Rectangle 17"/>
          <p:cNvSpPr/>
          <p:nvPr/>
        </p:nvSpPr>
        <p:spPr>
          <a:xfrm>
            <a:off x="7360920" y="1325880"/>
            <a:ext cx="2103120" cy="420624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7818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0" name="Picture 19" descr="user-g.png"/>
          <p:cNvPicPr>
            <a:picLocks noChangeAspect="1"/>
          </p:cNvPicPr>
          <p:nvPr/>
        </p:nvPicPr>
        <p:blipFill>
          <a:blip r:embed="rId3"/>
          <a:stretch>
            <a:fillRect/>
          </a:stretch>
        </p:blipFill>
        <p:spPr>
          <a:xfrm>
            <a:off x="8138160" y="2011680"/>
            <a:ext cx="548640" cy="548640"/>
          </a:xfrm>
          <a:prstGeom prst="rect">
            <a:avLst/>
          </a:prstGeom>
        </p:spPr>
      </p:pic>
      <p:sp>
        <p:nvSpPr>
          <p:cNvPr id="21" name="TextBox 20"/>
          <p:cNvSpPr txBox="1"/>
          <p:nvPr/>
        </p:nvSpPr>
        <p:spPr>
          <a:xfrm>
            <a:off x="7498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2" name="Rounded Rectangle 21"/>
          <p:cNvSpPr/>
          <p:nvPr/>
        </p:nvSpPr>
        <p:spPr>
          <a:xfrm>
            <a:off x="9646920" y="1325880"/>
            <a:ext cx="2103120" cy="420624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10104120" y="1691640"/>
            <a:ext cx="1188720" cy="1188720"/>
          </a:xfrm>
          <a:prstGeom prst="ellipse">
            <a:avLst/>
          </a:prstGeom>
          <a:solidFill>
            <a:srgbClr val="FFFFFF"/>
          </a:solidFill>
          <a:ln w="15875">
            <a:solidFill>
              <a:srgbClr val="E10514"/>
            </a:solidFill>
          </a:ln>
          <a:effectLst/>
        </p:spPr>
        <p:txBody>
          <a:bodyPr rtlCol="0" anchor="ctr"/>
          <a:lstStyle/>
          <a:p/>
        </p:txBody>
      </p:sp>
      <p:pic>
        <p:nvPicPr>
          <p:cNvPr id="24" name="Picture 23" descr="user-g.png"/>
          <p:cNvPicPr>
            <a:picLocks noChangeAspect="1"/>
          </p:cNvPicPr>
          <p:nvPr/>
        </p:nvPicPr>
        <p:blipFill>
          <a:blip r:embed="rId3"/>
          <a:stretch>
            <a:fillRect/>
          </a:stretch>
        </p:blipFill>
        <p:spPr>
          <a:xfrm>
            <a:off x="10424160" y="2011680"/>
            <a:ext cx="548640" cy="548640"/>
          </a:xfrm>
          <a:prstGeom prst="rect">
            <a:avLst/>
          </a:prstGeom>
        </p:spPr>
      </p:pic>
      <p:sp>
        <p:nvSpPr>
          <p:cNvPr id="25" name="TextBox 24"/>
          <p:cNvSpPr txBox="1"/>
          <p:nvPr/>
        </p:nvSpPr>
        <p:spPr>
          <a:xfrm>
            <a:off x="9784080" y="3108960"/>
            <a:ext cx="1828799" cy="2011680"/>
          </a:xfrm>
          <a:prstGeom prst="rect">
            <a:avLst/>
          </a:prstGeom>
          <a:noFill/>
        </p:spPr>
        <p:txBody>
          <a:bodyPr wrap="square" anchor="t" lIns="0" rIns="0" tIns="0" bIns="0">
            <a:spAutoFit/>
          </a:bodyPr>
          <a:lstStyle/>
          <a:p>
            <a:pPr algn="ctr">
              <a:spcAft>
                <a:spcPts val="600"/>
              </a:spcAft>
            </a:pPr>
            <a:r>
              <a:rPr sz="1800" b="1" i="0">
                <a:solidFill>
                  <a:srgbClr val="1E1E1E"/>
                </a:solidFill>
                <a:latin typeface="Calibri"/>
              </a:rPr>
              <a:t>Ad Soyad</a:t>
            </a:r>
          </a:p>
          <a:p>
            <a:pPr algn="ctr">
              <a:spcAft>
                <a:spcPts val="600"/>
              </a:spcAft>
            </a:pPr>
            <a:r>
              <a:rPr sz="1400" b="0" i="0">
                <a:solidFill>
                  <a:srgbClr val="91969B"/>
                </a:solidFill>
                <a:latin typeface="Calibri"/>
              </a:rPr>
              <a:t>Birim</a:t>
            </a:r>
          </a:p>
          <a:p>
            <a:pPr algn="ctr">
              <a:spcAft>
                <a:spcPts val="600"/>
              </a:spcAft>
            </a:pPr>
            <a:r>
              <a:rPr sz="1400" b="0" i="0">
                <a:solidFill>
                  <a:srgbClr val="1E1E1E"/>
                </a:solidFill>
                <a:latin typeface="Calibri"/>
              </a:rPr>
              <a:t>Projedeki rolü</a:t>
            </a:r>
          </a:p>
        </p:txBody>
      </p:sp>
      <p:sp>
        <p:nvSpPr>
          <p:cNvPr id="26" name="TextBox 25"/>
          <p:cNvSpPr txBox="1"/>
          <p:nvPr/>
        </p:nvSpPr>
        <p:spPr>
          <a:xfrm>
            <a:off x="502920" y="5715000"/>
            <a:ext cx="10972800" cy="320040"/>
          </a:xfrm>
          <a:prstGeom prst="rect">
            <a:avLst/>
          </a:prstGeom>
          <a:noFill/>
        </p:spPr>
        <p:txBody>
          <a:bodyPr wrap="square" anchor="t" lIns="0" rIns="0" tIns="0" bIns="0">
            <a:spAutoFit/>
          </a:bodyPr>
          <a:lstStyle/>
          <a:p>
            <a:pPr algn="l">
              <a:spcAft>
                <a:spcPts val="400"/>
              </a:spcAft>
            </a:pPr>
            <a:r>
              <a:rPr sz="1400" b="0" i="0">
                <a:solidFill>
                  <a:srgbClr val="91969B"/>
                </a:solidFill>
                <a:latin typeface="Calibri"/>
              </a:rPr>
              <a:t>Sorumluluklar 19 maddelik listeden herkesin kendi seçimiyle dağıtıldı.</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Hata mı, Kural mı? Bilinmeyince Çağrı Açılıyor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3</a:t>
            </a:r>
          </a:p>
        </p:txBody>
      </p:sp>
      <p:sp>
        <p:nvSpPr>
          <p:cNvPr id="6" name="Rounded Rectangle 5"/>
          <p:cNvSpPr/>
          <p:nvPr/>
        </p:nvSpPr>
        <p:spPr>
          <a:xfrm>
            <a:off x="411480" y="1188720"/>
            <a:ext cx="3246120" cy="4800600"/>
          </a:xfrm>
          <a:prstGeom prst="roundRect">
            <a:avLst>
              <a:gd name="adj" fmla="val 6000"/>
            </a:avLst>
          </a:prstGeom>
          <a:solidFill>
            <a:srgbClr val="B90F0A"/>
          </a:solidFill>
          <a:ln>
            <a:noFill/>
          </a:ln>
          <a:effectLst/>
        </p:spPr>
        <p:txBody>
          <a:bodyPr rtlCol="0" anchor="ctr"/>
          <a:lstStyle/>
          <a:p/>
        </p:txBody>
      </p:sp>
      <p:pic>
        <p:nvPicPr>
          <p:cNvPr id="7" name="Picture 6" descr="quote-w.png"/>
          <p:cNvPicPr>
            <a:picLocks noChangeAspect="1"/>
          </p:cNvPicPr>
          <p:nvPr/>
        </p:nvPicPr>
        <p:blipFill>
          <a:blip r:embed="rId3"/>
          <a:stretch>
            <a:fillRect/>
          </a:stretch>
        </p:blipFill>
        <p:spPr>
          <a:xfrm>
            <a:off x="731520" y="1508760"/>
            <a:ext cx="457200" cy="457200"/>
          </a:xfrm>
          <a:prstGeom prst="rect">
            <a:avLst/>
          </a:prstGeom>
        </p:spPr>
      </p:pic>
      <p:sp>
        <p:nvSpPr>
          <p:cNvPr id="8" name="TextBox 7"/>
          <p:cNvSpPr txBox="1"/>
          <p:nvPr/>
        </p:nvSpPr>
        <p:spPr>
          <a:xfrm>
            <a:off x="731520" y="2148840"/>
            <a:ext cx="2651760" cy="2194560"/>
          </a:xfrm>
          <a:prstGeom prst="rect">
            <a:avLst/>
          </a:prstGeom>
          <a:noFill/>
        </p:spPr>
        <p:txBody>
          <a:bodyPr wrap="square" anchor="t" lIns="0" rIns="0" tIns="0" bIns="0">
            <a:spAutoFit/>
          </a:bodyPr>
          <a:lstStyle/>
          <a:p>
            <a:pPr algn="l">
              <a:spcAft>
                <a:spcPts val="400"/>
              </a:spcAft>
            </a:pPr>
            <a:r>
              <a:rPr sz="2400" b="1" i="1">
                <a:solidFill>
                  <a:srgbClr val="FFFFFF"/>
                </a:solidFill>
                <a:latin typeface="Calibri"/>
              </a:rPr>
              <a:t>“Ekran ‘kullandırılamaz’ diyor. Sistem mi bozuk?”</a:t>
            </a:r>
          </a:p>
        </p:txBody>
      </p:sp>
      <p:sp>
        <p:nvSpPr>
          <p:cNvPr id="9" name="TextBox 8"/>
          <p:cNvSpPr txBox="1"/>
          <p:nvPr/>
        </p:nvSpPr>
        <p:spPr>
          <a:xfrm>
            <a:off x="731520" y="5120640"/>
            <a:ext cx="2651760" cy="640080"/>
          </a:xfrm>
          <a:prstGeom prst="rect">
            <a:avLst/>
          </a:prstGeom>
          <a:noFill/>
        </p:spPr>
        <p:txBody>
          <a:bodyPr wrap="square" anchor="b" lIns="0" rIns="0" tIns="0" bIns="0">
            <a:spAutoFit/>
          </a:bodyPr>
          <a:lstStyle/>
          <a:p>
            <a:pPr algn="l">
              <a:spcAft>
                <a:spcPts val="400"/>
              </a:spcAft>
            </a:pPr>
            <a:r>
              <a:rPr sz="1400" b="0" i="0">
                <a:solidFill>
                  <a:srgbClr val="FFFFFF"/>
                </a:solidFill>
                <a:latin typeface="Calibri"/>
              </a:rPr>
              <a:t>Elif, şube müşteri temsilcisi · KRDTKULL</a:t>
            </a:r>
          </a:p>
        </p:txBody>
      </p:sp>
      <p:sp>
        <p:nvSpPr>
          <p:cNvPr id="10" name="Rounded Rectangle 9"/>
          <p:cNvSpPr/>
          <p:nvPr/>
        </p:nvSpPr>
        <p:spPr>
          <a:xfrm>
            <a:off x="3931920" y="1188720"/>
            <a:ext cx="1444752" cy="1783080"/>
          </a:xfrm>
          <a:prstGeom prst="roundRect">
            <a:avLst>
              <a:gd name="adj" fmla="val 6000"/>
            </a:avLst>
          </a:prstGeom>
          <a:solidFill>
            <a:srgbClr val="F2F5F6"/>
          </a:solidFill>
          <a:ln>
            <a:noFill/>
          </a:ln>
          <a:effectLst/>
        </p:spPr>
        <p:txBody>
          <a:bodyPr rtlCol="0" anchor="ctr"/>
          <a:lstStyle/>
          <a:p/>
        </p:txBody>
      </p:sp>
      <p:sp>
        <p:nvSpPr>
          <p:cNvPr id="11" name="Oval 10"/>
          <p:cNvSpPr/>
          <p:nvPr/>
        </p:nvSpPr>
        <p:spPr>
          <a:xfrm>
            <a:off x="4069080" y="1325880"/>
            <a:ext cx="411480" cy="411480"/>
          </a:xfrm>
          <a:prstGeom prst="ellipse">
            <a:avLst/>
          </a:prstGeom>
          <a:solidFill>
            <a:srgbClr val="E10514"/>
          </a:solidFill>
          <a:ln>
            <a:noFill/>
          </a:ln>
          <a:effectLst/>
        </p:spPr>
        <p:txBody>
          <a:bodyPr rtlCol="0" anchor="ctr"/>
          <a:lstStyle/>
          <a:p/>
        </p:txBody>
      </p:sp>
      <p:sp>
        <p:nvSpPr>
          <p:cNvPr id="12" name="TextBox 11"/>
          <p:cNvSpPr txBox="1"/>
          <p:nvPr/>
        </p:nvSpPr>
        <p:spPr>
          <a:xfrm>
            <a:off x="4069080"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1</a:t>
            </a:r>
          </a:p>
        </p:txBody>
      </p:sp>
      <p:sp>
        <p:nvSpPr>
          <p:cNvPr id="13" name="TextBox 12"/>
          <p:cNvSpPr txBox="1"/>
          <p:nvPr/>
        </p:nvSpPr>
        <p:spPr>
          <a:xfrm>
            <a:off x="4069080"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Temsilci uyarıyı görür</a:t>
            </a:r>
          </a:p>
        </p:txBody>
      </p:sp>
      <p:sp>
        <p:nvSpPr>
          <p:cNvPr id="14" name="Rounded Rectangle 13"/>
          <p:cNvSpPr/>
          <p:nvPr/>
        </p:nvSpPr>
        <p:spPr>
          <a:xfrm>
            <a:off x="5504688" y="1188720"/>
            <a:ext cx="1444752" cy="178308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5641848" y="1325880"/>
            <a:ext cx="411480" cy="411480"/>
          </a:xfrm>
          <a:prstGeom prst="ellipse">
            <a:avLst/>
          </a:prstGeom>
          <a:solidFill>
            <a:srgbClr val="E10514"/>
          </a:solidFill>
          <a:ln>
            <a:noFill/>
          </a:ln>
          <a:effectLst/>
        </p:spPr>
        <p:txBody>
          <a:bodyPr rtlCol="0" anchor="ctr"/>
          <a:lstStyle/>
          <a:p/>
        </p:txBody>
      </p:sp>
      <p:sp>
        <p:nvSpPr>
          <p:cNvPr id="16" name="TextBox 15"/>
          <p:cNvSpPr txBox="1"/>
          <p:nvPr/>
        </p:nvSpPr>
        <p:spPr>
          <a:xfrm>
            <a:off x="5641848"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2</a:t>
            </a:r>
          </a:p>
        </p:txBody>
      </p:sp>
      <p:sp>
        <p:nvSpPr>
          <p:cNvPr id="17" name="TextBox 16"/>
          <p:cNvSpPr txBox="1"/>
          <p:nvPr/>
        </p:nvSpPr>
        <p:spPr>
          <a:xfrm>
            <a:off x="5641848"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Çağrı açar</a:t>
            </a:r>
          </a:p>
        </p:txBody>
      </p:sp>
      <p:sp>
        <p:nvSpPr>
          <p:cNvPr id="18" name="Rounded Rectangle 17"/>
          <p:cNvSpPr/>
          <p:nvPr/>
        </p:nvSpPr>
        <p:spPr>
          <a:xfrm>
            <a:off x="7077456" y="1188720"/>
            <a:ext cx="1444752" cy="1783080"/>
          </a:xfrm>
          <a:prstGeom prst="roundRect">
            <a:avLst>
              <a:gd name="adj" fmla="val 6000"/>
            </a:avLst>
          </a:prstGeom>
          <a:solidFill>
            <a:srgbClr val="F2F5F6"/>
          </a:solidFill>
          <a:ln>
            <a:noFill/>
          </a:ln>
          <a:effectLst/>
        </p:spPr>
        <p:txBody>
          <a:bodyPr rtlCol="0" anchor="ctr"/>
          <a:lstStyle/>
          <a:p/>
        </p:txBody>
      </p:sp>
      <p:sp>
        <p:nvSpPr>
          <p:cNvPr id="19" name="Oval 18"/>
          <p:cNvSpPr/>
          <p:nvPr/>
        </p:nvSpPr>
        <p:spPr>
          <a:xfrm>
            <a:off x="7214616" y="1325880"/>
            <a:ext cx="411480" cy="411480"/>
          </a:xfrm>
          <a:prstGeom prst="ellipse">
            <a:avLst/>
          </a:prstGeom>
          <a:solidFill>
            <a:srgbClr val="E10514"/>
          </a:solidFill>
          <a:ln>
            <a:noFill/>
          </a:ln>
          <a:effectLst/>
        </p:spPr>
        <p:txBody>
          <a:bodyPr rtlCol="0" anchor="ctr"/>
          <a:lstStyle/>
          <a:p/>
        </p:txBody>
      </p:sp>
      <p:sp>
        <p:nvSpPr>
          <p:cNvPr id="20" name="TextBox 19"/>
          <p:cNvSpPr txBox="1"/>
          <p:nvPr/>
        </p:nvSpPr>
        <p:spPr>
          <a:xfrm>
            <a:off x="7214616"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3</a:t>
            </a:r>
          </a:p>
        </p:txBody>
      </p:sp>
      <p:sp>
        <p:nvSpPr>
          <p:cNvPr id="21" name="TextBox 20"/>
          <p:cNvSpPr txBox="1"/>
          <p:nvPr/>
        </p:nvSpPr>
        <p:spPr>
          <a:xfrm>
            <a:off x="7214616"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L1 Kibana'da log arar</a:t>
            </a:r>
          </a:p>
        </p:txBody>
      </p:sp>
      <p:sp>
        <p:nvSpPr>
          <p:cNvPr id="22" name="Rounded Rectangle 21"/>
          <p:cNvSpPr/>
          <p:nvPr/>
        </p:nvSpPr>
        <p:spPr>
          <a:xfrm>
            <a:off x="8650224" y="1188720"/>
            <a:ext cx="1444752" cy="178308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8787384" y="1325880"/>
            <a:ext cx="411480" cy="411480"/>
          </a:xfrm>
          <a:prstGeom prst="ellipse">
            <a:avLst/>
          </a:prstGeom>
          <a:solidFill>
            <a:srgbClr val="E10514"/>
          </a:solidFill>
          <a:ln>
            <a:noFill/>
          </a:ln>
          <a:effectLst/>
        </p:spPr>
        <p:txBody>
          <a:bodyPr rtlCol="0" anchor="ctr"/>
          <a:lstStyle/>
          <a:p/>
        </p:txBody>
      </p:sp>
      <p:sp>
        <p:nvSpPr>
          <p:cNvPr id="24" name="TextBox 23"/>
          <p:cNvSpPr txBox="1"/>
          <p:nvPr/>
        </p:nvSpPr>
        <p:spPr>
          <a:xfrm>
            <a:off x="8787384"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4</a:t>
            </a:r>
          </a:p>
        </p:txBody>
      </p:sp>
      <p:sp>
        <p:nvSpPr>
          <p:cNvPr id="25" name="TextBox 24"/>
          <p:cNvSpPr txBox="1"/>
          <p:nvPr/>
        </p:nvSpPr>
        <p:spPr>
          <a:xfrm>
            <a:off x="8787384"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L2 kurumu ve kodu inceler</a:t>
            </a:r>
          </a:p>
        </p:txBody>
      </p:sp>
      <p:sp>
        <p:nvSpPr>
          <p:cNvPr id="26" name="Rounded Rectangle 25"/>
          <p:cNvSpPr/>
          <p:nvPr/>
        </p:nvSpPr>
        <p:spPr>
          <a:xfrm>
            <a:off x="10222992" y="1188720"/>
            <a:ext cx="1444752" cy="1783080"/>
          </a:xfrm>
          <a:prstGeom prst="roundRect">
            <a:avLst>
              <a:gd name="adj" fmla="val 6000"/>
            </a:avLst>
          </a:prstGeom>
          <a:solidFill>
            <a:srgbClr val="F2F5F6"/>
          </a:solidFill>
          <a:ln>
            <a:noFill/>
          </a:ln>
          <a:effectLst/>
        </p:spPr>
        <p:txBody>
          <a:bodyPr rtlCol="0" anchor="ctr"/>
          <a:lstStyle/>
          <a:p/>
        </p:txBody>
      </p:sp>
      <p:sp>
        <p:nvSpPr>
          <p:cNvPr id="27" name="Oval 26"/>
          <p:cNvSpPr/>
          <p:nvPr/>
        </p:nvSpPr>
        <p:spPr>
          <a:xfrm>
            <a:off x="10360152" y="1325880"/>
            <a:ext cx="411480" cy="411480"/>
          </a:xfrm>
          <a:prstGeom prst="ellipse">
            <a:avLst/>
          </a:prstGeom>
          <a:solidFill>
            <a:srgbClr val="E10514"/>
          </a:solidFill>
          <a:ln>
            <a:noFill/>
          </a:ln>
          <a:effectLst/>
        </p:spPr>
        <p:txBody>
          <a:bodyPr rtlCol="0" anchor="ctr"/>
          <a:lstStyle/>
          <a:p/>
        </p:txBody>
      </p:sp>
      <p:sp>
        <p:nvSpPr>
          <p:cNvPr id="28" name="TextBox 27"/>
          <p:cNvSpPr txBox="1"/>
          <p:nvPr/>
        </p:nvSpPr>
        <p:spPr>
          <a:xfrm>
            <a:off x="10360152" y="1325880"/>
            <a:ext cx="411480" cy="411480"/>
          </a:xfrm>
          <a:prstGeom prst="rect">
            <a:avLst/>
          </a:prstGeom>
          <a:noFill/>
        </p:spPr>
        <p:txBody>
          <a:bodyPr wrap="square" anchor="ctr" lIns="0" rIns="0" tIns="0" bIns="0">
            <a:spAutoFit/>
          </a:bodyPr>
          <a:lstStyle/>
          <a:p>
            <a:pPr algn="ctr">
              <a:spcAft>
                <a:spcPts val="400"/>
              </a:spcAft>
            </a:pPr>
            <a:r>
              <a:rPr sz="1400" b="1" i="0">
                <a:solidFill>
                  <a:srgbClr val="FFFFFF"/>
                </a:solidFill>
                <a:latin typeface="Calibri"/>
              </a:rPr>
              <a:t>5</a:t>
            </a:r>
          </a:p>
        </p:txBody>
      </p:sp>
      <p:sp>
        <p:nvSpPr>
          <p:cNvPr id="29" name="TextBox 28"/>
          <p:cNvSpPr txBox="1"/>
          <p:nvPr/>
        </p:nvSpPr>
        <p:spPr>
          <a:xfrm>
            <a:off x="10360152" y="1828800"/>
            <a:ext cx="1188720" cy="10972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Yeni talep bu sorunlardan habersiz planlanır</a:t>
            </a:r>
          </a:p>
        </p:txBody>
      </p:sp>
      <p:sp>
        <p:nvSpPr>
          <p:cNvPr id="30" name="TextBox 29"/>
          <p:cNvSpPr txBox="1"/>
          <p:nvPr/>
        </p:nvSpPr>
        <p:spPr>
          <a:xfrm>
            <a:off x="3931920" y="3108960"/>
            <a:ext cx="7772400" cy="548640"/>
          </a:xfrm>
          <a:prstGeom prst="rect">
            <a:avLst/>
          </a:prstGeom>
          <a:noFill/>
        </p:spPr>
        <p:txBody>
          <a:bodyPr wrap="square" anchor="t" lIns="0" rIns="0" tIns="0" bIns="0">
            <a:spAutoFit/>
          </a:bodyPr>
          <a:lstStyle/>
          <a:p>
            <a:pPr algn="l">
              <a:spcAft>
                <a:spcPts val="400"/>
              </a:spcAft>
            </a:pPr>
            <a:r>
              <a:rPr sz="1400" b="1" i="0">
                <a:solidFill>
                  <a:srgbClr val="B90F0A"/>
                </a:solidFill>
                <a:latin typeface="Calibri"/>
              </a:rPr>
              <a:t>Bedeli: </a:t>
            </a:r>
            <a:r>
              <a:rPr sz="1400" b="0" i="0">
                <a:solidFill>
                  <a:srgbClr val="B90F0A"/>
                </a:solidFill>
                <a:latin typeface="Calibri"/>
              </a:rPr>
              <a:t>işlem yapamayan müşteri · gereksiz çağrılar · aynı kurum sorunu için onlarca kayıt · veriden kopuk planlanan talepler</a:t>
            </a:r>
          </a:p>
        </p:txBody>
      </p:sp>
      <p:sp>
        <p:nvSpPr>
          <p:cNvPr id="31" name="Oval 30"/>
          <p:cNvSpPr/>
          <p:nvPr/>
        </p:nvSpPr>
        <p:spPr>
          <a:xfrm>
            <a:off x="3931920" y="3886200"/>
            <a:ext cx="548640" cy="548640"/>
          </a:xfrm>
          <a:prstGeom prst="ellipse">
            <a:avLst/>
          </a:prstGeom>
          <a:solidFill>
            <a:srgbClr val="91969B"/>
          </a:solidFill>
          <a:ln>
            <a:noFill/>
          </a:ln>
          <a:effectLst/>
        </p:spPr>
        <p:txBody>
          <a:bodyPr rtlCol="0" anchor="ctr"/>
          <a:lstStyle/>
          <a:p/>
        </p:txBody>
      </p:sp>
      <p:pic>
        <p:nvPicPr>
          <p:cNvPr id="32" name="Picture 31" descr="eye-w.png"/>
          <p:cNvPicPr>
            <a:picLocks noChangeAspect="1"/>
          </p:cNvPicPr>
          <p:nvPr/>
        </p:nvPicPr>
        <p:blipFill>
          <a:blip r:embed="rId4"/>
          <a:stretch>
            <a:fillRect/>
          </a:stretch>
        </p:blipFill>
        <p:spPr>
          <a:xfrm>
            <a:off x="4069080" y="4023360"/>
            <a:ext cx="274320" cy="274320"/>
          </a:xfrm>
          <a:prstGeom prst="rect">
            <a:avLst/>
          </a:prstGeom>
        </p:spPr>
      </p:pic>
      <p:sp>
        <p:nvSpPr>
          <p:cNvPr id="33" name="TextBox 32"/>
          <p:cNvSpPr txBox="1"/>
          <p:nvPr/>
        </p:nvSpPr>
        <p:spPr>
          <a:xfrm>
            <a:off x="3931920"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Hata mı kural mı belli değil</a:t>
            </a:r>
          </a:p>
          <a:p>
            <a:pPr algn="l">
              <a:spcAft>
                <a:spcPts val="400"/>
              </a:spcAft>
            </a:pPr>
            <a:r>
              <a:rPr sz="1400" b="0" i="0">
                <a:solidFill>
                  <a:srgbClr val="91969B"/>
                </a:solidFill>
                <a:latin typeface="Calibri"/>
              </a:rPr>
              <a:t>İş kuralı reddi ekranda teknik hatadan ayrılamıyor.</a:t>
            </a:r>
          </a:p>
        </p:txBody>
      </p:sp>
      <p:sp>
        <p:nvSpPr>
          <p:cNvPr id="34" name="Oval 33"/>
          <p:cNvSpPr/>
          <p:nvPr/>
        </p:nvSpPr>
        <p:spPr>
          <a:xfrm>
            <a:off x="6565392" y="3886200"/>
            <a:ext cx="548640" cy="548640"/>
          </a:xfrm>
          <a:prstGeom prst="ellipse">
            <a:avLst/>
          </a:prstGeom>
          <a:solidFill>
            <a:srgbClr val="91969B"/>
          </a:solidFill>
          <a:ln>
            <a:noFill/>
          </a:ln>
          <a:effectLst/>
        </p:spPr>
        <p:txBody>
          <a:bodyPr rtlCol="0" anchor="ctr"/>
          <a:lstStyle/>
          <a:p/>
        </p:txBody>
      </p:sp>
      <p:pic>
        <p:nvPicPr>
          <p:cNvPr id="35" name="Picture 34" descr="users-w.png"/>
          <p:cNvPicPr>
            <a:picLocks noChangeAspect="1"/>
          </p:cNvPicPr>
          <p:nvPr/>
        </p:nvPicPr>
        <p:blipFill>
          <a:blip r:embed="rId5"/>
          <a:stretch>
            <a:fillRect/>
          </a:stretch>
        </p:blipFill>
        <p:spPr>
          <a:xfrm>
            <a:off x="6702552" y="4023360"/>
            <a:ext cx="274320" cy="274320"/>
          </a:xfrm>
          <a:prstGeom prst="rect">
            <a:avLst/>
          </a:prstGeom>
        </p:spPr>
      </p:pic>
      <p:sp>
        <p:nvSpPr>
          <p:cNvPr id="36" name="TextBox 35"/>
          <p:cNvSpPr txBox="1"/>
          <p:nvPr/>
        </p:nvSpPr>
        <p:spPr>
          <a:xfrm>
            <a:off x="6565392"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Aynı sorun, onlarca çağrı</a:t>
            </a:r>
          </a:p>
          <a:p>
            <a:pPr algn="l">
              <a:spcAft>
                <a:spcPts val="400"/>
              </a:spcAft>
            </a:pPr>
            <a:r>
              <a:rPr sz="1400" b="0" i="0">
                <a:solidFill>
                  <a:srgbClr val="91969B"/>
                </a:solidFill>
                <a:latin typeface="Calibri"/>
              </a:rPr>
              <a:t>Kurum kaynaklı sorunda her arama ayrı kayıt; çözüm kişilerde.</a:t>
            </a:r>
          </a:p>
        </p:txBody>
      </p:sp>
      <p:sp>
        <p:nvSpPr>
          <p:cNvPr id="37" name="Oval 36"/>
          <p:cNvSpPr/>
          <p:nvPr/>
        </p:nvSpPr>
        <p:spPr>
          <a:xfrm>
            <a:off x="9198863" y="3886200"/>
            <a:ext cx="548640" cy="548640"/>
          </a:xfrm>
          <a:prstGeom prst="ellipse">
            <a:avLst/>
          </a:prstGeom>
          <a:solidFill>
            <a:srgbClr val="91969B"/>
          </a:solidFill>
          <a:ln>
            <a:noFill/>
          </a:ln>
          <a:effectLst/>
        </p:spPr>
        <p:txBody>
          <a:bodyPr rtlCol="0" anchor="ctr"/>
          <a:lstStyle/>
          <a:p/>
        </p:txBody>
      </p:sp>
      <p:pic>
        <p:nvPicPr>
          <p:cNvPr id="38" name="Picture 37" descr="unlink-w.png"/>
          <p:cNvPicPr>
            <a:picLocks noChangeAspect="1"/>
          </p:cNvPicPr>
          <p:nvPr/>
        </p:nvPicPr>
        <p:blipFill>
          <a:blip r:embed="rId6"/>
          <a:stretch>
            <a:fillRect/>
          </a:stretch>
        </p:blipFill>
        <p:spPr>
          <a:xfrm>
            <a:off x="9336024" y="4023360"/>
            <a:ext cx="274320" cy="274320"/>
          </a:xfrm>
          <a:prstGeom prst="rect">
            <a:avLst/>
          </a:prstGeom>
        </p:spPr>
      </p:pic>
      <p:sp>
        <p:nvSpPr>
          <p:cNvPr id="39" name="TextBox 38"/>
          <p:cNvSpPr txBox="1"/>
          <p:nvPr/>
        </p:nvSpPr>
        <p:spPr>
          <a:xfrm>
            <a:off x="9198863" y="4572000"/>
            <a:ext cx="2468880" cy="1371600"/>
          </a:xfrm>
          <a:prstGeom prst="rect">
            <a:avLst/>
          </a:prstGeom>
          <a:noFill/>
        </p:spPr>
        <p:txBody>
          <a:bodyPr wrap="square" anchor="t" lIns="0" rIns="0" tIns="0" bIns="0">
            <a:spAutoFit/>
          </a:bodyPr>
          <a:lstStyle/>
          <a:p>
            <a:pPr algn="l">
              <a:spcAft>
                <a:spcPts val="400"/>
              </a:spcAft>
            </a:pPr>
            <a:r>
              <a:rPr sz="1600" b="1" i="0">
                <a:solidFill>
                  <a:srgbClr val="1E1E1E"/>
                </a:solidFill>
                <a:latin typeface="Calibri"/>
              </a:rPr>
              <a:t>Talepler veriden kopuk</a:t>
            </a:r>
          </a:p>
          <a:p>
            <a:pPr algn="l">
              <a:spcAft>
                <a:spcPts val="400"/>
              </a:spcAft>
            </a:pPr>
            <a:r>
              <a:rPr sz="1400" b="0" i="0">
                <a:solidFill>
                  <a:srgbClr val="91969B"/>
                </a:solidFill>
                <a:latin typeface="Calibri"/>
              </a:rPr>
              <a:t>Efor toplantıda; erişim ve kapasite sorunları geç fark ediliyor.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Mercek: Sorundan Plana Tek Akış</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4</a:t>
            </a:r>
          </a:p>
        </p:txBody>
      </p:sp>
      <p:sp>
        <p:nvSpPr>
          <p:cNvPr id="6" name="TextBox 5"/>
          <p:cNvSpPr txBox="1"/>
          <p:nvPr/>
        </p:nvSpPr>
        <p:spPr>
          <a:xfrm>
            <a:off x="411480" y="1097280"/>
            <a:ext cx="11338560" cy="731520"/>
          </a:xfrm>
          <a:prstGeom prst="rect">
            <a:avLst/>
          </a:prstGeom>
          <a:noFill/>
        </p:spPr>
        <p:txBody>
          <a:bodyPr wrap="square" anchor="t" lIns="0" rIns="0" tIns="0" bIns="0">
            <a:spAutoFit/>
          </a:bodyPr>
          <a:lstStyle/>
          <a:p>
            <a:pPr algn="l">
              <a:spcAft>
                <a:spcPts val="400"/>
              </a:spcAft>
            </a:pPr>
            <a:r>
              <a:rPr sz="1800" b="0" i="0">
                <a:solidFill>
                  <a:srgbClr val="1E1E1E"/>
                </a:solidFill>
                <a:latin typeface="Calibri"/>
              </a:rPr>
              <a:t>Banka çalışanlarının ekranlarda yaşadığı sorunu loglardan, çağrı geçmişinden ve koddan açıklar; çağrıları doğru servise yönlendirip birleştirir ve iş birimi taleplerini servis bazlı efor ve takvimle plana dönüştürür.</a:t>
            </a:r>
          </a:p>
        </p:txBody>
      </p:sp>
      <p:sp>
        <p:nvSpPr>
          <p:cNvPr id="7" name="Rounded Rectangle 6"/>
          <p:cNvSpPr/>
          <p:nvPr/>
        </p:nvSpPr>
        <p:spPr>
          <a:xfrm>
            <a:off x="411480" y="2011680"/>
            <a:ext cx="5257800" cy="2971800"/>
          </a:xfrm>
          <a:prstGeom prst="roundRect">
            <a:avLst>
              <a:gd name="adj" fmla="val 6000"/>
            </a:avLst>
          </a:prstGeom>
          <a:solidFill>
            <a:srgbClr val="F2F5F6"/>
          </a:solidFill>
          <a:ln>
            <a:noFill/>
          </a:ln>
          <a:effectLst/>
        </p:spPr>
        <p:txBody>
          <a:bodyPr rtlCol="0" anchor="ctr"/>
          <a:lstStyle/>
          <a:p/>
        </p:txBody>
      </p:sp>
      <p:sp>
        <p:nvSpPr>
          <p:cNvPr id="8" name="Rounded Rectangle 7"/>
          <p:cNvSpPr/>
          <p:nvPr/>
        </p:nvSpPr>
        <p:spPr>
          <a:xfrm>
            <a:off x="411480" y="2011680"/>
            <a:ext cx="5257800" cy="777240"/>
          </a:xfrm>
          <a:prstGeom prst="roundRect">
            <a:avLst>
              <a:gd name="adj" fmla="val 12000"/>
            </a:avLst>
          </a:prstGeom>
          <a:solidFill>
            <a:srgbClr val="E10514"/>
          </a:solidFill>
          <a:ln>
            <a:noFill/>
          </a:ln>
          <a:effectLst/>
        </p:spPr>
        <p:txBody>
          <a:bodyPr rtlCol="0" anchor="ctr"/>
          <a:lstStyle/>
          <a:p/>
        </p:txBody>
      </p:sp>
      <p:sp>
        <p:nvSpPr>
          <p:cNvPr id="9" name="Oval 8"/>
          <p:cNvSpPr/>
          <p:nvPr/>
        </p:nvSpPr>
        <p:spPr>
          <a:xfrm>
            <a:off x="594360" y="2130552"/>
            <a:ext cx="548640" cy="548640"/>
          </a:xfrm>
          <a:prstGeom prst="ellipse">
            <a:avLst/>
          </a:prstGeom>
          <a:solidFill>
            <a:srgbClr val="870F00"/>
          </a:solidFill>
          <a:ln>
            <a:noFill/>
          </a:ln>
          <a:effectLst/>
        </p:spPr>
        <p:txBody>
          <a:bodyPr rtlCol="0" anchor="ctr"/>
          <a:lstStyle/>
          <a:p/>
        </p:txBody>
      </p:sp>
      <p:pic>
        <p:nvPicPr>
          <p:cNvPr id="10" name="Picture 9" descr="headset-w.png"/>
          <p:cNvPicPr>
            <a:picLocks noChangeAspect="1"/>
          </p:cNvPicPr>
          <p:nvPr/>
        </p:nvPicPr>
        <p:blipFill>
          <a:blip r:embed="rId3"/>
          <a:stretch>
            <a:fillRect/>
          </a:stretch>
        </p:blipFill>
        <p:spPr>
          <a:xfrm>
            <a:off x="731520" y="2267712"/>
            <a:ext cx="274320" cy="274320"/>
          </a:xfrm>
          <a:prstGeom prst="rect">
            <a:avLst/>
          </a:prstGeom>
        </p:spPr>
      </p:pic>
      <p:sp>
        <p:nvSpPr>
          <p:cNvPr id="11" name="TextBox 10"/>
          <p:cNvSpPr txBox="1"/>
          <p:nvPr/>
        </p:nvSpPr>
        <p:spPr>
          <a:xfrm>
            <a:off x="128016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Problem Çözüm ve Çağrı Yönetimi</a:t>
            </a:r>
          </a:p>
        </p:txBody>
      </p:sp>
      <p:sp>
        <p:nvSpPr>
          <p:cNvPr id="12" name="TextBox 11"/>
          <p:cNvSpPr txBox="1"/>
          <p:nvPr/>
        </p:nvSpPr>
        <p:spPr>
          <a:xfrm>
            <a:off x="68580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Ekran bağlamıyla logu bulur, iş kuralını hatadan ayırır</a:t>
            </a:r>
          </a:p>
          <a:p>
            <a:pPr algn="l" marL="228600" indent="-228600">
              <a:spcAft>
                <a:spcPts val="800"/>
              </a:spcAft>
              <a:buClr>
                <a:srgbClr val="E10514"/>
              </a:buClr>
              <a:buFont typeface="Arial"/>
              <a:buChar char="•"/>
            </a:pPr>
            <a:r>
              <a:rPr sz="1600" b="0" i="0">
                <a:solidFill>
                  <a:srgbClr val="1E1E1E"/>
                </a:solidFill>
                <a:latin typeface="Calibri"/>
              </a:rPr>
              <a:t>Çağrıyı servise atar, mükerrerleri ana kayda bağlar</a:t>
            </a:r>
          </a:p>
          <a:p>
            <a:pPr algn="l" marL="228600" indent="-228600">
              <a:spcAft>
                <a:spcPts val="800"/>
              </a:spcAft>
              <a:buClr>
                <a:srgbClr val="E10514"/>
              </a:buClr>
              <a:buFont typeface="Arial"/>
              <a:buChar char="•"/>
            </a:pPr>
            <a:r>
              <a:rPr sz="1600" b="0" i="0">
                <a:solidFill>
                  <a:srgbClr val="1E1E1E"/>
                </a:solidFill>
                <a:latin typeface="Calibri"/>
              </a:rPr>
              <a:t>Geçmiş çözümü bulur; yoksa duyuruya ve koda bakar</a:t>
            </a:r>
          </a:p>
        </p:txBody>
      </p:sp>
      <p:sp>
        <p:nvSpPr>
          <p:cNvPr id="13" name="Rounded Rectangle 12"/>
          <p:cNvSpPr/>
          <p:nvPr/>
        </p:nvSpPr>
        <p:spPr>
          <a:xfrm>
            <a:off x="6492240" y="2011680"/>
            <a:ext cx="5257800" cy="2971800"/>
          </a:xfrm>
          <a:prstGeom prst="roundRect">
            <a:avLst>
              <a:gd name="adj" fmla="val 6000"/>
            </a:avLst>
          </a:prstGeom>
          <a:solidFill>
            <a:srgbClr val="F2F5F6"/>
          </a:solidFill>
          <a:ln>
            <a:noFill/>
          </a:ln>
          <a:effectLst/>
        </p:spPr>
        <p:txBody>
          <a:bodyPr rtlCol="0" anchor="ctr"/>
          <a:lstStyle/>
          <a:p/>
        </p:txBody>
      </p:sp>
      <p:sp>
        <p:nvSpPr>
          <p:cNvPr id="14" name="Rounded Rectangle 13"/>
          <p:cNvSpPr/>
          <p:nvPr/>
        </p:nvSpPr>
        <p:spPr>
          <a:xfrm>
            <a:off x="6492240" y="2011680"/>
            <a:ext cx="5257800" cy="777240"/>
          </a:xfrm>
          <a:prstGeom prst="roundRect">
            <a:avLst>
              <a:gd name="adj" fmla="val 12000"/>
            </a:avLst>
          </a:prstGeom>
          <a:solidFill>
            <a:srgbClr val="B90F0A"/>
          </a:solidFill>
          <a:ln>
            <a:noFill/>
          </a:ln>
          <a:effectLst/>
        </p:spPr>
        <p:txBody>
          <a:bodyPr rtlCol="0" anchor="ctr"/>
          <a:lstStyle/>
          <a:p/>
        </p:txBody>
      </p:sp>
      <p:sp>
        <p:nvSpPr>
          <p:cNvPr id="15" name="Oval 14"/>
          <p:cNvSpPr/>
          <p:nvPr/>
        </p:nvSpPr>
        <p:spPr>
          <a:xfrm>
            <a:off x="6675120" y="2130552"/>
            <a:ext cx="548640" cy="548640"/>
          </a:xfrm>
          <a:prstGeom prst="ellipse">
            <a:avLst/>
          </a:prstGeom>
          <a:solidFill>
            <a:srgbClr val="870F00"/>
          </a:solidFill>
          <a:ln>
            <a:noFill/>
          </a:ln>
          <a:effectLst/>
        </p:spPr>
        <p:txBody>
          <a:bodyPr rtlCol="0" anchor="ctr"/>
          <a:lstStyle/>
          <a:p/>
        </p:txBody>
      </p:sp>
      <p:pic>
        <p:nvPicPr>
          <p:cNvPr id="16" name="Picture 15" descr="clip-w.png"/>
          <p:cNvPicPr>
            <a:picLocks noChangeAspect="1"/>
          </p:cNvPicPr>
          <p:nvPr/>
        </p:nvPicPr>
        <p:blipFill>
          <a:blip r:embed="rId4"/>
          <a:stretch>
            <a:fillRect/>
          </a:stretch>
        </p:blipFill>
        <p:spPr>
          <a:xfrm>
            <a:off x="6812280" y="2267712"/>
            <a:ext cx="274320" cy="274320"/>
          </a:xfrm>
          <a:prstGeom prst="rect">
            <a:avLst/>
          </a:prstGeom>
        </p:spPr>
      </p:pic>
      <p:sp>
        <p:nvSpPr>
          <p:cNvPr id="17" name="TextBox 16"/>
          <p:cNvSpPr txBox="1"/>
          <p:nvPr/>
        </p:nvSpPr>
        <p:spPr>
          <a:xfrm>
            <a:off x="7360920" y="2011680"/>
            <a:ext cx="4251960" cy="777240"/>
          </a:xfrm>
          <a:prstGeom prst="rect">
            <a:avLst/>
          </a:prstGeom>
          <a:noFill/>
        </p:spPr>
        <p:txBody>
          <a:bodyPr wrap="square" anchor="ctr" lIns="0" rIns="0" tIns="0" bIns="0">
            <a:spAutoFit/>
          </a:bodyPr>
          <a:lstStyle/>
          <a:p>
            <a:pPr algn="l">
              <a:spcAft>
                <a:spcPts val="400"/>
              </a:spcAft>
            </a:pPr>
            <a:r>
              <a:rPr sz="1800" b="1" i="0">
                <a:solidFill>
                  <a:srgbClr val="FFFFFF"/>
                </a:solidFill>
                <a:latin typeface="Calibri"/>
              </a:rPr>
              <a:t>Akıllı Talep Analizi, Efor ve Takvim</a:t>
            </a:r>
          </a:p>
        </p:txBody>
      </p:sp>
      <p:sp>
        <p:nvSpPr>
          <p:cNvPr id="18" name="TextBox 17"/>
          <p:cNvSpPr txBox="1"/>
          <p:nvPr/>
        </p:nvSpPr>
        <p:spPr>
          <a:xfrm>
            <a:off x="6766560" y="3017520"/>
            <a:ext cx="4709160" cy="1828800"/>
          </a:xfrm>
          <a:prstGeom prst="rect">
            <a:avLst/>
          </a:prstGeom>
          <a:noFill/>
        </p:spPr>
        <p:txBody>
          <a:bodyPr wrap="square" anchor="t" lIns="0" rIns="0" tIns="0" bIns="0">
            <a:spAutoFit/>
          </a:bodyPr>
          <a:lstStyle/>
          <a:p>
            <a:pPr algn="l" marL="228600" indent="-228600">
              <a:spcAft>
                <a:spcPts val="800"/>
              </a:spcAft>
              <a:buClr>
                <a:srgbClr val="E10514"/>
              </a:buClr>
              <a:buFont typeface="Arial"/>
              <a:buChar char="•"/>
            </a:pPr>
            <a:r>
              <a:rPr sz="1600" b="0" i="0">
                <a:solidFill>
                  <a:srgbClr val="1E1E1E"/>
                </a:solidFill>
                <a:latin typeface="Calibri"/>
              </a:rPr>
              <a:t>Talebi bileşenlere ayırır, ekranları ve servisleri bulur</a:t>
            </a:r>
          </a:p>
          <a:p>
            <a:pPr algn="l" marL="228600" indent="-228600">
              <a:spcAft>
                <a:spcPts val="800"/>
              </a:spcAft>
              <a:buClr>
                <a:srgbClr val="E10514"/>
              </a:buClr>
              <a:buFont typeface="Arial"/>
              <a:buChar char="•"/>
            </a:pPr>
            <a:r>
              <a:rPr sz="1600" b="0" i="0">
                <a:solidFill>
                  <a:srgbClr val="1E1E1E"/>
                </a:solidFill>
                <a:latin typeface="Calibri"/>
              </a:rPr>
              <a:t>Benzer taleplerden adam-gün, servis takviminden plan</a:t>
            </a:r>
          </a:p>
          <a:p>
            <a:pPr algn="l" marL="228600" indent="-228600">
              <a:spcAft>
                <a:spcPts val="800"/>
              </a:spcAft>
              <a:buClr>
                <a:srgbClr val="E10514"/>
              </a:buClr>
              <a:buFont typeface="Arial"/>
              <a:buChar char="•"/>
            </a:pPr>
            <a:r>
              <a:rPr sz="1600" b="0" i="0">
                <a:solidFill>
                  <a:srgbClr val="1E1E1E"/>
                </a:solidFill>
                <a:latin typeface="Calibri"/>
              </a:rPr>
              <a:t>Çağrı ve müşteri verisiyle kapsamı düzeltir</a:t>
            </a:r>
          </a:p>
        </p:txBody>
      </p:sp>
      <p:sp>
        <p:nvSpPr>
          <p:cNvPr id="19" name="Rounded Rectangle 18"/>
          <p:cNvSpPr/>
          <p:nvPr/>
        </p:nvSpPr>
        <p:spPr>
          <a:xfrm>
            <a:off x="5733288" y="3017520"/>
            <a:ext cx="731520" cy="914400"/>
          </a:xfrm>
          <a:prstGeom prst="roundRect">
            <a:avLst>
              <a:gd name="adj" fmla="val 15000"/>
            </a:avLst>
          </a:prstGeom>
          <a:solidFill>
            <a:srgbClr val="870F00"/>
          </a:solidFill>
          <a:ln>
            <a:noFill/>
          </a:ln>
          <a:effectLst/>
        </p:spPr>
        <p:txBody>
          <a:bodyPr rtlCol="0" anchor="ctr"/>
          <a:lstStyle/>
          <a:p/>
        </p:txBody>
      </p:sp>
      <p:sp>
        <p:nvSpPr>
          <p:cNvPr id="20" name="TextBox 19"/>
          <p:cNvSpPr txBox="1"/>
          <p:nvPr/>
        </p:nvSpPr>
        <p:spPr>
          <a:xfrm>
            <a:off x="5733288" y="3017520"/>
            <a:ext cx="731520" cy="914400"/>
          </a:xfrm>
          <a:prstGeom prst="rect">
            <a:avLst/>
          </a:prstGeom>
          <a:noFill/>
        </p:spPr>
        <p:txBody>
          <a:bodyPr wrap="square" anchor="ctr" lIns="0" rIns="0" tIns="0" bIns="0">
            <a:spAutoFit/>
          </a:bodyPr>
          <a:lstStyle/>
          <a:p>
            <a:pPr algn="ctr">
              <a:spcAft>
                <a:spcPts val="0"/>
              </a:spcAft>
            </a:pPr>
            <a:r>
              <a:rPr sz="1100" b="1" i="0">
                <a:solidFill>
                  <a:srgbClr val="FFFFFF"/>
                </a:solidFill>
                <a:latin typeface="Calibri"/>
              </a:rPr>
              <a:t>veri</a:t>
            </a:r>
          </a:p>
          <a:p>
            <a:pPr algn="ctr">
              <a:spcAft>
                <a:spcPts val="0"/>
              </a:spcAft>
            </a:pPr>
            <a:r>
              <a:rPr sz="1100" b="1" i="0">
                <a:solidFill>
                  <a:srgbClr val="FFFFFF"/>
                </a:solidFill>
                <a:latin typeface="Calibri"/>
              </a:rPr>
              <a:t>→</a:t>
            </a:r>
          </a:p>
          <a:p>
            <a:pPr algn="ctr">
              <a:spcAft>
                <a:spcPts val="0"/>
              </a:spcAft>
            </a:pPr>
            <a:r>
              <a:rPr sz="1100" b="1" i="0">
                <a:solidFill>
                  <a:srgbClr val="FFFFFF"/>
                </a:solidFill>
                <a:latin typeface="Calibri"/>
              </a:rPr>
              <a:t>kapsam</a:t>
            </a:r>
          </a:p>
        </p:txBody>
      </p:sp>
      <p:sp>
        <p:nvSpPr>
          <p:cNvPr id="21" name="TextBox 20"/>
          <p:cNvSpPr txBox="1"/>
          <p:nvPr/>
        </p:nvSpPr>
        <p:spPr>
          <a:xfrm>
            <a:off x="411480" y="5257800"/>
            <a:ext cx="1645920" cy="502920"/>
          </a:xfrm>
          <a:prstGeom prst="rect">
            <a:avLst/>
          </a:prstGeom>
          <a:noFill/>
        </p:spPr>
        <p:txBody>
          <a:bodyPr wrap="square" anchor="ctr" lIns="0" rIns="0" tIns="0" bIns="0">
            <a:spAutoFit/>
          </a:bodyPr>
          <a:lstStyle/>
          <a:p>
            <a:pPr algn="l">
              <a:spcAft>
                <a:spcPts val="400"/>
              </a:spcAft>
            </a:pPr>
            <a:r>
              <a:rPr sz="1600" b="1" i="0">
                <a:solidFill>
                  <a:srgbClr val="1E1E1E"/>
                </a:solidFill>
                <a:latin typeface="Calibri"/>
              </a:rPr>
              <a:t>Kullanıcılar</a:t>
            </a:r>
          </a:p>
        </p:txBody>
      </p:sp>
      <p:sp>
        <p:nvSpPr>
          <p:cNvPr id="22" name="Rounded Rectangle 21"/>
          <p:cNvSpPr/>
          <p:nvPr/>
        </p:nvSpPr>
        <p:spPr>
          <a:xfrm>
            <a:off x="2103120" y="5257800"/>
            <a:ext cx="2194560" cy="502920"/>
          </a:xfrm>
          <a:prstGeom prst="roundRect">
            <a:avLst>
              <a:gd name="adj" fmla="val 50000"/>
            </a:avLst>
          </a:prstGeom>
          <a:solidFill>
            <a:srgbClr val="D2DCE1"/>
          </a:solidFill>
          <a:ln>
            <a:noFill/>
          </a:ln>
          <a:effectLst/>
        </p:spPr>
        <p:txBody>
          <a:bodyPr rtlCol="0" anchor="ctr"/>
          <a:lstStyle/>
          <a:p/>
        </p:txBody>
      </p:sp>
      <p:sp>
        <p:nvSpPr>
          <p:cNvPr id="23" name="TextBox 22"/>
          <p:cNvSpPr txBox="1"/>
          <p:nvPr/>
        </p:nvSpPr>
        <p:spPr>
          <a:xfrm>
            <a:off x="210312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Şube, çağrı merkezi</a:t>
            </a:r>
          </a:p>
        </p:txBody>
      </p:sp>
      <p:sp>
        <p:nvSpPr>
          <p:cNvPr id="24" name="Rounded Rectangle 23"/>
          <p:cNvSpPr/>
          <p:nvPr/>
        </p:nvSpPr>
        <p:spPr>
          <a:xfrm>
            <a:off x="4480560" y="5257800"/>
            <a:ext cx="2194560" cy="502920"/>
          </a:xfrm>
          <a:prstGeom prst="roundRect">
            <a:avLst>
              <a:gd name="adj" fmla="val 50000"/>
            </a:avLst>
          </a:prstGeom>
          <a:solidFill>
            <a:srgbClr val="D2DCE1"/>
          </a:solidFill>
          <a:ln>
            <a:noFill/>
          </a:ln>
          <a:effectLst/>
        </p:spPr>
        <p:txBody>
          <a:bodyPr rtlCol="0" anchor="ctr"/>
          <a:lstStyle/>
          <a:p/>
        </p:txBody>
      </p:sp>
      <p:sp>
        <p:nvSpPr>
          <p:cNvPr id="25" name="TextBox 24"/>
          <p:cNvSpPr txBox="1"/>
          <p:nvPr/>
        </p:nvSpPr>
        <p:spPr>
          <a:xfrm>
            <a:off x="448056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L2, platform</a:t>
            </a:r>
          </a:p>
        </p:txBody>
      </p:sp>
      <p:sp>
        <p:nvSpPr>
          <p:cNvPr id="26" name="Rounded Rectangle 25"/>
          <p:cNvSpPr/>
          <p:nvPr/>
        </p:nvSpPr>
        <p:spPr>
          <a:xfrm>
            <a:off x="6858000" y="5257800"/>
            <a:ext cx="2194560" cy="502920"/>
          </a:xfrm>
          <a:prstGeom prst="roundRect">
            <a:avLst>
              <a:gd name="adj" fmla="val 50000"/>
            </a:avLst>
          </a:prstGeom>
          <a:solidFill>
            <a:srgbClr val="D2DCE1"/>
          </a:solidFill>
          <a:ln>
            <a:noFill/>
          </a:ln>
          <a:effectLst/>
        </p:spPr>
        <p:txBody>
          <a:bodyPr rtlCol="0" anchor="ctr"/>
          <a:lstStyle/>
          <a:p/>
        </p:txBody>
      </p:sp>
      <p:sp>
        <p:nvSpPr>
          <p:cNvPr id="27" name="TextBox 26"/>
          <p:cNvSpPr txBox="1"/>
          <p:nvPr/>
        </p:nvSpPr>
        <p:spPr>
          <a:xfrm>
            <a:off x="685800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birimleri</a:t>
            </a:r>
          </a:p>
        </p:txBody>
      </p:sp>
      <p:sp>
        <p:nvSpPr>
          <p:cNvPr id="28" name="Rounded Rectangle 27"/>
          <p:cNvSpPr/>
          <p:nvPr/>
        </p:nvSpPr>
        <p:spPr>
          <a:xfrm>
            <a:off x="9235440" y="5257800"/>
            <a:ext cx="2194560" cy="502920"/>
          </a:xfrm>
          <a:prstGeom prst="roundRect">
            <a:avLst>
              <a:gd name="adj" fmla="val 50000"/>
            </a:avLst>
          </a:prstGeom>
          <a:solidFill>
            <a:srgbClr val="D2DCE1"/>
          </a:solidFill>
          <a:ln>
            <a:noFill/>
          </a:ln>
          <a:effectLst/>
        </p:spPr>
        <p:txBody>
          <a:bodyPr rtlCol="0" anchor="ctr"/>
          <a:lstStyle/>
          <a:p/>
        </p:txBody>
      </p:sp>
      <p:sp>
        <p:nvSpPr>
          <p:cNvPr id="29" name="TextBox 28"/>
          <p:cNvSpPr txBox="1"/>
          <p:nvPr/>
        </p:nvSpPr>
        <p:spPr>
          <a:xfrm>
            <a:off x="9235440" y="5257800"/>
            <a:ext cx="2194560" cy="502920"/>
          </a:xfrm>
          <a:prstGeom prst="rect">
            <a:avLst/>
          </a:prstGeom>
          <a:noFill/>
        </p:spPr>
        <p:txBody>
          <a:bodyPr wrap="square" anchor="ctr" lIns="0" rIns="0" tIns="0" bIns="0">
            <a:spAutoFit/>
          </a:bodyPr>
          <a:lstStyle/>
          <a:p>
            <a:pPr algn="ctr">
              <a:spcAft>
                <a:spcPts val="400"/>
              </a:spcAft>
            </a:pPr>
            <a:r>
              <a:rPr sz="1400" b="1" i="0">
                <a:solidFill>
                  <a:srgbClr val="1E1E1E"/>
                </a:solidFill>
                <a:latin typeface="Calibri"/>
              </a:rPr>
              <a:t>İş analisti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Dört Farkımız</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55448" y="658368"/>
            <a:ext cx="11430000" cy="365760"/>
          </a:xfrm>
          <a:prstGeom prst="rect">
            <a:avLst/>
          </a:prstGeom>
          <a:noFill/>
        </p:spPr>
        <p:txBody>
          <a:bodyPr wrap="square" anchor="t" lIns="0" rIns="0" tIns="0" bIns="0">
            <a:spAutoFit/>
          </a:bodyPr>
          <a:lstStyle/>
          <a:p>
            <a:pPr algn="l">
              <a:spcAft>
                <a:spcPts val="400"/>
              </a:spcAft>
            </a:pPr>
            <a:r>
              <a:rPr sz="1600" b="0" i="0">
                <a:solidFill>
                  <a:srgbClr val="91969B"/>
                </a:solidFill>
                <a:latin typeface="Calibri"/>
              </a:rPr>
              <a:t>Bugünkü araçlar sorunu kaydeder; Mercek açıklar, kaynağına bağlar ve eyleme dönüştürür.</a:t>
            </a:r>
          </a:p>
        </p:txBody>
      </p:sp>
      <p:sp>
        <p:nvSpPr>
          <p:cNvPr id="6" name="TextBox 5"/>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5</a:t>
            </a:r>
          </a:p>
        </p:txBody>
      </p:sp>
      <p:sp>
        <p:nvSpPr>
          <p:cNvPr id="7" name="Rounded Rectangle 6"/>
          <p:cNvSpPr/>
          <p:nvPr/>
        </p:nvSpPr>
        <p:spPr>
          <a:xfrm>
            <a:off x="411480" y="1280160"/>
            <a:ext cx="5532120" cy="2148840"/>
          </a:xfrm>
          <a:prstGeom prst="roundRect">
            <a:avLst>
              <a:gd name="adj" fmla="val 6000"/>
            </a:avLst>
          </a:prstGeom>
          <a:solidFill>
            <a:srgbClr val="F2F5F6"/>
          </a:solidFill>
          <a:ln>
            <a:noFill/>
          </a:ln>
          <a:effectLst/>
        </p:spPr>
        <p:txBody>
          <a:bodyPr rtlCol="0" anchor="ctr"/>
          <a:lstStyle/>
          <a:p/>
        </p:txBody>
      </p:sp>
      <p:sp>
        <p:nvSpPr>
          <p:cNvPr id="8" name="Oval 7"/>
          <p:cNvSpPr/>
          <p:nvPr/>
        </p:nvSpPr>
        <p:spPr>
          <a:xfrm>
            <a:off x="731520" y="1645919"/>
            <a:ext cx="777240" cy="777240"/>
          </a:xfrm>
          <a:prstGeom prst="ellipse">
            <a:avLst/>
          </a:prstGeom>
          <a:solidFill>
            <a:srgbClr val="E10514"/>
          </a:solidFill>
          <a:ln>
            <a:noFill/>
          </a:ln>
          <a:effectLst/>
        </p:spPr>
        <p:txBody>
          <a:bodyPr rtlCol="0" anchor="ctr"/>
          <a:lstStyle/>
          <a:p/>
        </p:txBody>
      </p:sp>
      <p:pic>
        <p:nvPicPr>
          <p:cNvPr id="9" name="Picture 8" descr="bolt-w.png"/>
          <p:cNvPicPr>
            <a:picLocks noChangeAspect="1"/>
          </p:cNvPicPr>
          <p:nvPr/>
        </p:nvPicPr>
        <p:blipFill>
          <a:blip r:embed="rId3"/>
          <a:stretch>
            <a:fillRect/>
          </a:stretch>
        </p:blipFill>
        <p:spPr>
          <a:xfrm>
            <a:off x="925830" y="1840229"/>
            <a:ext cx="388620" cy="388620"/>
          </a:xfrm>
          <a:prstGeom prst="rect">
            <a:avLst/>
          </a:prstGeom>
        </p:spPr>
      </p:pic>
      <p:sp>
        <p:nvSpPr>
          <p:cNvPr id="10" name="TextBox 9"/>
          <p:cNvSpPr txBox="1"/>
          <p:nvPr/>
        </p:nvSpPr>
        <p:spPr>
          <a:xfrm>
            <a:off x="178308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Bağlamı bilir</a:t>
            </a:r>
          </a:p>
          <a:p>
            <a:pPr algn="l">
              <a:spcAft>
                <a:spcPts val="600"/>
              </a:spcAft>
            </a:pPr>
            <a:r>
              <a:rPr sz="1600" b="0" i="0">
                <a:solidFill>
                  <a:srgbClr val="1E1E1E"/>
                </a:solidFill>
                <a:latin typeface="Calibri"/>
              </a:rPr>
              <a:t>Kullanıcının görevini ve kendi logunu bilir; ekran adı söylenmese de belirtiden hatayı anlamca bulur.</a:t>
            </a:r>
          </a:p>
        </p:txBody>
      </p:sp>
      <p:sp>
        <p:nvSpPr>
          <p:cNvPr id="11" name="Rounded Rectangle 10"/>
          <p:cNvSpPr/>
          <p:nvPr/>
        </p:nvSpPr>
        <p:spPr>
          <a:xfrm>
            <a:off x="6172200" y="1280160"/>
            <a:ext cx="5532120" cy="2148840"/>
          </a:xfrm>
          <a:prstGeom prst="roundRect">
            <a:avLst>
              <a:gd name="adj" fmla="val 6000"/>
            </a:avLst>
          </a:prstGeom>
          <a:solidFill>
            <a:srgbClr val="F2F5F6"/>
          </a:solidFill>
          <a:ln>
            <a:noFill/>
          </a:ln>
          <a:effectLst/>
        </p:spPr>
        <p:txBody>
          <a:bodyPr rtlCol="0" anchor="ctr"/>
          <a:lstStyle/>
          <a:p/>
        </p:txBody>
      </p:sp>
      <p:sp>
        <p:nvSpPr>
          <p:cNvPr id="12" name="Oval 11"/>
          <p:cNvSpPr/>
          <p:nvPr/>
        </p:nvSpPr>
        <p:spPr>
          <a:xfrm>
            <a:off x="6492240" y="1645919"/>
            <a:ext cx="777240" cy="777240"/>
          </a:xfrm>
          <a:prstGeom prst="ellipse">
            <a:avLst/>
          </a:prstGeom>
          <a:solidFill>
            <a:srgbClr val="B90F0A"/>
          </a:solidFill>
          <a:ln>
            <a:noFill/>
          </a:ln>
          <a:effectLst/>
        </p:spPr>
        <p:txBody>
          <a:bodyPr rtlCol="0" anchor="ctr"/>
          <a:lstStyle/>
          <a:p/>
        </p:txBody>
      </p:sp>
      <p:pic>
        <p:nvPicPr>
          <p:cNvPr id="13" name="Picture 12" descr="code-w.png"/>
          <p:cNvPicPr>
            <a:picLocks noChangeAspect="1"/>
          </p:cNvPicPr>
          <p:nvPr/>
        </p:nvPicPr>
        <p:blipFill>
          <a:blip r:embed="rId4"/>
          <a:stretch>
            <a:fillRect/>
          </a:stretch>
        </p:blipFill>
        <p:spPr>
          <a:xfrm>
            <a:off x="6686550" y="1840229"/>
            <a:ext cx="388620" cy="388620"/>
          </a:xfrm>
          <a:prstGeom prst="rect">
            <a:avLst/>
          </a:prstGeom>
        </p:spPr>
      </p:pic>
      <p:sp>
        <p:nvSpPr>
          <p:cNvPr id="14" name="TextBox 13"/>
          <p:cNvSpPr txBox="1"/>
          <p:nvPr/>
        </p:nvSpPr>
        <p:spPr>
          <a:xfrm>
            <a:off x="7543800" y="1600200"/>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Dört kaynağı birleştirir</a:t>
            </a:r>
          </a:p>
          <a:p>
            <a:pPr algn="l">
              <a:spcAft>
                <a:spcPts val="600"/>
              </a:spcAft>
            </a:pPr>
            <a:r>
              <a:rPr sz="1600" b="0" i="0">
                <a:solidFill>
                  <a:srgbClr val="1E1E1E"/>
                </a:solidFill>
                <a:latin typeface="Calibri"/>
              </a:rPr>
              <a:t>Log (ne oluyor), geçmiş çağrı (nasıl çözüldü), hata türü ve hazır çözüm araması tek cevapta.</a:t>
            </a:r>
          </a:p>
        </p:txBody>
      </p:sp>
      <p:sp>
        <p:nvSpPr>
          <p:cNvPr id="15" name="Rounded Rectangle 14"/>
          <p:cNvSpPr/>
          <p:nvPr/>
        </p:nvSpPr>
        <p:spPr>
          <a:xfrm>
            <a:off x="411480" y="3657600"/>
            <a:ext cx="5532120" cy="2148840"/>
          </a:xfrm>
          <a:prstGeom prst="roundRect">
            <a:avLst>
              <a:gd name="adj" fmla="val 6000"/>
            </a:avLst>
          </a:prstGeom>
          <a:solidFill>
            <a:srgbClr val="F2F5F6"/>
          </a:solidFill>
          <a:ln>
            <a:noFill/>
          </a:ln>
          <a:effectLst/>
        </p:spPr>
        <p:txBody>
          <a:bodyPr rtlCol="0" anchor="ctr"/>
          <a:lstStyle/>
          <a:p/>
        </p:txBody>
      </p:sp>
      <p:sp>
        <p:nvSpPr>
          <p:cNvPr id="16" name="Oval 15"/>
          <p:cNvSpPr/>
          <p:nvPr/>
        </p:nvSpPr>
        <p:spPr>
          <a:xfrm>
            <a:off x="731520" y="4023360"/>
            <a:ext cx="777240" cy="777240"/>
          </a:xfrm>
          <a:prstGeom prst="ellipse">
            <a:avLst/>
          </a:prstGeom>
          <a:solidFill>
            <a:srgbClr val="870F00"/>
          </a:solidFill>
          <a:ln>
            <a:noFill/>
          </a:ln>
          <a:effectLst/>
        </p:spPr>
        <p:txBody>
          <a:bodyPr rtlCol="0" anchor="ctr"/>
          <a:lstStyle/>
          <a:p/>
        </p:txBody>
      </p:sp>
      <p:pic>
        <p:nvPicPr>
          <p:cNvPr id="17" name="Picture 16" descr="sync-w.png"/>
          <p:cNvPicPr>
            <a:picLocks noChangeAspect="1"/>
          </p:cNvPicPr>
          <p:nvPr/>
        </p:nvPicPr>
        <p:blipFill>
          <a:blip r:embed="rId5"/>
          <a:stretch>
            <a:fillRect/>
          </a:stretch>
        </p:blipFill>
        <p:spPr>
          <a:xfrm>
            <a:off x="925830" y="4217670"/>
            <a:ext cx="388620" cy="388620"/>
          </a:xfrm>
          <a:prstGeom prst="rect">
            <a:avLst/>
          </a:prstGeom>
        </p:spPr>
      </p:pic>
      <p:sp>
        <p:nvSpPr>
          <p:cNvPr id="18" name="TextBox 17"/>
          <p:cNvSpPr txBox="1"/>
          <p:nvPr/>
        </p:nvSpPr>
        <p:spPr>
          <a:xfrm>
            <a:off x="178308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Sorundan eyleme</a:t>
            </a:r>
          </a:p>
          <a:p>
            <a:pPr algn="l">
              <a:spcAft>
                <a:spcPts val="600"/>
              </a:spcAft>
            </a:pPr>
            <a:r>
              <a:rPr sz="1600" b="0" i="0">
                <a:solidFill>
                  <a:srgbClr val="1E1E1E"/>
                </a:solidFill>
                <a:latin typeface="Calibri"/>
              </a:rPr>
              <a:t>Çözümün ekran akışını açar; L2 ekibine etkilenen müşteri listesini KVKK uyumlu verir.</a:t>
            </a:r>
          </a:p>
        </p:txBody>
      </p:sp>
      <p:sp>
        <p:nvSpPr>
          <p:cNvPr id="19" name="Rounded Rectangle 18"/>
          <p:cNvSpPr/>
          <p:nvPr/>
        </p:nvSpPr>
        <p:spPr>
          <a:xfrm>
            <a:off x="6172200" y="3657600"/>
            <a:ext cx="5532120" cy="2148840"/>
          </a:xfrm>
          <a:prstGeom prst="roundRect">
            <a:avLst>
              <a:gd name="adj" fmla="val 6000"/>
            </a:avLst>
          </a:prstGeom>
          <a:solidFill>
            <a:srgbClr val="F2F5F6"/>
          </a:solidFill>
          <a:ln>
            <a:noFill/>
          </a:ln>
          <a:effectLst/>
        </p:spPr>
        <p:txBody>
          <a:bodyPr rtlCol="0" anchor="ctr"/>
          <a:lstStyle/>
          <a:p/>
        </p:txBody>
      </p:sp>
      <p:sp>
        <p:nvSpPr>
          <p:cNvPr id="20" name="Oval 19"/>
          <p:cNvSpPr/>
          <p:nvPr/>
        </p:nvSpPr>
        <p:spPr>
          <a:xfrm>
            <a:off x="6492240" y="4023360"/>
            <a:ext cx="777240" cy="777240"/>
          </a:xfrm>
          <a:prstGeom prst="ellipse">
            <a:avLst/>
          </a:prstGeom>
          <a:solidFill>
            <a:srgbClr val="91969B"/>
          </a:solidFill>
          <a:ln>
            <a:noFill/>
          </a:ln>
          <a:effectLst/>
        </p:spPr>
        <p:txBody>
          <a:bodyPr rtlCol="0" anchor="ctr"/>
          <a:lstStyle/>
          <a:p/>
        </p:txBody>
      </p:sp>
      <p:pic>
        <p:nvPicPr>
          <p:cNvPr id="21" name="Picture 20" descr="shield-w.png"/>
          <p:cNvPicPr>
            <a:picLocks noChangeAspect="1"/>
          </p:cNvPicPr>
          <p:nvPr/>
        </p:nvPicPr>
        <p:blipFill>
          <a:blip r:embed="rId6"/>
          <a:stretch>
            <a:fillRect/>
          </a:stretch>
        </p:blipFill>
        <p:spPr>
          <a:xfrm>
            <a:off x="6686550" y="4217670"/>
            <a:ext cx="388620" cy="388620"/>
          </a:xfrm>
          <a:prstGeom prst="rect">
            <a:avLst/>
          </a:prstGeom>
        </p:spPr>
      </p:pic>
      <p:sp>
        <p:nvSpPr>
          <p:cNvPr id="22" name="TextBox 21"/>
          <p:cNvSpPr txBox="1"/>
          <p:nvPr/>
        </p:nvSpPr>
        <p:spPr>
          <a:xfrm>
            <a:off x="7543800" y="3977639"/>
            <a:ext cx="3886200" cy="1691640"/>
          </a:xfrm>
          <a:prstGeom prst="rect">
            <a:avLst/>
          </a:prstGeom>
          <a:noFill/>
        </p:spPr>
        <p:txBody>
          <a:bodyPr wrap="square" anchor="t" lIns="0" rIns="0" tIns="0" bIns="0">
            <a:spAutoFit/>
          </a:bodyPr>
          <a:lstStyle/>
          <a:p>
            <a:pPr algn="l">
              <a:spcAft>
                <a:spcPts val="600"/>
              </a:spcAft>
            </a:pPr>
            <a:r>
              <a:rPr sz="2000" b="1" i="0">
                <a:solidFill>
                  <a:srgbClr val="1E1E1E"/>
                </a:solidFill>
                <a:latin typeface="Calibri"/>
              </a:rPr>
              <a:t>Güvenilir AI</a:t>
            </a:r>
          </a:p>
          <a:p>
            <a:pPr algn="l">
              <a:spcAft>
                <a:spcPts val="600"/>
              </a:spcAft>
            </a:pPr>
            <a:r>
              <a:rPr sz="1600" b="0" i="0">
                <a:solidFill>
                  <a:srgbClr val="1E1E1E"/>
                </a:solidFill>
                <a:latin typeface="Calibri"/>
              </a:rPr>
              <a:t>Hesabı kod yapar, AI açıklar. %75 eşiğin altında öneri yok; her rakam araçtan gelir.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Mimari: Foundry Agent + Hibrit RAG</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6</a:t>
            </a:r>
          </a:p>
        </p:txBody>
      </p:sp>
      <p:sp>
        <p:nvSpPr>
          <p:cNvPr id="6" name="Rounded Rectangle 5"/>
          <p:cNvSpPr/>
          <p:nvPr/>
        </p:nvSpPr>
        <p:spPr>
          <a:xfrm>
            <a:off x="411480" y="2148840"/>
            <a:ext cx="1463040" cy="237744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484632" y="2194560"/>
            <a:ext cx="1316736" cy="2286000"/>
          </a:xfrm>
          <a:prstGeom prst="rect">
            <a:avLst/>
          </a:prstGeom>
          <a:noFill/>
        </p:spPr>
        <p:txBody>
          <a:bodyPr wrap="square" anchor="ctr" lIns="0" rIns="0" tIns="0" bIns="0">
            <a:spAutoFit/>
          </a:bodyPr>
          <a:lstStyle/>
          <a:p>
            <a:pPr algn="ctr">
              <a:spcAft>
                <a:spcPts val="200"/>
              </a:spcAft>
            </a:pPr>
            <a:r>
              <a:rPr sz="1500" b="1" i="0">
                <a:solidFill>
                  <a:srgbClr val="1E1E1E"/>
                </a:solidFill>
                <a:latin typeface="Calibri"/>
              </a:rPr>
              <a:t>Kullanıcılar</a:t>
            </a:r>
          </a:p>
          <a:p>
            <a:pPr algn="ctr">
              <a:spcAft>
                <a:spcPts val="200"/>
              </a:spcAft>
            </a:pPr>
            <a:r>
              <a:rPr sz="1200" b="0" i="0">
                <a:solidFill>
                  <a:srgbClr val="1E1E1E"/>
                </a:solidFill>
                <a:latin typeface="Calibri"/>
              </a:rPr>
              <a:t>Şube
Çağrı merkezi
L2 destek</a:t>
            </a:r>
          </a:p>
        </p:txBody>
      </p:sp>
      <p:sp>
        <p:nvSpPr>
          <p:cNvPr id="8" name="Rounded Rectangle 7"/>
          <p:cNvSpPr/>
          <p:nvPr/>
        </p:nvSpPr>
        <p:spPr>
          <a:xfrm>
            <a:off x="2103120" y="1234440"/>
            <a:ext cx="2103120" cy="1600200"/>
          </a:xfrm>
          <a:prstGeom prst="roundRect">
            <a:avLst>
              <a:gd name="adj" fmla="val 6000"/>
            </a:avLst>
          </a:prstGeom>
          <a:solidFill>
            <a:srgbClr val="E10514"/>
          </a:solidFill>
          <a:ln>
            <a:noFill/>
          </a:ln>
          <a:effectLst/>
        </p:spPr>
        <p:txBody>
          <a:bodyPr rtlCol="0" anchor="ctr"/>
          <a:lstStyle/>
          <a:p/>
        </p:txBody>
      </p:sp>
      <p:sp>
        <p:nvSpPr>
          <p:cNvPr id="9" name="TextBox 8"/>
          <p:cNvSpPr txBox="1"/>
          <p:nvPr/>
        </p:nvSpPr>
        <p:spPr>
          <a:xfrm>
            <a:off x="2176272" y="1280160"/>
            <a:ext cx="1956815"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web</a:t>
            </a:r>
          </a:p>
          <a:p>
            <a:pPr algn="ctr">
              <a:spcAft>
                <a:spcPts val="200"/>
              </a:spcAft>
            </a:pPr>
            <a:r>
              <a:rPr sz="1200" b="0" i="0">
                <a:solidFill>
                  <a:srgbClr val="FFFFFF"/>
                </a:solidFill>
                <a:latin typeface="Calibri"/>
              </a:rPr>
              <a:t>Next.js 16
sohbet · Akışı izle
L2 müşteri tablosu</a:t>
            </a:r>
          </a:p>
        </p:txBody>
      </p:sp>
      <p:sp>
        <p:nvSpPr>
          <p:cNvPr id="10" name="Rounded Rectangle 9"/>
          <p:cNvSpPr/>
          <p:nvPr/>
        </p:nvSpPr>
        <p:spPr>
          <a:xfrm>
            <a:off x="2103120" y="3794760"/>
            <a:ext cx="2103120" cy="1600200"/>
          </a:xfrm>
          <a:prstGeom prst="roundRect">
            <a:avLst>
              <a:gd name="adj" fmla="val 6000"/>
            </a:avLst>
          </a:prstGeom>
          <a:solidFill>
            <a:srgbClr val="B90F0A"/>
          </a:solidFill>
          <a:ln>
            <a:noFill/>
          </a:ln>
          <a:effectLst/>
        </p:spPr>
        <p:txBody>
          <a:bodyPr rtlCol="0" anchor="ctr"/>
          <a:lstStyle/>
          <a:p/>
        </p:txBody>
      </p:sp>
      <p:sp>
        <p:nvSpPr>
          <p:cNvPr id="11" name="TextBox 10"/>
          <p:cNvSpPr txBox="1"/>
          <p:nvPr/>
        </p:nvSpPr>
        <p:spPr>
          <a:xfrm>
            <a:off x="2176272" y="3840480"/>
            <a:ext cx="1956815" cy="1508760"/>
          </a:xfrm>
          <a:prstGeom prst="rect">
            <a:avLst/>
          </a:prstGeom>
          <a:noFill/>
        </p:spPr>
        <p:txBody>
          <a:bodyPr wrap="square" anchor="ctr" lIns="0" rIns="0" tIns="0" bIns="0">
            <a:spAutoFit/>
          </a:bodyPr>
          <a:lstStyle/>
          <a:p>
            <a:pPr algn="ctr">
              <a:spcAft>
                <a:spcPts val="200"/>
              </a:spcAft>
            </a:pPr>
            <a:r>
              <a:rPr sz="1500" b="1" i="0">
                <a:solidFill>
                  <a:srgbClr val="FFFFFF"/>
                </a:solidFill>
                <a:latin typeface="Calibri"/>
              </a:rPr>
              <a:t>App Service · api</a:t>
            </a:r>
          </a:p>
          <a:p>
            <a:pPr algn="ctr">
              <a:spcAft>
                <a:spcPts val="200"/>
              </a:spcAft>
            </a:pPr>
            <a:r>
              <a:rPr sz="1200" b="0" i="0">
                <a:solidFill>
                  <a:srgbClr val="FFFFFF"/>
                </a:solidFill>
                <a:latin typeface="Calibri"/>
              </a:rPr>
              <a:t>FastAPI · araçları çalıştırır
hesap, eşik, yetki
KVKK, erişim kaydı</a:t>
            </a:r>
          </a:p>
        </p:txBody>
      </p:sp>
      <p:sp>
        <p:nvSpPr>
          <p:cNvPr id="12" name="Rounded Rectangle 11"/>
          <p:cNvSpPr/>
          <p:nvPr/>
        </p:nvSpPr>
        <p:spPr>
          <a:xfrm>
            <a:off x="4434840" y="1097280"/>
            <a:ext cx="3749039" cy="4343400"/>
          </a:xfrm>
          <a:prstGeom prst="roundRect">
            <a:avLst>
              <a:gd name="adj" fmla="val 6000"/>
            </a:avLst>
          </a:prstGeom>
          <a:solidFill>
            <a:srgbClr val="FFFFFF"/>
          </a:solidFill>
          <a:ln w="15875">
            <a:solidFill>
              <a:srgbClr val="E10514"/>
            </a:solidFill>
          </a:ln>
          <a:effectLst/>
        </p:spPr>
        <p:txBody>
          <a:bodyPr rtlCol="0" anchor="ctr"/>
          <a:lstStyle/>
          <a:p/>
        </p:txBody>
      </p:sp>
      <p:sp>
        <p:nvSpPr>
          <p:cNvPr id="13" name="TextBox 12"/>
          <p:cNvSpPr txBox="1"/>
          <p:nvPr/>
        </p:nvSpPr>
        <p:spPr>
          <a:xfrm>
            <a:off x="4572000" y="1133856"/>
            <a:ext cx="3474720" cy="365760"/>
          </a:xfrm>
          <a:prstGeom prst="rect">
            <a:avLst/>
          </a:prstGeom>
          <a:noFill/>
        </p:spPr>
        <p:txBody>
          <a:bodyPr wrap="square" anchor="ctr" lIns="0" rIns="0" tIns="0" bIns="0">
            <a:spAutoFit/>
          </a:bodyPr>
          <a:lstStyle/>
          <a:p>
            <a:pPr algn="l">
              <a:spcAft>
                <a:spcPts val="400"/>
              </a:spcAft>
            </a:pPr>
            <a:r>
              <a:rPr sz="1300" b="1" i="0">
                <a:solidFill>
                  <a:srgbClr val="E10514"/>
                </a:solidFill>
                <a:latin typeface="Calibri"/>
              </a:rPr>
              <a:t>AGENT + HİBRİT RAG  </a:t>
            </a:r>
            <a:r>
              <a:rPr sz="1100" b="0" i="0">
                <a:solidFill>
                  <a:srgbClr val="91969B"/>
                </a:solidFill>
                <a:latin typeface="Calibri"/>
              </a:rPr>
              <a:t>araç seçer · kod çalıştırır</a:t>
            </a:r>
          </a:p>
        </p:txBody>
      </p:sp>
      <p:sp>
        <p:nvSpPr>
          <p:cNvPr id="14" name="Rounded Rectangle 13"/>
          <p:cNvSpPr/>
          <p:nvPr/>
        </p:nvSpPr>
        <p:spPr>
          <a:xfrm>
            <a:off x="6903720" y="1554480"/>
            <a:ext cx="1143000" cy="2926080"/>
          </a:xfrm>
          <a:prstGeom prst="roundRect">
            <a:avLst>
              <a:gd name="adj" fmla="val 6000"/>
            </a:avLst>
          </a:prstGeom>
          <a:solidFill>
            <a:srgbClr val="E10514"/>
          </a:solidFill>
          <a:ln>
            <a:noFill/>
          </a:ln>
          <a:effectLst/>
        </p:spPr>
        <p:txBody>
          <a:bodyPr rtlCol="0" anchor="ctr"/>
          <a:lstStyle/>
          <a:p/>
        </p:txBody>
      </p:sp>
      <p:sp>
        <p:nvSpPr>
          <p:cNvPr id="15" name="TextBox 14"/>
          <p:cNvSpPr txBox="1"/>
          <p:nvPr/>
        </p:nvSpPr>
        <p:spPr>
          <a:xfrm>
            <a:off x="6976872" y="1600200"/>
            <a:ext cx="996696" cy="2834640"/>
          </a:xfrm>
          <a:prstGeom prst="rect">
            <a:avLst/>
          </a:prstGeom>
          <a:noFill/>
        </p:spPr>
        <p:txBody>
          <a:bodyPr wrap="square" anchor="ctr" lIns="0" rIns="0" tIns="0" bIns="0">
            <a:spAutoFit/>
          </a:bodyPr>
          <a:lstStyle/>
          <a:p>
            <a:pPr algn="ctr">
              <a:spcAft>
                <a:spcPts val="200"/>
              </a:spcAft>
            </a:pPr>
            <a:r>
              <a:rPr sz="1300" b="1" i="0">
                <a:solidFill>
                  <a:srgbClr val="FFFFFF"/>
                </a:solidFill>
                <a:latin typeface="Calibri"/>
              </a:rPr>
              <a:t>Foundry Agent</a:t>
            </a:r>
          </a:p>
          <a:p>
            <a:pPr algn="ctr">
              <a:spcAft>
                <a:spcPts val="200"/>
              </a:spcAft>
            </a:pPr>
            <a:r>
              <a:rPr sz="1100" b="0" i="0">
                <a:solidFill>
                  <a:srgbClr val="FFFFFF"/>
                </a:solidFill>
                <a:latin typeface="Calibri"/>
              </a:rPr>
              <a:t>mercek-cagri
gpt-5.5
4 araç
izleme:
App Insights</a:t>
            </a:r>
          </a:p>
        </p:txBody>
      </p:sp>
      <p:sp>
        <p:nvSpPr>
          <p:cNvPr id="16" name="Rounded Rectangle 15"/>
          <p:cNvSpPr/>
          <p:nvPr/>
        </p:nvSpPr>
        <p:spPr>
          <a:xfrm>
            <a:off x="4572000" y="1554480"/>
            <a:ext cx="2103120" cy="1463040"/>
          </a:xfrm>
          <a:prstGeom prst="roundRect">
            <a:avLst>
              <a:gd name="adj" fmla="val 6000"/>
            </a:avLst>
          </a:prstGeom>
          <a:solidFill>
            <a:srgbClr val="F2F5F6"/>
          </a:solidFill>
          <a:ln w="15875">
            <a:solidFill>
              <a:srgbClr val="E10514"/>
            </a:solidFill>
          </a:ln>
          <a:effectLst/>
        </p:spPr>
        <p:txBody>
          <a:bodyPr rtlCol="0" anchor="ctr"/>
          <a:lstStyle/>
          <a:p/>
        </p:txBody>
      </p:sp>
      <p:sp>
        <p:nvSpPr>
          <p:cNvPr id="17" name="TextBox 16"/>
          <p:cNvSpPr txBox="1"/>
          <p:nvPr/>
        </p:nvSpPr>
        <p:spPr>
          <a:xfrm>
            <a:off x="4645152" y="1600200"/>
            <a:ext cx="1956815" cy="1371600"/>
          </a:xfrm>
          <a:prstGeom prst="rect">
            <a:avLst/>
          </a:prstGeom>
          <a:noFill/>
        </p:spPr>
        <p:txBody>
          <a:bodyPr wrap="square" anchor="ctr" lIns="0" rIns="0" tIns="0" bIns="0">
            <a:spAutoFit/>
          </a:bodyPr>
          <a:lstStyle/>
          <a:p>
            <a:pPr algn="ctr">
              <a:spcAft>
                <a:spcPts val="200"/>
              </a:spcAft>
            </a:pPr>
            <a:r>
              <a:rPr sz="1400" b="1" i="0">
                <a:solidFill>
                  <a:srgbClr val="1E1E1E"/>
                </a:solidFill>
                <a:latin typeface="Calibri"/>
              </a:rPr>
              <a:t>Azure AI Search</a:t>
            </a:r>
          </a:p>
          <a:p>
            <a:pPr algn="ctr">
              <a:spcAft>
                <a:spcPts val="200"/>
              </a:spcAft>
            </a:pPr>
            <a:r>
              <a:rPr sz="1100" b="0" i="0">
                <a:solidFill>
                  <a:srgbClr val="1E1E1E"/>
                </a:solidFill>
                <a:latin typeface="Calibri"/>
              </a:rPr>
              <a:t>hata türleri (107)
hazır çözüm + çağrı
notu (37) · %75 eşik</a:t>
            </a:r>
          </a:p>
        </p:txBody>
      </p:sp>
      <p:sp>
        <p:nvSpPr>
          <p:cNvPr id="18" name="Rounded Rectangle 17"/>
          <p:cNvSpPr/>
          <p:nvPr/>
        </p:nvSpPr>
        <p:spPr>
          <a:xfrm>
            <a:off x="4572000" y="3154680"/>
            <a:ext cx="2103120" cy="1325880"/>
          </a:xfrm>
          <a:prstGeom prst="roundRect">
            <a:avLst>
              <a:gd name="adj" fmla="val 6000"/>
            </a:avLst>
          </a:prstGeom>
          <a:solidFill>
            <a:srgbClr val="F2F5F6"/>
          </a:solidFill>
          <a:ln w="15875">
            <a:solidFill>
              <a:srgbClr val="B4BEC3"/>
            </a:solidFill>
          </a:ln>
          <a:effectLst/>
        </p:spPr>
        <p:txBody>
          <a:bodyPr rtlCol="0" anchor="ctr"/>
          <a:lstStyle/>
          <a:p/>
        </p:txBody>
      </p:sp>
      <p:sp>
        <p:nvSpPr>
          <p:cNvPr id="19" name="TextBox 18"/>
          <p:cNvSpPr txBox="1"/>
          <p:nvPr/>
        </p:nvSpPr>
        <p:spPr>
          <a:xfrm>
            <a:off x="4645152" y="3200400"/>
            <a:ext cx="1956815" cy="1234439"/>
          </a:xfrm>
          <a:prstGeom prst="rect">
            <a:avLst/>
          </a:prstGeom>
          <a:noFill/>
        </p:spPr>
        <p:txBody>
          <a:bodyPr wrap="square" anchor="ctr" lIns="0" rIns="0" tIns="0" bIns="0">
            <a:spAutoFit/>
          </a:bodyPr>
          <a:lstStyle/>
          <a:p>
            <a:pPr algn="ctr">
              <a:spcAft>
                <a:spcPts val="200"/>
              </a:spcAft>
            </a:pPr>
            <a:r>
              <a:rPr sz="1400" b="1" i="0">
                <a:solidFill>
                  <a:srgbClr val="1E1E1E"/>
                </a:solidFill>
                <a:latin typeface="Calibri"/>
              </a:rPr>
              <a:t>Azure SQL</a:t>
            </a:r>
          </a:p>
          <a:p>
            <a:pPr algn="ctr">
              <a:spcAft>
                <a:spcPts val="200"/>
              </a:spcAft>
            </a:pPr>
            <a:r>
              <a:rPr sz="1100" b="0" i="0">
                <a:solidFill>
                  <a:srgbClr val="1E1E1E"/>
                </a:solidFill>
                <a:latin typeface="Calibri"/>
              </a:rPr>
              <a:t>log · çağrı · müşteri
konuşma geçmişi
erişim kaydı</a:t>
            </a:r>
          </a:p>
        </p:txBody>
      </p:sp>
      <p:sp>
        <p:nvSpPr>
          <p:cNvPr id="20" name="TextBox 19"/>
          <p:cNvSpPr txBox="1"/>
          <p:nvPr/>
        </p:nvSpPr>
        <p:spPr>
          <a:xfrm>
            <a:off x="4572000" y="4572000"/>
            <a:ext cx="3474720" cy="822960"/>
          </a:xfrm>
          <a:prstGeom prst="rect">
            <a:avLst/>
          </a:prstGeom>
          <a:noFill/>
        </p:spPr>
        <p:txBody>
          <a:bodyPr wrap="square" anchor="ctr" lIns="0" rIns="0" tIns="0" bIns="0">
            <a:spAutoFit/>
          </a:bodyPr>
          <a:lstStyle/>
          <a:p>
            <a:pPr algn="l">
              <a:spcAft>
                <a:spcPts val="400"/>
              </a:spcAft>
            </a:pPr>
            <a:r>
              <a:rPr sz="1100" b="0" i="0">
                <a:solidFill>
                  <a:srgbClr val="1E1E1E"/>
                </a:solidFill>
                <a:latin typeface="Calibri"/>
              </a:rPr>
              <a:t>Agent hangi aracı çağıracağına karar verir; sorguyu backend çalıştırır. Rakam ve eşik koddan gelir, model yalnızca açıklar.</a:t>
            </a:r>
          </a:p>
        </p:txBody>
      </p:sp>
      <p:cxnSp>
        <p:nvCxnSpPr>
          <p:cNvPr id="21" name="Connector 20"/>
          <p:cNvCxnSpPr/>
          <p:nvPr/>
        </p:nvCxnSpPr>
        <p:spPr>
          <a:xfrm flipV="1">
            <a:off x="1874519" y="2057400"/>
            <a:ext cx="228601" cy="68580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154680" y="2834640"/>
            <a:ext cx="0" cy="96012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206240" y="2286000"/>
            <a:ext cx="365760" cy="2011680"/>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4206240" y="3813048"/>
            <a:ext cx="365760" cy="758952"/>
          </a:xfrm>
          <a:prstGeom prst="line">
            <a:avLst/>
          </a:prstGeom>
          <a:ln w="22225">
            <a:solidFill>
              <a:srgbClr val="91969B"/>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892040" y="2944368"/>
            <a:ext cx="1463040" cy="274320"/>
          </a:xfrm>
          <a:prstGeom prst="roundRect">
            <a:avLst>
              <a:gd name="adj" fmla="val 50000"/>
            </a:avLst>
          </a:prstGeom>
          <a:solidFill>
            <a:srgbClr val="870F00"/>
          </a:solidFill>
          <a:ln>
            <a:noFill/>
          </a:ln>
          <a:effectLst/>
        </p:spPr>
        <p:txBody>
          <a:bodyPr rtlCol="0" anchor="ctr"/>
          <a:lstStyle/>
          <a:p/>
        </p:txBody>
      </p:sp>
      <p:sp>
        <p:nvSpPr>
          <p:cNvPr id="26" name="TextBox 25"/>
          <p:cNvSpPr txBox="1"/>
          <p:nvPr/>
        </p:nvSpPr>
        <p:spPr>
          <a:xfrm>
            <a:off x="4892040" y="2944368"/>
            <a:ext cx="1463040" cy="274320"/>
          </a:xfrm>
          <a:prstGeom prst="rect">
            <a:avLst/>
          </a:prstGeom>
          <a:noFill/>
        </p:spPr>
        <p:txBody>
          <a:bodyPr wrap="square" anchor="ctr" lIns="0" rIns="0" tIns="0" bIns="0">
            <a:spAutoFit/>
          </a:bodyPr>
          <a:lstStyle/>
          <a:p>
            <a:pPr algn="ctr">
              <a:spcAft>
                <a:spcPts val="400"/>
              </a:spcAft>
            </a:pPr>
            <a:r>
              <a:rPr sz="1000" b="1" i="0">
                <a:solidFill>
                  <a:srgbClr val="FFFFFF"/>
                </a:solidFill>
                <a:latin typeface="Calibri"/>
              </a:rPr>
              <a:t>▲ indexer · 5 dk</a:t>
            </a:r>
          </a:p>
        </p:txBody>
      </p:sp>
      <p:sp>
        <p:nvSpPr>
          <p:cNvPr id="27" name="Rounded Rectangle 26"/>
          <p:cNvSpPr/>
          <p:nvPr/>
        </p:nvSpPr>
        <p:spPr>
          <a:xfrm>
            <a:off x="411480" y="5577840"/>
            <a:ext cx="7635240" cy="594360"/>
          </a:xfrm>
          <a:prstGeom prst="roundRect">
            <a:avLst>
              <a:gd name="adj" fmla="val 6000"/>
            </a:avLst>
          </a:prstGeom>
          <a:solidFill>
            <a:srgbClr val="F2F5F6"/>
          </a:solidFill>
          <a:ln>
            <a:noFill/>
          </a:ln>
          <a:effectLst/>
        </p:spPr>
        <p:txBody>
          <a:bodyPr rtlCol="0" anchor="ctr"/>
          <a:lstStyle/>
          <a:p/>
        </p:txBody>
      </p:sp>
      <p:pic>
        <p:nvPicPr>
          <p:cNvPr id="28" name="Picture 27" descr="shield-g.png"/>
          <p:cNvPicPr>
            <a:picLocks noChangeAspect="1"/>
          </p:cNvPicPr>
          <p:nvPr/>
        </p:nvPicPr>
        <p:blipFill>
          <a:blip r:embed="rId3"/>
          <a:stretch>
            <a:fillRect/>
          </a:stretch>
        </p:blipFill>
        <p:spPr>
          <a:xfrm>
            <a:off x="548640" y="5687568"/>
            <a:ext cx="384048" cy="384048"/>
          </a:xfrm>
          <a:prstGeom prst="rect">
            <a:avLst/>
          </a:prstGeom>
        </p:spPr>
      </p:pic>
      <p:sp>
        <p:nvSpPr>
          <p:cNvPr id="29" name="TextBox 28"/>
          <p:cNvSpPr txBox="1"/>
          <p:nvPr/>
        </p:nvSpPr>
        <p:spPr>
          <a:xfrm>
            <a:off x="1051560" y="5577840"/>
            <a:ext cx="6949440" cy="594360"/>
          </a:xfrm>
          <a:prstGeom prst="rect">
            <a:avLst/>
          </a:prstGeom>
          <a:noFill/>
        </p:spPr>
        <p:txBody>
          <a:bodyPr wrap="square" anchor="ctr" lIns="0" rIns="0" tIns="0" bIns="0">
            <a:spAutoFit/>
          </a:bodyPr>
          <a:lstStyle/>
          <a:p>
            <a:pPr algn="l">
              <a:spcAft>
                <a:spcPts val="400"/>
              </a:spcAft>
            </a:pPr>
            <a:r>
              <a:rPr sz="1200" b="1" i="0">
                <a:solidFill>
                  <a:srgbClr val="1E1E1E"/>
                </a:solidFill>
                <a:latin typeface="Calibri"/>
              </a:rPr>
              <a:t>Parolasız: </a:t>
            </a:r>
            <a:r>
              <a:rPr sz="1200" b="0" i="0">
                <a:solidFill>
                  <a:srgbClr val="1E1E1E"/>
                </a:solidFill>
                <a:latin typeface="Calibri"/>
              </a:rPr>
              <a:t>Managed Identity ile SQL, AI Search ve Foundry    </a:t>
            </a:r>
            <a:r>
              <a:rPr sz="1200" b="1" i="0">
                <a:solidFill>
                  <a:srgbClr val="1E1E1E"/>
                </a:solidFill>
                <a:latin typeface="Calibri"/>
              </a:rPr>
              <a:t>GHAS: </a:t>
            </a:r>
            <a:r>
              <a:rPr sz="1200" b="0" i="0">
                <a:solidFill>
                  <a:srgbClr val="1E1E1E"/>
                </a:solidFill>
                <a:latin typeface="Calibri"/>
              </a:rPr>
              <a:t>CodeQL · Dependabot · secret scanning</a:t>
            </a:r>
          </a:p>
        </p:txBody>
      </p:sp>
      <p:sp>
        <p:nvSpPr>
          <p:cNvPr id="30" name="Rounded Rectangle 29"/>
          <p:cNvSpPr/>
          <p:nvPr/>
        </p:nvSpPr>
        <p:spPr>
          <a:xfrm>
            <a:off x="8366760" y="1234440"/>
            <a:ext cx="3429000" cy="2331720"/>
          </a:xfrm>
          <a:prstGeom prst="roundRect">
            <a:avLst>
              <a:gd name="adj" fmla="val 6000"/>
            </a:avLst>
          </a:prstGeom>
          <a:solidFill>
            <a:srgbClr val="E10514"/>
          </a:solidFill>
          <a:ln>
            <a:noFill/>
          </a:ln>
          <a:effectLst/>
        </p:spPr>
        <p:txBody>
          <a:bodyPr rtlCol="0" anchor="ctr"/>
          <a:lstStyle/>
          <a:p/>
        </p:txBody>
      </p:sp>
      <p:sp>
        <p:nvSpPr>
          <p:cNvPr id="31" name="TextBox 30"/>
          <p:cNvSpPr txBox="1"/>
          <p:nvPr/>
        </p:nvSpPr>
        <p:spPr>
          <a:xfrm>
            <a:off x="8549640" y="1325880"/>
            <a:ext cx="3108960" cy="219456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AI ne yapar (Foundry)</a:t>
            </a:r>
          </a:p>
          <a:p>
            <a:pPr algn="l">
              <a:spcAft>
                <a:spcPts val="300"/>
              </a:spcAft>
            </a:pPr>
            <a:r>
              <a:rPr sz="1400" b="0" i="0">
                <a:solidFill>
                  <a:srgbClr val="FFFFFF"/>
                </a:solidFill>
                <a:latin typeface="Calibri"/>
              </a:rPr>
              <a:t>Belirtiyi anlar, ekranı bulur</a:t>
            </a:r>
          </a:p>
          <a:p>
            <a:pPr algn="l">
              <a:spcAft>
                <a:spcPts val="300"/>
              </a:spcAft>
            </a:pPr>
            <a:r>
              <a:rPr sz="1400" b="0" i="0">
                <a:solidFill>
                  <a:srgbClr val="FFFFFF"/>
                </a:solidFill>
                <a:latin typeface="Calibri"/>
              </a:rPr>
              <a:t>Hangi aracı çağıracağına karar verir</a:t>
            </a:r>
          </a:p>
          <a:p>
            <a:pPr algn="l">
              <a:spcAft>
                <a:spcPts val="300"/>
              </a:spcAft>
            </a:pPr>
            <a:r>
              <a:rPr sz="1400" b="0" i="0">
                <a:solidFill>
                  <a:srgbClr val="FFFFFF"/>
                </a:solidFill>
                <a:latin typeface="Calibri"/>
              </a:rPr>
              <a:t>Hazır çözümü kullanıcıya uyarlar</a:t>
            </a:r>
          </a:p>
          <a:p>
            <a:pPr algn="l">
              <a:spcAft>
                <a:spcPts val="300"/>
              </a:spcAft>
            </a:pPr>
            <a:r>
              <a:rPr sz="1400" b="0" i="0">
                <a:solidFill>
                  <a:srgbClr val="FFFFFF"/>
                </a:solidFill>
                <a:latin typeface="Calibri"/>
              </a:rPr>
              <a:t>Sistemsel riski açıklar</a:t>
            </a:r>
          </a:p>
        </p:txBody>
      </p:sp>
      <p:sp>
        <p:nvSpPr>
          <p:cNvPr id="32" name="Rounded Rectangle 31"/>
          <p:cNvSpPr/>
          <p:nvPr/>
        </p:nvSpPr>
        <p:spPr>
          <a:xfrm>
            <a:off x="8366760" y="3749039"/>
            <a:ext cx="3429000" cy="2423160"/>
          </a:xfrm>
          <a:prstGeom prst="roundRect">
            <a:avLst>
              <a:gd name="adj" fmla="val 6000"/>
            </a:avLst>
          </a:prstGeom>
          <a:solidFill>
            <a:srgbClr val="91969B"/>
          </a:solidFill>
          <a:ln>
            <a:noFill/>
          </a:ln>
          <a:effectLst/>
        </p:spPr>
        <p:txBody>
          <a:bodyPr rtlCol="0" anchor="ctr"/>
          <a:lstStyle/>
          <a:p/>
        </p:txBody>
      </p:sp>
      <p:sp>
        <p:nvSpPr>
          <p:cNvPr id="33" name="TextBox 32"/>
          <p:cNvSpPr txBox="1"/>
          <p:nvPr/>
        </p:nvSpPr>
        <p:spPr>
          <a:xfrm>
            <a:off x="8549640" y="3840480"/>
            <a:ext cx="3108960" cy="2286000"/>
          </a:xfrm>
          <a:prstGeom prst="rect">
            <a:avLst/>
          </a:prstGeom>
          <a:noFill/>
        </p:spPr>
        <p:txBody>
          <a:bodyPr wrap="square" anchor="t" lIns="0" rIns="0" tIns="0" bIns="0">
            <a:spAutoFit/>
          </a:bodyPr>
          <a:lstStyle/>
          <a:p>
            <a:pPr algn="l">
              <a:spcAft>
                <a:spcPts val="300"/>
              </a:spcAft>
            </a:pPr>
            <a:r>
              <a:rPr sz="1600" b="1" i="0">
                <a:solidFill>
                  <a:srgbClr val="FFFFFF"/>
                </a:solidFill>
                <a:latin typeface="Calibri"/>
              </a:rPr>
              <a:t>Kod ne yapar (kurallar)</a:t>
            </a:r>
          </a:p>
          <a:p>
            <a:pPr algn="l">
              <a:spcAft>
                <a:spcPts val="300"/>
              </a:spcAft>
            </a:pPr>
            <a:r>
              <a:rPr sz="1400" b="0" i="0">
                <a:solidFill>
                  <a:srgbClr val="FFFFFF"/>
                </a:solidFill>
                <a:latin typeface="Calibri"/>
              </a:rPr>
              <a:t>Log sayımı, zaman aralığı</a:t>
            </a:r>
          </a:p>
          <a:p>
            <a:pPr algn="l">
              <a:spcAft>
                <a:spcPts val="300"/>
              </a:spcAft>
            </a:pPr>
            <a:r>
              <a:rPr sz="1400" b="0" i="0">
                <a:solidFill>
                  <a:srgbClr val="FFFFFF"/>
                </a:solidFill>
                <a:latin typeface="Calibri"/>
              </a:rPr>
              <a:t>Eşleşme yüzdesi, %75 eşik</a:t>
            </a:r>
          </a:p>
          <a:p>
            <a:pPr algn="l">
              <a:spcAft>
                <a:spcPts val="300"/>
              </a:spcAft>
            </a:pPr>
            <a:r>
              <a:rPr sz="1400" b="0" i="0">
                <a:solidFill>
                  <a:srgbClr val="FFFFFF"/>
                </a:solidFill>
                <a:latin typeface="Calibri"/>
              </a:rPr>
              <a:t>L2 yetkisi, telefon maskesi</a:t>
            </a:r>
          </a:p>
          <a:p>
            <a:pPr algn="l">
              <a:spcAft>
                <a:spcPts val="300"/>
              </a:spcAft>
            </a:pPr>
            <a:r>
              <a:rPr sz="1400" b="0" i="0">
                <a:solidFill>
                  <a:srgbClr val="FFFFFF"/>
                </a:solidFill>
                <a:latin typeface="Calibri"/>
              </a:rPr>
              <a:t>Akış bağlantısı seçimi</a:t>
            </a:r>
          </a:p>
          <a:p>
            <a:pPr algn="l">
              <a:spcAft>
                <a:spcPts val="300"/>
              </a:spcAft>
            </a:pPr>
            <a:r>
              <a:rPr sz="1400" b="0" i="0">
                <a:solidFill>
                  <a:srgbClr val="FFFFFF"/>
                </a:solidFill>
                <a:latin typeface="Calibri"/>
              </a:rPr>
              <a:t>Erişim kaydı (audit)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Altı Kullanım Senaryosu</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7</a:t>
            </a:r>
          </a:p>
        </p:txBody>
      </p:sp>
      <p:sp>
        <p:nvSpPr>
          <p:cNvPr id="6" name="Rounded Rectangle 5"/>
          <p:cNvSpPr/>
          <p:nvPr/>
        </p:nvSpPr>
        <p:spPr>
          <a:xfrm>
            <a:off x="411480" y="1097280"/>
            <a:ext cx="3611880" cy="237744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640080" y="1325880"/>
            <a:ext cx="566928" cy="566928"/>
          </a:xfrm>
          <a:prstGeom prst="ellipse">
            <a:avLst/>
          </a:prstGeom>
          <a:solidFill>
            <a:srgbClr val="E10514"/>
          </a:solidFill>
          <a:ln>
            <a:noFill/>
          </a:ln>
          <a:effectLst/>
        </p:spPr>
        <p:txBody>
          <a:bodyPr rtlCol="0" anchor="ctr"/>
          <a:lstStyle/>
          <a:p/>
        </p:txBody>
      </p:sp>
      <p:sp>
        <p:nvSpPr>
          <p:cNvPr id="8" name="TextBox 7"/>
          <p:cNvSpPr txBox="1"/>
          <p:nvPr/>
        </p:nvSpPr>
        <p:spPr>
          <a:xfrm>
            <a:off x="64008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A</a:t>
            </a:r>
          </a:p>
        </p:txBody>
      </p:sp>
      <p:sp>
        <p:nvSpPr>
          <p:cNvPr id="9" name="TextBox 8"/>
          <p:cNvSpPr txBox="1"/>
          <p:nvPr/>
        </p:nvSpPr>
        <p:spPr>
          <a:xfrm>
            <a:off x="134416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Hata mı, kural mı?</a:t>
            </a:r>
          </a:p>
          <a:p>
            <a:pPr algn="l">
              <a:spcAft>
                <a:spcPts val="100"/>
              </a:spcAft>
            </a:pPr>
            <a:r>
              <a:rPr sz="1200" b="0" i="0">
                <a:solidFill>
                  <a:srgbClr val="91969B"/>
                </a:solidFill>
                <a:latin typeface="Calibri"/>
              </a:rPr>
              <a:t>KRDTKULL · Elif (şube)</a:t>
            </a:r>
          </a:p>
        </p:txBody>
      </p:sp>
      <p:sp>
        <p:nvSpPr>
          <p:cNvPr id="10" name="TextBox 9"/>
          <p:cNvSpPr txBox="1"/>
          <p:nvPr/>
        </p:nvSpPr>
        <p:spPr>
          <a:xfrm>
            <a:off x="64008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Taksit gelirin %50'sini aşıyor: iş kuralı açıklanır</a:t>
            </a:r>
          </a:p>
        </p:txBody>
      </p:sp>
      <p:sp>
        <p:nvSpPr>
          <p:cNvPr id="11" name="TextBox 10"/>
          <p:cNvSpPr txBox="1"/>
          <p:nvPr/>
        </p:nvSpPr>
        <p:spPr>
          <a:xfrm>
            <a:off x="64008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Çağrı açılmadan çözülür</a:t>
            </a:r>
          </a:p>
        </p:txBody>
      </p:sp>
      <p:sp>
        <p:nvSpPr>
          <p:cNvPr id="12" name="Rounded Rectangle 11"/>
          <p:cNvSpPr/>
          <p:nvPr/>
        </p:nvSpPr>
        <p:spPr>
          <a:xfrm>
            <a:off x="2834640" y="2862072"/>
            <a:ext cx="1005840" cy="347472"/>
          </a:xfrm>
          <a:prstGeom prst="roundRect">
            <a:avLst>
              <a:gd name="adj" fmla="val 50000"/>
            </a:avLst>
          </a:prstGeom>
          <a:solidFill>
            <a:srgbClr val="E10514"/>
          </a:solidFill>
          <a:ln>
            <a:noFill/>
          </a:ln>
          <a:effectLst/>
        </p:spPr>
        <p:txBody>
          <a:bodyPr rtlCol="0" anchor="ctr"/>
          <a:lstStyle/>
          <a:p/>
        </p:txBody>
      </p:sp>
      <p:sp>
        <p:nvSpPr>
          <p:cNvPr id="13" name="TextBox 12"/>
          <p:cNvSpPr txBox="1"/>
          <p:nvPr/>
        </p:nvSpPr>
        <p:spPr>
          <a:xfrm>
            <a:off x="283464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14" name="Rounded Rectangle 13"/>
          <p:cNvSpPr/>
          <p:nvPr/>
        </p:nvSpPr>
        <p:spPr>
          <a:xfrm>
            <a:off x="4251960" y="1097280"/>
            <a:ext cx="3611880" cy="237744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4480560" y="1325880"/>
            <a:ext cx="566928" cy="566928"/>
          </a:xfrm>
          <a:prstGeom prst="ellipse">
            <a:avLst/>
          </a:prstGeom>
          <a:solidFill>
            <a:srgbClr val="E10514"/>
          </a:solidFill>
          <a:ln>
            <a:noFill/>
          </a:ln>
          <a:effectLst/>
        </p:spPr>
        <p:txBody>
          <a:bodyPr rtlCol="0" anchor="ctr"/>
          <a:lstStyle/>
          <a:p/>
        </p:txBody>
      </p:sp>
      <p:sp>
        <p:nvSpPr>
          <p:cNvPr id="16" name="TextBox 15"/>
          <p:cNvSpPr txBox="1"/>
          <p:nvPr/>
        </p:nvSpPr>
        <p:spPr>
          <a:xfrm>
            <a:off x="448056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B</a:t>
            </a:r>
          </a:p>
        </p:txBody>
      </p:sp>
      <p:sp>
        <p:nvSpPr>
          <p:cNvPr id="17" name="TextBox 16"/>
          <p:cNvSpPr txBox="1"/>
          <p:nvPr/>
        </p:nvSpPr>
        <p:spPr>
          <a:xfrm>
            <a:off x="518464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Yaygın sorun, bilinen çözüm</a:t>
            </a:r>
          </a:p>
          <a:p>
            <a:pPr algn="l">
              <a:spcAft>
                <a:spcPts val="100"/>
              </a:spcAft>
            </a:pPr>
            <a:r>
              <a:rPr sz="1200" b="0" i="0">
                <a:solidFill>
                  <a:srgbClr val="91969B"/>
                </a:solidFill>
                <a:latin typeface="Calibri"/>
              </a:rPr>
              <a:t>ODMTTLMT · GAZ02 · Elif, Zeynep, Kerem</a:t>
            </a:r>
          </a:p>
        </p:txBody>
      </p:sp>
      <p:sp>
        <p:nvSpPr>
          <p:cNvPr id="18" name="TextBox 17"/>
          <p:cNvSpPr txBox="1"/>
          <p:nvPr/>
        </p:nvSpPr>
        <p:spPr>
          <a:xfrm>
            <a:off x="448056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Kurum zaman aşımı, SOL-031 ve adım adım akış</a:t>
            </a:r>
          </a:p>
        </p:txBody>
      </p:sp>
      <p:sp>
        <p:nvSpPr>
          <p:cNvPr id="19" name="TextBox 18"/>
          <p:cNvSpPr txBox="1"/>
          <p:nvPr/>
        </p:nvSpPr>
        <p:spPr>
          <a:xfrm>
            <a:off x="448056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6 benzer çağrı · 23 kayıt</a:t>
            </a:r>
          </a:p>
        </p:txBody>
      </p:sp>
      <p:sp>
        <p:nvSpPr>
          <p:cNvPr id="20" name="Rounded Rectangle 19"/>
          <p:cNvSpPr/>
          <p:nvPr/>
        </p:nvSpPr>
        <p:spPr>
          <a:xfrm>
            <a:off x="6675120" y="2862072"/>
            <a:ext cx="1005840" cy="347472"/>
          </a:xfrm>
          <a:prstGeom prst="roundRect">
            <a:avLst>
              <a:gd name="adj" fmla="val 50000"/>
            </a:avLst>
          </a:prstGeom>
          <a:solidFill>
            <a:srgbClr val="E10514"/>
          </a:solidFill>
          <a:ln>
            <a:noFill/>
          </a:ln>
          <a:effectLst/>
        </p:spPr>
        <p:txBody>
          <a:bodyPr rtlCol="0" anchor="ctr"/>
          <a:lstStyle/>
          <a:p/>
        </p:txBody>
      </p:sp>
      <p:sp>
        <p:nvSpPr>
          <p:cNvPr id="21" name="TextBox 20"/>
          <p:cNvSpPr txBox="1"/>
          <p:nvPr/>
        </p:nvSpPr>
        <p:spPr>
          <a:xfrm>
            <a:off x="667512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22" name="Rounded Rectangle 21"/>
          <p:cNvSpPr/>
          <p:nvPr/>
        </p:nvSpPr>
        <p:spPr>
          <a:xfrm>
            <a:off x="8092440" y="1097280"/>
            <a:ext cx="3611880" cy="2377440"/>
          </a:xfrm>
          <a:prstGeom prst="roundRect">
            <a:avLst>
              <a:gd name="adj" fmla="val 6000"/>
            </a:avLst>
          </a:prstGeom>
          <a:solidFill>
            <a:srgbClr val="F2F5F6"/>
          </a:solidFill>
          <a:ln>
            <a:noFill/>
          </a:ln>
          <a:effectLst/>
        </p:spPr>
        <p:txBody>
          <a:bodyPr rtlCol="0" anchor="ctr"/>
          <a:lstStyle/>
          <a:p/>
        </p:txBody>
      </p:sp>
      <p:sp>
        <p:nvSpPr>
          <p:cNvPr id="23" name="Oval 22"/>
          <p:cNvSpPr/>
          <p:nvPr/>
        </p:nvSpPr>
        <p:spPr>
          <a:xfrm>
            <a:off x="8321040" y="1325880"/>
            <a:ext cx="566928" cy="566928"/>
          </a:xfrm>
          <a:prstGeom prst="ellipse">
            <a:avLst/>
          </a:prstGeom>
          <a:solidFill>
            <a:srgbClr val="E10514"/>
          </a:solidFill>
          <a:ln>
            <a:noFill/>
          </a:ln>
          <a:effectLst/>
        </p:spPr>
        <p:txBody>
          <a:bodyPr rtlCol="0" anchor="ctr"/>
          <a:lstStyle/>
          <a:p/>
        </p:txBody>
      </p:sp>
      <p:sp>
        <p:nvSpPr>
          <p:cNvPr id="24" name="TextBox 23"/>
          <p:cNvSpPr txBox="1"/>
          <p:nvPr/>
        </p:nvSpPr>
        <p:spPr>
          <a:xfrm>
            <a:off x="8321040" y="132588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C</a:t>
            </a:r>
          </a:p>
        </p:txBody>
      </p:sp>
      <p:sp>
        <p:nvSpPr>
          <p:cNvPr id="25" name="TextBox 24"/>
          <p:cNvSpPr txBox="1"/>
          <p:nvPr/>
        </p:nvSpPr>
        <p:spPr>
          <a:xfrm>
            <a:off x="9025128" y="128016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Kural yanlış kapatılmış</a:t>
            </a:r>
          </a:p>
          <a:p>
            <a:pPr algn="l">
              <a:spcAft>
                <a:spcPts val="100"/>
              </a:spcAft>
            </a:pPr>
            <a:r>
              <a:rPr sz="1200" b="0" i="0">
                <a:solidFill>
                  <a:srgbClr val="91969B"/>
                </a:solidFill>
                <a:latin typeface="Calibri"/>
              </a:rPr>
              <a:t>ODMTTLMT · İSKİ 13 hane · Elif → Kerem</a:t>
            </a:r>
          </a:p>
        </p:txBody>
      </p:sp>
      <p:sp>
        <p:nvSpPr>
          <p:cNvPr id="26" name="TextBox 25"/>
          <p:cNvSpPr txBox="1"/>
          <p:nvPr/>
        </p:nvSpPr>
        <p:spPr>
          <a:xfrm>
            <a:off x="8321040" y="207568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158 kayıt, tek kurumda; 'kullanıcı hatası' temkinli</a:t>
            </a:r>
          </a:p>
        </p:txBody>
      </p:sp>
      <p:sp>
        <p:nvSpPr>
          <p:cNvPr id="27" name="TextBox 26"/>
          <p:cNvSpPr txBox="1"/>
          <p:nvPr/>
        </p:nvSpPr>
        <p:spPr>
          <a:xfrm>
            <a:off x="8321040" y="278892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Sistemsel olabilir uyarısı</a:t>
            </a:r>
          </a:p>
        </p:txBody>
      </p:sp>
      <p:sp>
        <p:nvSpPr>
          <p:cNvPr id="28" name="Rounded Rectangle 27"/>
          <p:cNvSpPr/>
          <p:nvPr/>
        </p:nvSpPr>
        <p:spPr>
          <a:xfrm>
            <a:off x="10515600" y="2862072"/>
            <a:ext cx="1005840" cy="347472"/>
          </a:xfrm>
          <a:prstGeom prst="roundRect">
            <a:avLst>
              <a:gd name="adj" fmla="val 50000"/>
            </a:avLst>
          </a:prstGeom>
          <a:solidFill>
            <a:srgbClr val="E10514"/>
          </a:solidFill>
          <a:ln>
            <a:noFill/>
          </a:ln>
          <a:effectLst/>
        </p:spPr>
        <p:txBody>
          <a:bodyPr rtlCol="0" anchor="ctr"/>
          <a:lstStyle/>
          <a:p/>
        </p:txBody>
      </p:sp>
      <p:sp>
        <p:nvSpPr>
          <p:cNvPr id="29" name="TextBox 28"/>
          <p:cNvSpPr txBox="1"/>
          <p:nvPr/>
        </p:nvSpPr>
        <p:spPr>
          <a:xfrm>
            <a:off x="10515600" y="286207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0" name="Rounded Rectangle 29"/>
          <p:cNvSpPr/>
          <p:nvPr/>
        </p:nvSpPr>
        <p:spPr>
          <a:xfrm>
            <a:off x="411480" y="3657600"/>
            <a:ext cx="3611880" cy="2377440"/>
          </a:xfrm>
          <a:prstGeom prst="roundRect">
            <a:avLst>
              <a:gd name="adj" fmla="val 6000"/>
            </a:avLst>
          </a:prstGeom>
          <a:solidFill>
            <a:srgbClr val="F2F5F6"/>
          </a:solidFill>
          <a:ln>
            <a:noFill/>
          </a:ln>
          <a:effectLst/>
        </p:spPr>
        <p:txBody>
          <a:bodyPr rtlCol="0" anchor="ctr"/>
          <a:lstStyle/>
          <a:p/>
        </p:txBody>
      </p:sp>
      <p:sp>
        <p:nvSpPr>
          <p:cNvPr id="31" name="Oval 30"/>
          <p:cNvSpPr/>
          <p:nvPr/>
        </p:nvSpPr>
        <p:spPr>
          <a:xfrm>
            <a:off x="640080" y="3886200"/>
            <a:ext cx="566928" cy="566928"/>
          </a:xfrm>
          <a:prstGeom prst="ellipse">
            <a:avLst/>
          </a:prstGeom>
          <a:solidFill>
            <a:srgbClr val="E10514"/>
          </a:solidFill>
          <a:ln>
            <a:noFill/>
          </a:ln>
          <a:effectLst/>
        </p:spPr>
        <p:txBody>
          <a:bodyPr rtlCol="0" anchor="ctr"/>
          <a:lstStyle/>
          <a:p/>
        </p:txBody>
      </p:sp>
      <p:sp>
        <p:nvSpPr>
          <p:cNvPr id="32" name="TextBox 31"/>
          <p:cNvSpPr txBox="1"/>
          <p:nvPr/>
        </p:nvSpPr>
        <p:spPr>
          <a:xfrm>
            <a:off x="64008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D</a:t>
            </a:r>
          </a:p>
        </p:txBody>
      </p:sp>
      <p:sp>
        <p:nvSpPr>
          <p:cNvPr id="33" name="TextBox 32"/>
          <p:cNvSpPr txBox="1"/>
          <p:nvPr/>
        </p:nvSpPr>
        <p:spPr>
          <a:xfrm>
            <a:off x="134416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Etkilenen müşteriler</a:t>
            </a:r>
          </a:p>
          <a:p>
            <a:pPr algn="l">
              <a:spcAft>
                <a:spcPts val="100"/>
              </a:spcAft>
            </a:pPr>
            <a:r>
              <a:rPr sz="1200" b="0" i="0">
                <a:solidFill>
                  <a:srgbClr val="91969B"/>
                </a:solidFill>
                <a:latin typeface="Calibri"/>
              </a:rPr>
              <a:t>Fatura talimatı · Kerem (L2)</a:t>
            </a:r>
          </a:p>
        </p:txBody>
      </p:sp>
      <p:sp>
        <p:nvSpPr>
          <p:cNvPr id="34" name="TextBox 33"/>
          <p:cNvSpPr txBox="1"/>
          <p:nvPr/>
        </p:nvSpPr>
        <p:spPr>
          <a:xfrm>
            <a:off x="64008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Bilgilendirme listesi; izinsiz telefon maskeli</a:t>
            </a:r>
          </a:p>
        </p:txBody>
      </p:sp>
      <p:sp>
        <p:nvSpPr>
          <p:cNvPr id="35" name="TextBox 34"/>
          <p:cNvSpPr txBox="1"/>
          <p:nvPr/>
        </p:nvSpPr>
        <p:spPr>
          <a:xfrm>
            <a:off x="640080" y="534924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31 müşteri · 11 aranabilir</a:t>
            </a:r>
          </a:p>
        </p:txBody>
      </p:sp>
      <p:sp>
        <p:nvSpPr>
          <p:cNvPr id="36" name="Rounded Rectangle 35"/>
          <p:cNvSpPr/>
          <p:nvPr/>
        </p:nvSpPr>
        <p:spPr>
          <a:xfrm>
            <a:off x="2834640" y="5422392"/>
            <a:ext cx="1005840" cy="347472"/>
          </a:xfrm>
          <a:prstGeom prst="roundRect">
            <a:avLst>
              <a:gd name="adj" fmla="val 50000"/>
            </a:avLst>
          </a:prstGeom>
          <a:solidFill>
            <a:srgbClr val="E10514"/>
          </a:solidFill>
          <a:ln>
            <a:noFill/>
          </a:ln>
          <a:effectLst/>
        </p:spPr>
        <p:txBody>
          <a:bodyPr rtlCol="0" anchor="ctr"/>
          <a:lstStyle/>
          <a:p/>
        </p:txBody>
      </p:sp>
      <p:sp>
        <p:nvSpPr>
          <p:cNvPr id="37" name="TextBox 36"/>
          <p:cNvSpPr txBox="1"/>
          <p:nvPr/>
        </p:nvSpPr>
        <p:spPr>
          <a:xfrm>
            <a:off x="283464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
        <p:nvSpPr>
          <p:cNvPr id="38" name="Rounded Rectangle 37"/>
          <p:cNvSpPr/>
          <p:nvPr/>
        </p:nvSpPr>
        <p:spPr>
          <a:xfrm>
            <a:off x="4251960" y="3657600"/>
            <a:ext cx="3611880" cy="2377440"/>
          </a:xfrm>
          <a:prstGeom prst="roundRect">
            <a:avLst>
              <a:gd name="adj" fmla="val 6000"/>
            </a:avLst>
          </a:prstGeom>
          <a:solidFill>
            <a:srgbClr val="F2F5F6"/>
          </a:solidFill>
          <a:ln>
            <a:noFill/>
          </a:ln>
          <a:effectLst/>
        </p:spPr>
        <p:txBody>
          <a:bodyPr rtlCol="0" anchor="ctr"/>
          <a:lstStyle/>
          <a:p/>
        </p:txBody>
      </p:sp>
      <p:sp>
        <p:nvSpPr>
          <p:cNvPr id="39" name="Oval 38"/>
          <p:cNvSpPr/>
          <p:nvPr/>
        </p:nvSpPr>
        <p:spPr>
          <a:xfrm>
            <a:off x="4480560" y="3886200"/>
            <a:ext cx="566928" cy="566928"/>
          </a:xfrm>
          <a:prstGeom prst="ellipse">
            <a:avLst/>
          </a:prstGeom>
          <a:solidFill>
            <a:srgbClr val="91969B"/>
          </a:solidFill>
          <a:ln>
            <a:noFill/>
          </a:ln>
          <a:effectLst/>
        </p:spPr>
        <p:txBody>
          <a:bodyPr rtlCol="0" anchor="ctr"/>
          <a:lstStyle/>
          <a:p/>
        </p:txBody>
      </p:sp>
      <p:sp>
        <p:nvSpPr>
          <p:cNvPr id="40" name="TextBox 39"/>
          <p:cNvSpPr txBox="1"/>
          <p:nvPr/>
        </p:nvSpPr>
        <p:spPr>
          <a:xfrm>
            <a:off x="448056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E</a:t>
            </a:r>
          </a:p>
        </p:txBody>
      </p:sp>
      <p:sp>
        <p:nvSpPr>
          <p:cNvPr id="41" name="TextBox 40"/>
          <p:cNvSpPr txBox="1"/>
          <p:nvPr/>
        </p:nvSpPr>
        <p:spPr>
          <a:xfrm>
            <a:off x="518464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Talepten plana</a:t>
            </a:r>
          </a:p>
          <a:p>
            <a:pPr algn="l">
              <a:spcAft>
                <a:spcPts val="100"/>
              </a:spcAft>
            </a:pPr>
            <a:r>
              <a:rPr sz="1200" b="0" i="0">
                <a:solidFill>
                  <a:srgbClr val="91969B"/>
                </a:solidFill>
                <a:latin typeface="Calibri"/>
              </a:rPr>
              <a:t>Talep analizi · Fatma → Ayşe</a:t>
            </a:r>
          </a:p>
        </p:txBody>
      </p:sp>
      <p:sp>
        <p:nvSpPr>
          <p:cNvPr id="42" name="TextBox 41"/>
          <p:cNvSpPr txBox="1"/>
          <p:nvPr/>
        </p:nvSpPr>
        <p:spPr>
          <a:xfrm>
            <a:off x="448056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Servis, adam-gün, takvim; veriyle kapsam</a:t>
            </a:r>
          </a:p>
        </p:txBody>
      </p:sp>
      <p:sp>
        <p:nvSpPr>
          <p:cNvPr id="43" name="TextBox 42"/>
          <p:cNvSpPr txBox="1"/>
          <p:nvPr/>
        </p:nvSpPr>
        <p:spPr>
          <a:xfrm>
            <a:off x="4480560" y="5349240"/>
            <a:ext cx="2194560" cy="502920"/>
          </a:xfrm>
          <a:prstGeom prst="rect">
            <a:avLst/>
          </a:prstGeom>
          <a:noFill/>
        </p:spPr>
        <p:txBody>
          <a:bodyPr wrap="square" anchor="ctr" lIns="0" rIns="0" tIns="0" bIns="0">
            <a:spAutoFit/>
          </a:bodyPr>
          <a:lstStyle/>
          <a:p>
            <a:pPr algn="l">
              <a:spcAft>
                <a:spcPts val="400"/>
              </a:spcAft>
            </a:pPr>
            <a:r>
              <a:rPr sz="1400" b="1" i="0">
                <a:solidFill>
                  <a:srgbClr val="1E1E1E"/>
                </a:solidFill>
                <a:latin typeface="Calibri"/>
              </a:rPr>
              <a:t>Modül 2 · sırada</a:t>
            </a:r>
          </a:p>
        </p:txBody>
      </p:sp>
      <p:sp>
        <p:nvSpPr>
          <p:cNvPr id="44" name="Rounded Rectangle 43"/>
          <p:cNvSpPr/>
          <p:nvPr/>
        </p:nvSpPr>
        <p:spPr>
          <a:xfrm>
            <a:off x="6675120" y="5422392"/>
            <a:ext cx="1005840" cy="347472"/>
          </a:xfrm>
          <a:prstGeom prst="roundRect">
            <a:avLst>
              <a:gd name="adj" fmla="val 50000"/>
            </a:avLst>
          </a:prstGeom>
          <a:solidFill>
            <a:srgbClr val="91969B"/>
          </a:solidFill>
          <a:ln>
            <a:noFill/>
          </a:ln>
          <a:effectLst/>
        </p:spPr>
        <p:txBody>
          <a:bodyPr rtlCol="0" anchor="ctr"/>
          <a:lstStyle/>
          <a:p/>
        </p:txBody>
      </p:sp>
      <p:sp>
        <p:nvSpPr>
          <p:cNvPr id="45" name="TextBox 44"/>
          <p:cNvSpPr txBox="1"/>
          <p:nvPr/>
        </p:nvSpPr>
        <p:spPr>
          <a:xfrm>
            <a:off x="667512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PLAN</a:t>
            </a:r>
          </a:p>
        </p:txBody>
      </p:sp>
      <p:sp>
        <p:nvSpPr>
          <p:cNvPr id="46" name="Rounded Rectangle 45"/>
          <p:cNvSpPr/>
          <p:nvPr/>
        </p:nvSpPr>
        <p:spPr>
          <a:xfrm>
            <a:off x="8092440" y="3657600"/>
            <a:ext cx="3611880" cy="2377440"/>
          </a:xfrm>
          <a:prstGeom prst="roundRect">
            <a:avLst>
              <a:gd name="adj" fmla="val 6000"/>
            </a:avLst>
          </a:prstGeom>
          <a:solidFill>
            <a:srgbClr val="F2F5F6"/>
          </a:solidFill>
          <a:ln>
            <a:noFill/>
          </a:ln>
          <a:effectLst/>
        </p:spPr>
        <p:txBody>
          <a:bodyPr rtlCol="0" anchor="ctr"/>
          <a:lstStyle/>
          <a:p/>
        </p:txBody>
      </p:sp>
      <p:sp>
        <p:nvSpPr>
          <p:cNvPr id="47" name="Oval 46"/>
          <p:cNvSpPr/>
          <p:nvPr/>
        </p:nvSpPr>
        <p:spPr>
          <a:xfrm>
            <a:off x="8321040" y="3886200"/>
            <a:ext cx="566928" cy="566928"/>
          </a:xfrm>
          <a:prstGeom prst="ellipse">
            <a:avLst/>
          </a:prstGeom>
          <a:solidFill>
            <a:srgbClr val="E10514"/>
          </a:solidFill>
          <a:ln>
            <a:noFill/>
          </a:ln>
          <a:effectLst/>
        </p:spPr>
        <p:txBody>
          <a:bodyPr rtlCol="0" anchor="ctr"/>
          <a:lstStyle/>
          <a:p/>
        </p:txBody>
      </p:sp>
      <p:sp>
        <p:nvSpPr>
          <p:cNvPr id="48" name="TextBox 47"/>
          <p:cNvSpPr txBox="1"/>
          <p:nvPr/>
        </p:nvSpPr>
        <p:spPr>
          <a:xfrm>
            <a:off x="8321040" y="3886200"/>
            <a:ext cx="566928" cy="566928"/>
          </a:xfrm>
          <a:prstGeom prst="rect">
            <a:avLst/>
          </a:prstGeom>
          <a:noFill/>
        </p:spPr>
        <p:txBody>
          <a:bodyPr wrap="square" anchor="ctr" lIns="0" rIns="0" tIns="0" bIns="0">
            <a:spAutoFit/>
          </a:bodyPr>
          <a:lstStyle/>
          <a:p>
            <a:pPr algn="ctr">
              <a:spcAft>
                <a:spcPts val="400"/>
              </a:spcAft>
            </a:pPr>
            <a:r>
              <a:rPr sz="2000" b="1" i="0">
                <a:solidFill>
                  <a:srgbClr val="FFFFFF"/>
                </a:solidFill>
                <a:latin typeface="Calibri"/>
              </a:rPr>
              <a:t>F</a:t>
            </a:r>
          </a:p>
        </p:txBody>
      </p:sp>
      <p:sp>
        <p:nvSpPr>
          <p:cNvPr id="49" name="TextBox 48"/>
          <p:cNvSpPr txBox="1"/>
          <p:nvPr/>
        </p:nvSpPr>
        <p:spPr>
          <a:xfrm>
            <a:off x="9025128" y="3840480"/>
            <a:ext cx="2560320" cy="685800"/>
          </a:xfrm>
          <a:prstGeom prst="rect">
            <a:avLst/>
          </a:prstGeom>
          <a:noFill/>
        </p:spPr>
        <p:txBody>
          <a:bodyPr wrap="square" anchor="ctr" lIns="0" rIns="0" tIns="0" bIns="0">
            <a:spAutoFit/>
          </a:bodyPr>
          <a:lstStyle/>
          <a:p>
            <a:pPr algn="l">
              <a:spcAft>
                <a:spcPts val="100"/>
              </a:spcAft>
            </a:pPr>
            <a:r>
              <a:rPr sz="1700" b="1" i="0">
                <a:solidFill>
                  <a:srgbClr val="1E1E1E"/>
                </a:solidFill>
                <a:latin typeface="Calibri"/>
              </a:rPr>
              <a:t>Günlük durum özeti</a:t>
            </a:r>
          </a:p>
          <a:p>
            <a:pPr algn="l">
              <a:spcAft>
                <a:spcPts val="100"/>
              </a:spcAft>
            </a:pPr>
            <a:r>
              <a:rPr sz="1200" b="0" i="0">
                <a:solidFill>
                  <a:srgbClr val="91969B"/>
                </a:solidFill>
                <a:latin typeface="Calibri"/>
              </a:rPr>
              <a:t>Mercek sohbet · Kerem</a:t>
            </a:r>
          </a:p>
        </p:txBody>
      </p:sp>
      <p:sp>
        <p:nvSpPr>
          <p:cNvPr id="50" name="TextBox 49"/>
          <p:cNvSpPr txBox="1"/>
          <p:nvPr/>
        </p:nvSpPr>
        <p:spPr>
          <a:xfrm>
            <a:off x="8321040" y="4636008"/>
            <a:ext cx="3154680" cy="640080"/>
          </a:xfrm>
          <a:prstGeom prst="rect">
            <a:avLst/>
          </a:prstGeom>
          <a:noFill/>
        </p:spPr>
        <p:txBody>
          <a:bodyPr wrap="square" anchor="t" lIns="0" rIns="0" tIns="0" bIns="0">
            <a:spAutoFit/>
          </a:bodyPr>
          <a:lstStyle/>
          <a:p>
            <a:pPr algn="l">
              <a:spcAft>
                <a:spcPts val="400"/>
              </a:spcAft>
            </a:pPr>
            <a:r>
              <a:rPr sz="1400" b="0" i="0">
                <a:solidFill>
                  <a:srgbClr val="1E1E1E"/>
                </a:solidFill>
                <a:latin typeface="Calibri"/>
              </a:rPr>
              <a:t>Kibana bilgisi gerektirmeden sohbetle özet</a:t>
            </a:r>
          </a:p>
        </p:txBody>
      </p:sp>
      <p:sp>
        <p:nvSpPr>
          <p:cNvPr id="51" name="TextBox 50"/>
          <p:cNvSpPr txBox="1"/>
          <p:nvPr/>
        </p:nvSpPr>
        <p:spPr>
          <a:xfrm>
            <a:off x="8321040" y="5349240"/>
            <a:ext cx="2194560" cy="502920"/>
          </a:xfrm>
          <a:prstGeom prst="rect">
            <a:avLst/>
          </a:prstGeom>
          <a:noFill/>
        </p:spPr>
        <p:txBody>
          <a:bodyPr wrap="square" anchor="ctr" lIns="0" rIns="0" tIns="0" bIns="0">
            <a:spAutoFit/>
          </a:bodyPr>
          <a:lstStyle/>
          <a:p>
            <a:pPr algn="l">
              <a:spcAft>
                <a:spcPts val="400"/>
              </a:spcAft>
            </a:pPr>
            <a:r>
              <a:rPr sz="1400" b="1" i="0">
                <a:solidFill>
                  <a:srgbClr val="B90F0A"/>
                </a:solidFill>
                <a:latin typeface="Calibri"/>
              </a:rPr>
              <a:t>Son 30 dk: 23 hata</a:t>
            </a:r>
          </a:p>
        </p:txBody>
      </p:sp>
      <p:sp>
        <p:nvSpPr>
          <p:cNvPr id="52" name="Rounded Rectangle 51"/>
          <p:cNvSpPr/>
          <p:nvPr/>
        </p:nvSpPr>
        <p:spPr>
          <a:xfrm>
            <a:off x="10515600" y="5422392"/>
            <a:ext cx="1005840" cy="347472"/>
          </a:xfrm>
          <a:prstGeom prst="roundRect">
            <a:avLst>
              <a:gd name="adj" fmla="val 50000"/>
            </a:avLst>
          </a:prstGeom>
          <a:solidFill>
            <a:srgbClr val="E10514"/>
          </a:solidFill>
          <a:ln>
            <a:noFill/>
          </a:ln>
          <a:effectLst/>
        </p:spPr>
        <p:txBody>
          <a:bodyPr rtlCol="0" anchor="ctr"/>
          <a:lstStyle/>
          <a:p/>
        </p:txBody>
      </p:sp>
      <p:sp>
        <p:nvSpPr>
          <p:cNvPr id="53" name="TextBox 52"/>
          <p:cNvSpPr txBox="1"/>
          <p:nvPr/>
        </p:nvSpPr>
        <p:spPr>
          <a:xfrm>
            <a:off x="10515600" y="5422392"/>
            <a:ext cx="1005840" cy="347472"/>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CANLI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Canlı Demo: Dört Sahne</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55448" y="658368"/>
            <a:ext cx="11430000" cy="365760"/>
          </a:xfrm>
          <a:prstGeom prst="rect">
            <a:avLst/>
          </a:prstGeom>
          <a:noFill/>
        </p:spPr>
        <p:txBody>
          <a:bodyPr wrap="square" anchor="t" lIns="0" rIns="0" tIns="0" bIns="0">
            <a:spAutoFit/>
          </a:bodyPr>
          <a:lstStyle/>
          <a:p>
            <a:pPr algn="l">
              <a:spcAft>
                <a:spcPts val="400"/>
              </a:spcAft>
            </a:pPr>
            <a:r>
              <a:rPr sz="1600" b="0" i="0">
                <a:solidFill>
                  <a:srgbClr val="91969B"/>
                </a:solidFill>
                <a:latin typeface="Calibri"/>
              </a:rPr>
              <a:t>Her cevapta araç adımları Foundry izlemesinde görünür; rakamlar koddan gelir.</a:t>
            </a:r>
          </a:p>
        </p:txBody>
      </p:sp>
      <p:sp>
        <p:nvSpPr>
          <p:cNvPr id="6" name="TextBox 5"/>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8</a:t>
            </a:r>
          </a:p>
        </p:txBody>
      </p:sp>
      <p:sp>
        <p:nvSpPr>
          <p:cNvPr id="7" name="Rounded Rectangle 6"/>
          <p:cNvSpPr/>
          <p:nvPr/>
        </p:nvSpPr>
        <p:spPr>
          <a:xfrm>
            <a:off x="411480" y="1188720"/>
            <a:ext cx="5577840" cy="2331720"/>
          </a:xfrm>
          <a:prstGeom prst="roundRect">
            <a:avLst>
              <a:gd name="adj" fmla="val 6000"/>
            </a:avLst>
          </a:prstGeom>
          <a:solidFill>
            <a:srgbClr val="F2F5F6"/>
          </a:solidFill>
          <a:ln>
            <a:noFill/>
          </a:ln>
          <a:effectLst/>
        </p:spPr>
        <p:txBody>
          <a:bodyPr rtlCol="0" anchor="ctr"/>
          <a:lstStyle/>
          <a:p/>
        </p:txBody>
      </p:sp>
      <p:sp>
        <p:nvSpPr>
          <p:cNvPr id="8" name="Oval 7"/>
          <p:cNvSpPr/>
          <p:nvPr/>
        </p:nvSpPr>
        <p:spPr>
          <a:xfrm>
            <a:off x="640080" y="1417320"/>
            <a:ext cx="685800" cy="685800"/>
          </a:xfrm>
          <a:prstGeom prst="ellipse">
            <a:avLst/>
          </a:prstGeom>
          <a:solidFill>
            <a:srgbClr val="E10514"/>
          </a:solidFill>
          <a:ln>
            <a:noFill/>
          </a:ln>
          <a:effectLst/>
        </p:spPr>
        <p:txBody>
          <a:bodyPr rtlCol="0" anchor="ctr"/>
          <a:lstStyle/>
          <a:p/>
        </p:txBody>
      </p:sp>
      <p:pic>
        <p:nvPicPr>
          <p:cNvPr id="9" name="Picture 8" descr="headset-w.png"/>
          <p:cNvPicPr>
            <a:picLocks noChangeAspect="1"/>
          </p:cNvPicPr>
          <p:nvPr/>
        </p:nvPicPr>
        <p:blipFill>
          <a:blip r:embed="rId3"/>
          <a:stretch>
            <a:fillRect/>
          </a:stretch>
        </p:blipFill>
        <p:spPr>
          <a:xfrm>
            <a:off x="811530" y="1588770"/>
            <a:ext cx="342900" cy="342900"/>
          </a:xfrm>
          <a:prstGeom prst="rect">
            <a:avLst/>
          </a:prstGeom>
        </p:spPr>
      </p:pic>
      <p:sp>
        <p:nvSpPr>
          <p:cNvPr id="10" name="TextBox 9"/>
          <p:cNvSpPr txBox="1"/>
          <p:nvPr/>
        </p:nvSpPr>
        <p:spPr>
          <a:xfrm>
            <a:off x="1508760" y="1389888"/>
            <a:ext cx="3291839" cy="731520"/>
          </a:xfrm>
          <a:prstGeom prst="rect">
            <a:avLst/>
          </a:prstGeom>
          <a:noFill/>
        </p:spPr>
        <p:txBody>
          <a:bodyPr wrap="square" anchor="ctr" lIns="0" rIns="0" tIns="0" bIns="0">
            <a:spAutoFit/>
          </a:bodyPr>
          <a:lstStyle/>
          <a:p>
            <a:pPr algn="l">
              <a:spcAft>
                <a:spcPts val="100"/>
              </a:spcAft>
            </a:pPr>
            <a:r>
              <a:rPr sz="1800" b="1" i="0">
                <a:solidFill>
                  <a:srgbClr val="1E1E1E"/>
                </a:solidFill>
                <a:latin typeface="Calibri"/>
              </a:rPr>
              <a:t>B · Bilinen çözüm</a:t>
            </a:r>
          </a:p>
          <a:p>
            <a:pPr algn="l">
              <a:spcAft>
                <a:spcPts val="100"/>
              </a:spcAft>
            </a:pPr>
            <a:r>
              <a:rPr sz="1200" b="0" i="0">
                <a:solidFill>
                  <a:srgbClr val="91969B"/>
                </a:solidFill>
                <a:latin typeface="Calibri"/>
              </a:rPr>
              <a:t>Elif</a:t>
            </a:r>
          </a:p>
        </p:txBody>
      </p:sp>
      <p:sp>
        <p:nvSpPr>
          <p:cNvPr id="11" name="Rounded Rectangle 10"/>
          <p:cNvSpPr/>
          <p:nvPr/>
        </p:nvSpPr>
        <p:spPr>
          <a:xfrm>
            <a:off x="4892040" y="1481328"/>
            <a:ext cx="868680" cy="310896"/>
          </a:xfrm>
          <a:prstGeom prst="roundRect">
            <a:avLst>
              <a:gd name="adj" fmla="val 50000"/>
            </a:avLst>
          </a:prstGeom>
          <a:solidFill>
            <a:srgbClr val="E10514"/>
          </a:solidFill>
          <a:ln>
            <a:noFill/>
          </a:ln>
          <a:effectLst/>
        </p:spPr>
        <p:txBody>
          <a:bodyPr rtlCol="0" anchor="ctr"/>
          <a:lstStyle/>
          <a:p/>
        </p:txBody>
      </p:sp>
      <p:sp>
        <p:nvSpPr>
          <p:cNvPr id="12" name="TextBox 11"/>
          <p:cNvSpPr txBox="1"/>
          <p:nvPr/>
        </p:nvSpPr>
        <p:spPr>
          <a:xfrm>
            <a:off x="4892040" y="1481328"/>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~45 sn</a:t>
            </a:r>
          </a:p>
        </p:txBody>
      </p:sp>
      <p:sp>
        <p:nvSpPr>
          <p:cNvPr id="13" name="TextBox 12"/>
          <p:cNvSpPr txBox="1"/>
          <p:nvPr/>
        </p:nvSpPr>
        <p:spPr>
          <a:xfrm>
            <a:off x="685800" y="2240280"/>
            <a:ext cx="5029200" cy="1234440"/>
          </a:xfrm>
          <a:prstGeom prst="rect">
            <a:avLst/>
          </a:prstGeom>
          <a:noFill/>
        </p:spPr>
        <p:txBody>
          <a:bodyPr wrap="square" anchor="t" lIns="0" rIns="0" tIns="0" bIns="0">
            <a:spAutoFit/>
          </a:bodyPr>
          <a:lstStyle/>
          <a:p>
            <a:pPr algn="l">
              <a:spcAft>
                <a:spcPts val="200"/>
              </a:spcAft>
            </a:pPr>
            <a:r>
              <a:rPr sz="1400" b="1" i="1">
                <a:solidFill>
                  <a:srgbClr val="1E1E1E"/>
                </a:solidFill>
                <a:latin typeface="Calibri"/>
              </a:rPr>
              <a:t>“ODMTTLMT ekranında hata alıyorum”</a:t>
            </a:r>
          </a:p>
          <a:p>
            <a:pPr algn="l">
              <a:spcAft>
                <a:spcPts val="200"/>
              </a:spcAft>
            </a:pPr>
            <a:r>
              <a:rPr sz="1400" b="0" i="0">
                <a:solidFill>
                  <a:srgbClr val="1E1E1E"/>
                </a:solidFill>
                <a:latin typeface="Calibri"/>
              </a:rPr>
              <a:t>Kendi logunda 7 hata · GAZ02 110731</a:t>
            </a:r>
          </a:p>
          <a:p>
            <a:pPr algn="l">
              <a:spcAft>
                <a:spcPts val="200"/>
              </a:spcAft>
            </a:pPr>
            <a:r>
              <a:rPr sz="1400" b="0" i="0">
                <a:solidFill>
                  <a:srgbClr val="1E1E1E"/>
                </a:solidFill>
                <a:latin typeface="Calibri"/>
              </a:rPr>
              <a:t>SOL-031 ile kapanmış 6 çağrı</a:t>
            </a:r>
          </a:p>
          <a:p>
            <a:pPr algn="l">
              <a:spcAft>
                <a:spcPts val="200"/>
              </a:spcAft>
            </a:pPr>
            <a:r>
              <a:rPr sz="1400" b="0" i="0">
                <a:solidFill>
                  <a:srgbClr val="1E1E1E"/>
                </a:solidFill>
                <a:latin typeface="Calibri"/>
              </a:rPr>
              <a:t>▶ Akışı izle: adım adım ekran turu</a:t>
            </a:r>
          </a:p>
        </p:txBody>
      </p:sp>
      <p:sp>
        <p:nvSpPr>
          <p:cNvPr id="14" name="Rounded Rectangle 13"/>
          <p:cNvSpPr/>
          <p:nvPr/>
        </p:nvSpPr>
        <p:spPr>
          <a:xfrm>
            <a:off x="6172200" y="1188720"/>
            <a:ext cx="5577840" cy="2331720"/>
          </a:xfrm>
          <a:prstGeom prst="roundRect">
            <a:avLst>
              <a:gd name="adj" fmla="val 6000"/>
            </a:avLst>
          </a:prstGeom>
          <a:solidFill>
            <a:srgbClr val="F2F5F6"/>
          </a:solidFill>
          <a:ln>
            <a:noFill/>
          </a:ln>
          <a:effectLst/>
        </p:spPr>
        <p:txBody>
          <a:bodyPr rtlCol="0" anchor="ctr"/>
          <a:lstStyle/>
          <a:p/>
        </p:txBody>
      </p:sp>
      <p:sp>
        <p:nvSpPr>
          <p:cNvPr id="15" name="Oval 14"/>
          <p:cNvSpPr/>
          <p:nvPr/>
        </p:nvSpPr>
        <p:spPr>
          <a:xfrm>
            <a:off x="6400800" y="1417320"/>
            <a:ext cx="685800" cy="685800"/>
          </a:xfrm>
          <a:prstGeom prst="ellipse">
            <a:avLst/>
          </a:prstGeom>
          <a:solidFill>
            <a:srgbClr val="B90F0A"/>
          </a:solidFill>
          <a:ln>
            <a:noFill/>
          </a:ln>
          <a:effectLst/>
        </p:spPr>
        <p:txBody>
          <a:bodyPr rtlCol="0" anchor="ctr"/>
          <a:lstStyle/>
          <a:p/>
        </p:txBody>
      </p:sp>
      <p:pic>
        <p:nvPicPr>
          <p:cNvPr id="16" name="Picture 15" descr="eye-w.png"/>
          <p:cNvPicPr>
            <a:picLocks noChangeAspect="1"/>
          </p:cNvPicPr>
          <p:nvPr/>
        </p:nvPicPr>
        <p:blipFill>
          <a:blip r:embed="rId4"/>
          <a:stretch>
            <a:fillRect/>
          </a:stretch>
        </p:blipFill>
        <p:spPr>
          <a:xfrm>
            <a:off x="6572250" y="1588770"/>
            <a:ext cx="342900" cy="342900"/>
          </a:xfrm>
          <a:prstGeom prst="rect">
            <a:avLst/>
          </a:prstGeom>
        </p:spPr>
      </p:pic>
      <p:sp>
        <p:nvSpPr>
          <p:cNvPr id="17" name="TextBox 16"/>
          <p:cNvSpPr txBox="1"/>
          <p:nvPr/>
        </p:nvSpPr>
        <p:spPr>
          <a:xfrm>
            <a:off x="7269480" y="1389888"/>
            <a:ext cx="3291839" cy="731520"/>
          </a:xfrm>
          <a:prstGeom prst="rect">
            <a:avLst/>
          </a:prstGeom>
          <a:noFill/>
        </p:spPr>
        <p:txBody>
          <a:bodyPr wrap="square" anchor="ctr" lIns="0" rIns="0" tIns="0" bIns="0">
            <a:spAutoFit/>
          </a:bodyPr>
          <a:lstStyle/>
          <a:p>
            <a:pPr algn="l">
              <a:spcAft>
                <a:spcPts val="100"/>
              </a:spcAft>
            </a:pPr>
            <a:r>
              <a:rPr sz="1800" b="1" i="0">
                <a:solidFill>
                  <a:srgbClr val="1E1E1E"/>
                </a:solidFill>
                <a:latin typeface="Calibri"/>
              </a:rPr>
              <a:t>C · Belirtiyle arama</a:t>
            </a:r>
          </a:p>
          <a:p>
            <a:pPr algn="l">
              <a:spcAft>
                <a:spcPts val="100"/>
              </a:spcAft>
            </a:pPr>
            <a:r>
              <a:rPr sz="1200" b="0" i="0">
                <a:solidFill>
                  <a:srgbClr val="91969B"/>
                </a:solidFill>
                <a:latin typeface="Calibri"/>
              </a:rPr>
              <a:t>Elif → Kerem</a:t>
            </a:r>
          </a:p>
        </p:txBody>
      </p:sp>
      <p:sp>
        <p:nvSpPr>
          <p:cNvPr id="18" name="Rounded Rectangle 17"/>
          <p:cNvSpPr/>
          <p:nvPr/>
        </p:nvSpPr>
        <p:spPr>
          <a:xfrm>
            <a:off x="10652760" y="1481328"/>
            <a:ext cx="868680" cy="310896"/>
          </a:xfrm>
          <a:prstGeom prst="roundRect">
            <a:avLst>
              <a:gd name="adj" fmla="val 50000"/>
            </a:avLst>
          </a:prstGeom>
          <a:solidFill>
            <a:srgbClr val="B90F0A"/>
          </a:solidFill>
          <a:ln>
            <a:noFill/>
          </a:ln>
          <a:effectLst/>
        </p:spPr>
        <p:txBody>
          <a:bodyPr rtlCol="0" anchor="ctr"/>
          <a:lstStyle/>
          <a:p/>
        </p:txBody>
      </p:sp>
      <p:sp>
        <p:nvSpPr>
          <p:cNvPr id="19" name="TextBox 18"/>
          <p:cNvSpPr txBox="1"/>
          <p:nvPr/>
        </p:nvSpPr>
        <p:spPr>
          <a:xfrm>
            <a:off x="10652760" y="1481328"/>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~40 sn</a:t>
            </a:r>
          </a:p>
        </p:txBody>
      </p:sp>
      <p:sp>
        <p:nvSpPr>
          <p:cNvPr id="20" name="TextBox 19"/>
          <p:cNvSpPr txBox="1"/>
          <p:nvPr/>
        </p:nvSpPr>
        <p:spPr>
          <a:xfrm>
            <a:off x="6446520" y="2240280"/>
            <a:ext cx="5029200" cy="1234440"/>
          </a:xfrm>
          <a:prstGeom prst="rect">
            <a:avLst/>
          </a:prstGeom>
          <a:noFill/>
        </p:spPr>
        <p:txBody>
          <a:bodyPr wrap="square" anchor="t" lIns="0" rIns="0" tIns="0" bIns="0">
            <a:spAutoFit/>
          </a:bodyPr>
          <a:lstStyle/>
          <a:p>
            <a:pPr algn="l">
              <a:spcAft>
                <a:spcPts val="200"/>
              </a:spcAft>
            </a:pPr>
            <a:r>
              <a:rPr sz="1400" b="1" i="1">
                <a:solidFill>
                  <a:srgbClr val="1E1E1E"/>
                </a:solidFill>
                <a:latin typeface="Calibri"/>
              </a:rPr>
              <a:t>“abone numarasını sistem kabul etmiyor”</a:t>
            </a:r>
          </a:p>
          <a:p>
            <a:pPr algn="l">
              <a:spcAft>
                <a:spcPts val="200"/>
              </a:spcAft>
            </a:pPr>
            <a:r>
              <a:rPr sz="1400" b="0" i="0">
                <a:solidFill>
                  <a:srgbClr val="1E1E1E"/>
                </a:solidFill>
                <a:latin typeface="Calibri"/>
              </a:rPr>
              <a:t>AI Search: ODMTTLMT 110412 · İSKİ 13 hane</a:t>
            </a:r>
          </a:p>
          <a:p>
            <a:pPr algn="l">
              <a:spcAft>
                <a:spcPts val="200"/>
              </a:spcAft>
            </a:pPr>
            <a:r>
              <a:rPr sz="1400" b="0" i="0">
                <a:solidFill>
                  <a:srgbClr val="1E1E1E"/>
                </a:solidFill>
                <a:latin typeface="Calibri"/>
              </a:rPr>
              <a:t>7 günde 158 kayıt, tek kurumda</a:t>
            </a:r>
          </a:p>
          <a:p>
            <a:pPr algn="l">
              <a:spcAft>
                <a:spcPts val="200"/>
              </a:spcAft>
            </a:pPr>
            <a:r>
              <a:rPr sz="1400" b="0" i="0">
                <a:solidFill>
                  <a:srgbClr val="1E1E1E"/>
                </a:solidFill>
                <a:latin typeface="Calibri"/>
              </a:rPr>
              <a:t>‘Kullanıcı hatası’ çözümüne temkin</a:t>
            </a:r>
          </a:p>
        </p:txBody>
      </p:sp>
      <p:sp>
        <p:nvSpPr>
          <p:cNvPr id="21" name="Rounded Rectangle 20"/>
          <p:cNvSpPr/>
          <p:nvPr/>
        </p:nvSpPr>
        <p:spPr>
          <a:xfrm>
            <a:off x="411480" y="3703320"/>
            <a:ext cx="5577840" cy="2331720"/>
          </a:xfrm>
          <a:prstGeom prst="roundRect">
            <a:avLst>
              <a:gd name="adj" fmla="val 6000"/>
            </a:avLst>
          </a:prstGeom>
          <a:solidFill>
            <a:srgbClr val="F2F5F6"/>
          </a:solidFill>
          <a:ln>
            <a:noFill/>
          </a:ln>
          <a:effectLst/>
        </p:spPr>
        <p:txBody>
          <a:bodyPr rtlCol="0" anchor="ctr"/>
          <a:lstStyle/>
          <a:p/>
        </p:txBody>
      </p:sp>
      <p:sp>
        <p:nvSpPr>
          <p:cNvPr id="22" name="Oval 21"/>
          <p:cNvSpPr/>
          <p:nvPr/>
        </p:nvSpPr>
        <p:spPr>
          <a:xfrm>
            <a:off x="640080" y="3931920"/>
            <a:ext cx="685800" cy="685800"/>
          </a:xfrm>
          <a:prstGeom prst="ellipse">
            <a:avLst/>
          </a:prstGeom>
          <a:solidFill>
            <a:srgbClr val="870F00"/>
          </a:solidFill>
          <a:ln>
            <a:noFill/>
          </a:ln>
          <a:effectLst/>
        </p:spPr>
        <p:txBody>
          <a:bodyPr rtlCol="0" anchor="ctr"/>
          <a:lstStyle/>
          <a:p/>
        </p:txBody>
      </p:sp>
      <p:pic>
        <p:nvPicPr>
          <p:cNvPr id="23" name="Picture 22" descr="users-w.png"/>
          <p:cNvPicPr>
            <a:picLocks noChangeAspect="1"/>
          </p:cNvPicPr>
          <p:nvPr/>
        </p:nvPicPr>
        <p:blipFill>
          <a:blip r:embed="rId5"/>
          <a:stretch>
            <a:fillRect/>
          </a:stretch>
        </p:blipFill>
        <p:spPr>
          <a:xfrm>
            <a:off x="811530" y="4103370"/>
            <a:ext cx="342900" cy="342900"/>
          </a:xfrm>
          <a:prstGeom prst="rect">
            <a:avLst/>
          </a:prstGeom>
        </p:spPr>
      </p:pic>
      <p:sp>
        <p:nvSpPr>
          <p:cNvPr id="24" name="TextBox 23"/>
          <p:cNvSpPr txBox="1"/>
          <p:nvPr/>
        </p:nvSpPr>
        <p:spPr>
          <a:xfrm>
            <a:off x="1508760" y="3904487"/>
            <a:ext cx="3291839" cy="731520"/>
          </a:xfrm>
          <a:prstGeom prst="rect">
            <a:avLst/>
          </a:prstGeom>
          <a:noFill/>
        </p:spPr>
        <p:txBody>
          <a:bodyPr wrap="square" anchor="ctr" lIns="0" rIns="0" tIns="0" bIns="0">
            <a:spAutoFit/>
          </a:bodyPr>
          <a:lstStyle/>
          <a:p>
            <a:pPr algn="l">
              <a:spcAft>
                <a:spcPts val="100"/>
              </a:spcAft>
            </a:pPr>
            <a:r>
              <a:rPr sz="1800" b="1" i="0">
                <a:solidFill>
                  <a:srgbClr val="1E1E1E"/>
                </a:solidFill>
                <a:latin typeface="Calibri"/>
              </a:rPr>
              <a:t>D · Etkilenen müşteriler</a:t>
            </a:r>
          </a:p>
          <a:p>
            <a:pPr algn="l">
              <a:spcAft>
                <a:spcPts val="100"/>
              </a:spcAft>
            </a:pPr>
            <a:r>
              <a:rPr sz="1200" b="0" i="0">
                <a:solidFill>
                  <a:srgbClr val="91969B"/>
                </a:solidFill>
                <a:latin typeface="Calibri"/>
              </a:rPr>
              <a:t>Kerem (L2)</a:t>
            </a:r>
          </a:p>
        </p:txBody>
      </p:sp>
      <p:sp>
        <p:nvSpPr>
          <p:cNvPr id="25" name="Rounded Rectangle 24"/>
          <p:cNvSpPr/>
          <p:nvPr/>
        </p:nvSpPr>
        <p:spPr>
          <a:xfrm>
            <a:off x="4892040" y="3995928"/>
            <a:ext cx="868680" cy="310896"/>
          </a:xfrm>
          <a:prstGeom prst="roundRect">
            <a:avLst>
              <a:gd name="adj" fmla="val 50000"/>
            </a:avLst>
          </a:prstGeom>
          <a:solidFill>
            <a:srgbClr val="870F00"/>
          </a:solidFill>
          <a:ln>
            <a:noFill/>
          </a:ln>
          <a:effectLst/>
        </p:spPr>
        <p:txBody>
          <a:bodyPr rtlCol="0" anchor="ctr"/>
          <a:lstStyle/>
          <a:p/>
        </p:txBody>
      </p:sp>
      <p:sp>
        <p:nvSpPr>
          <p:cNvPr id="26" name="TextBox 25"/>
          <p:cNvSpPr txBox="1"/>
          <p:nvPr/>
        </p:nvSpPr>
        <p:spPr>
          <a:xfrm>
            <a:off x="4892040" y="3995928"/>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~40 sn</a:t>
            </a:r>
          </a:p>
        </p:txBody>
      </p:sp>
      <p:sp>
        <p:nvSpPr>
          <p:cNvPr id="27" name="TextBox 26"/>
          <p:cNvSpPr txBox="1"/>
          <p:nvPr/>
        </p:nvSpPr>
        <p:spPr>
          <a:xfrm>
            <a:off x="685800" y="4754879"/>
            <a:ext cx="5029200" cy="1234440"/>
          </a:xfrm>
          <a:prstGeom prst="rect">
            <a:avLst/>
          </a:prstGeom>
          <a:noFill/>
        </p:spPr>
        <p:txBody>
          <a:bodyPr wrap="square" anchor="t" lIns="0" rIns="0" tIns="0" bIns="0">
            <a:spAutoFit/>
          </a:bodyPr>
          <a:lstStyle/>
          <a:p>
            <a:pPr algn="l">
              <a:spcAft>
                <a:spcPts val="200"/>
              </a:spcAft>
            </a:pPr>
            <a:r>
              <a:rPr sz="1400" b="1" i="1">
                <a:solidFill>
                  <a:srgbClr val="1E1E1E"/>
                </a:solidFill>
                <a:latin typeface="Calibri"/>
              </a:rPr>
              <a:t>“Aktif talimat zaten var… kaç müşteri?”</a:t>
            </a:r>
          </a:p>
          <a:p>
            <a:pPr algn="l">
              <a:spcAft>
                <a:spcPts val="200"/>
              </a:spcAft>
            </a:pPr>
            <a:r>
              <a:rPr sz="1400" b="0" i="0">
                <a:solidFill>
                  <a:srgbClr val="1E1E1E"/>
                </a:solidFill>
                <a:latin typeface="Calibri"/>
              </a:rPr>
              <a:t>Etkilenen müşteriler (31) düğmesi</a:t>
            </a:r>
          </a:p>
          <a:p>
            <a:pPr algn="l">
              <a:spcAft>
                <a:spcPts val="200"/>
              </a:spcAft>
            </a:pPr>
            <a:r>
              <a:rPr sz="1400" b="0" i="0">
                <a:solidFill>
                  <a:srgbClr val="1E1E1E"/>
                </a:solidFill>
                <a:latin typeface="Calibri"/>
              </a:rPr>
              <a:t>11 aranabilir; izinsiz telefon maskeli</a:t>
            </a:r>
          </a:p>
          <a:p>
            <a:pPr algn="l">
              <a:spcAft>
                <a:spcPts val="200"/>
              </a:spcAft>
            </a:pPr>
            <a:r>
              <a:rPr sz="1400" b="0" i="0">
                <a:solidFill>
                  <a:srgbClr val="1E1E1E"/>
                </a:solidFill>
                <a:latin typeface="Calibri"/>
              </a:rPr>
              <a:t>Görüntüleme erişim kaydına yazılır</a:t>
            </a:r>
          </a:p>
        </p:txBody>
      </p:sp>
      <p:sp>
        <p:nvSpPr>
          <p:cNvPr id="28" name="Rounded Rectangle 27"/>
          <p:cNvSpPr/>
          <p:nvPr/>
        </p:nvSpPr>
        <p:spPr>
          <a:xfrm>
            <a:off x="6172200" y="3703320"/>
            <a:ext cx="5577840" cy="2331720"/>
          </a:xfrm>
          <a:prstGeom prst="roundRect">
            <a:avLst>
              <a:gd name="adj" fmla="val 6000"/>
            </a:avLst>
          </a:prstGeom>
          <a:solidFill>
            <a:srgbClr val="F2F5F6"/>
          </a:solidFill>
          <a:ln>
            <a:noFill/>
          </a:ln>
          <a:effectLst/>
        </p:spPr>
        <p:txBody>
          <a:bodyPr rtlCol="0" anchor="ctr"/>
          <a:lstStyle/>
          <a:p/>
        </p:txBody>
      </p:sp>
      <p:sp>
        <p:nvSpPr>
          <p:cNvPr id="29" name="Oval 28"/>
          <p:cNvSpPr/>
          <p:nvPr/>
        </p:nvSpPr>
        <p:spPr>
          <a:xfrm>
            <a:off x="6400800" y="3931920"/>
            <a:ext cx="685800" cy="685800"/>
          </a:xfrm>
          <a:prstGeom prst="ellipse">
            <a:avLst/>
          </a:prstGeom>
          <a:solidFill>
            <a:srgbClr val="91969B"/>
          </a:solidFill>
          <a:ln>
            <a:noFill/>
          </a:ln>
          <a:effectLst/>
        </p:spPr>
        <p:txBody>
          <a:bodyPr rtlCol="0" anchor="ctr"/>
          <a:lstStyle/>
          <a:p/>
        </p:txBody>
      </p:sp>
      <p:pic>
        <p:nvPicPr>
          <p:cNvPr id="30" name="Picture 29" descr="shield-w.png"/>
          <p:cNvPicPr>
            <a:picLocks noChangeAspect="1"/>
          </p:cNvPicPr>
          <p:nvPr/>
        </p:nvPicPr>
        <p:blipFill>
          <a:blip r:embed="rId6"/>
          <a:stretch>
            <a:fillRect/>
          </a:stretch>
        </p:blipFill>
        <p:spPr>
          <a:xfrm>
            <a:off x="6572250" y="4103370"/>
            <a:ext cx="342900" cy="342900"/>
          </a:xfrm>
          <a:prstGeom prst="rect">
            <a:avLst/>
          </a:prstGeom>
        </p:spPr>
      </p:pic>
      <p:sp>
        <p:nvSpPr>
          <p:cNvPr id="31" name="TextBox 30"/>
          <p:cNvSpPr txBox="1"/>
          <p:nvPr/>
        </p:nvSpPr>
        <p:spPr>
          <a:xfrm>
            <a:off x="7269480" y="3904487"/>
            <a:ext cx="3291839" cy="731520"/>
          </a:xfrm>
          <a:prstGeom prst="rect">
            <a:avLst/>
          </a:prstGeom>
          <a:noFill/>
        </p:spPr>
        <p:txBody>
          <a:bodyPr wrap="square" anchor="ctr" lIns="0" rIns="0" tIns="0" bIns="0">
            <a:spAutoFit/>
          </a:bodyPr>
          <a:lstStyle/>
          <a:p>
            <a:pPr algn="l">
              <a:spcAft>
                <a:spcPts val="100"/>
              </a:spcAft>
            </a:pPr>
            <a:r>
              <a:rPr sz="1800" b="1" i="0">
                <a:solidFill>
                  <a:srgbClr val="1E1E1E"/>
                </a:solidFill>
                <a:latin typeface="Calibri"/>
              </a:rPr>
              <a:t>Güvenilir AI</a:t>
            </a:r>
          </a:p>
          <a:p>
            <a:pPr algn="l">
              <a:spcAft>
                <a:spcPts val="100"/>
              </a:spcAft>
            </a:pPr>
            <a:r>
              <a:rPr sz="1200" b="0" i="0">
                <a:solidFill>
                  <a:srgbClr val="91969B"/>
                </a:solidFill>
                <a:latin typeface="Calibri"/>
              </a:rPr>
              <a:t>Kerem (L2)</a:t>
            </a:r>
          </a:p>
        </p:txBody>
      </p:sp>
      <p:sp>
        <p:nvSpPr>
          <p:cNvPr id="32" name="Rounded Rectangle 31"/>
          <p:cNvSpPr/>
          <p:nvPr/>
        </p:nvSpPr>
        <p:spPr>
          <a:xfrm>
            <a:off x="10652760" y="3995928"/>
            <a:ext cx="868680" cy="310896"/>
          </a:xfrm>
          <a:prstGeom prst="roundRect">
            <a:avLst>
              <a:gd name="adj" fmla="val 50000"/>
            </a:avLst>
          </a:prstGeom>
          <a:solidFill>
            <a:srgbClr val="91969B"/>
          </a:solidFill>
          <a:ln>
            <a:noFill/>
          </a:ln>
          <a:effectLst/>
        </p:spPr>
        <p:txBody>
          <a:bodyPr rtlCol="0" anchor="ctr"/>
          <a:lstStyle/>
          <a:p/>
        </p:txBody>
      </p:sp>
      <p:sp>
        <p:nvSpPr>
          <p:cNvPr id="33" name="TextBox 32"/>
          <p:cNvSpPr txBox="1"/>
          <p:nvPr/>
        </p:nvSpPr>
        <p:spPr>
          <a:xfrm>
            <a:off x="10652760" y="3995928"/>
            <a:ext cx="868680" cy="310896"/>
          </a:xfrm>
          <a:prstGeom prst="rect">
            <a:avLst/>
          </a:prstGeom>
          <a:noFill/>
        </p:spPr>
        <p:txBody>
          <a:bodyPr wrap="square" anchor="ctr" lIns="0" rIns="0" tIns="0" bIns="0">
            <a:spAutoFit/>
          </a:bodyPr>
          <a:lstStyle/>
          <a:p>
            <a:pPr algn="ctr">
              <a:spcAft>
                <a:spcPts val="400"/>
              </a:spcAft>
            </a:pPr>
            <a:r>
              <a:rPr sz="1100" b="1" i="0">
                <a:solidFill>
                  <a:srgbClr val="FFFFFF"/>
                </a:solidFill>
                <a:latin typeface="Calibri"/>
              </a:rPr>
              <a:t>~35 sn</a:t>
            </a:r>
          </a:p>
        </p:txBody>
      </p:sp>
      <p:sp>
        <p:nvSpPr>
          <p:cNvPr id="34" name="TextBox 33"/>
          <p:cNvSpPr txBox="1"/>
          <p:nvPr/>
        </p:nvSpPr>
        <p:spPr>
          <a:xfrm>
            <a:off x="6446520" y="4754879"/>
            <a:ext cx="5029200" cy="1234440"/>
          </a:xfrm>
          <a:prstGeom prst="rect">
            <a:avLst/>
          </a:prstGeom>
          <a:noFill/>
        </p:spPr>
        <p:txBody>
          <a:bodyPr wrap="square" anchor="t" lIns="0" rIns="0" tIns="0" bIns="0">
            <a:spAutoFit/>
          </a:bodyPr>
          <a:lstStyle/>
          <a:p>
            <a:pPr algn="l">
              <a:spcAft>
                <a:spcPts val="200"/>
              </a:spcAft>
            </a:pPr>
            <a:r>
              <a:rPr sz="1400" b="1" i="1">
                <a:solidFill>
                  <a:srgbClr val="1E1E1E"/>
                </a:solidFill>
                <a:latin typeface="Calibri"/>
              </a:rPr>
              <a:t>“Input string was not in a correct format”</a:t>
            </a:r>
          </a:p>
          <a:p>
            <a:pPr algn="l">
              <a:spcAft>
                <a:spcPts val="200"/>
              </a:spcAft>
            </a:pPr>
            <a:r>
              <a:rPr sz="1400" b="0" i="0">
                <a:solidFill>
                  <a:srgbClr val="1E1E1E"/>
                </a:solidFill>
                <a:latin typeface="Calibri"/>
              </a:rPr>
              <a:t>Hazır çözüm araması: %75 eşiğin altında</a:t>
            </a:r>
          </a:p>
          <a:p>
            <a:pPr algn="l">
              <a:spcAft>
                <a:spcPts val="200"/>
              </a:spcAft>
            </a:pPr>
            <a:r>
              <a:rPr sz="1400" b="0" i="0">
                <a:solidFill>
                  <a:srgbClr val="1E1E1E"/>
                </a:solidFill>
                <a:latin typeface="Calibri"/>
              </a:rPr>
              <a:t>Uydurmaz: ‘hazır çözüm yok, ekibe ilet’</a:t>
            </a:r>
          </a:p>
          <a:p>
            <a:pPr algn="l">
              <a:spcAft>
                <a:spcPts val="200"/>
              </a:spcAft>
            </a:pPr>
            <a:r>
              <a:rPr sz="1400" b="0" i="0">
                <a:solidFill>
                  <a:srgbClr val="1E1E1E"/>
                </a:solidFill>
                <a:latin typeface="Calibri"/>
              </a:rPr>
              <a:t>Foundry izlemesinde araç adımları</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İş Değeri: Önce ve Sonra</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9</a:t>
            </a:r>
          </a:p>
        </p:txBody>
      </p:sp>
      <p:sp>
        <p:nvSpPr>
          <p:cNvPr id="6" name="Rounded Rectangle 5"/>
          <p:cNvSpPr/>
          <p:nvPr/>
        </p:nvSpPr>
        <p:spPr>
          <a:xfrm>
            <a:off x="411480" y="1097280"/>
            <a:ext cx="3611880" cy="1371600"/>
          </a:xfrm>
          <a:prstGeom prst="roundRect">
            <a:avLst>
              <a:gd name="adj" fmla="val 6000"/>
            </a:avLst>
          </a:prstGeom>
          <a:solidFill>
            <a:srgbClr val="F2F5F6"/>
          </a:solidFill>
          <a:ln>
            <a:noFill/>
          </a:ln>
          <a:effectLst/>
        </p:spPr>
        <p:txBody>
          <a:bodyPr rtlCol="0" anchor="ctr"/>
          <a:lstStyle/>
          <a:p/>
        </p:txBody>
      </p:sp>
      <p:sp>
        <p:nvSpPr>
          <p:cNvPr id="7" name="TextBox 6"/>
          <p:cNvSpPr txBox="1"/>
          <p:nvPr/>
        </p:nvSpPr>
        <p:spPr>
          <a:xfrm>
            <a:off x="685800" y="1097280"/>
            <a:ext cx="3108960" cy="1371600"/>
          </a:xfrm>
          <a:prstGeom prst="rect">
            <a:avLst/>
          </a:prstGeom>
          <a:noFill/>
        </p:spPr>
        <p:txBody>
          <a:bodyPr wrap="square" anchor="ctr" lIns="0" rIns="0" tIns="0" bIns="0">
            <a:spAutoFit/>
          </a:bodyPr>
          <a:lstStyle/>
          <a:p>
            <a:pPr algn="l">
              <a:spcAft>
                <a:spcPts val="200"/>
              </a:spcAft>
            </a:pPr>
            <a:r>
              <a:rPr sz="2200" b="1" i="0">
                <a:solidFill>
                  <a:srgbClr val="E10514"/>
                </a:solidFill>
                <a:latin typeface="Calibri"/>
              </a:rPr>
              <a:t>Çağrı hiç açılmıyor</a:t>
            </a:r>
          </a:p>
          <a:p>
            <a:pPr algn="l">
              <a:spcAft>
                <a:spcPts val="200"/>
              </a:spcAft>
            </a:pPr>
            <a:r>
              <a:rPr sz="1400" b="0" i="0">
                <a:solidFill>
                  <a:srgbClr val="91969B"/>
                </a:solidFill>
                <a:latin typeface="Calibri"/>
              </a:rPr>
              <a:t>İş kuralı reddinde (A)</a:t>
            </a:r>
          </a:p>
        </p:txBody>
      </p:sp>
      <p:sp>
        <p:nvSpPr>
          <p:cNvPr id="8" name="Rounded Rectangle 7"/>
          <p:cNvSpPr/>
          <p:nvPr/>
        </p:nvSpPr>
        <p:spPr>
          <a:xfrm>
            <a:off x="4251960" y="1097280"/>
            <a:ext cx="3611880" cy="1371600"/>
          </a:xfrm>
          <a:prstGeom prst="roundRect">
            <a:avLst>
              <a:gd name="adj" fmla="val 6000"/>
            </a:avLst>
          </a:prstGeom>
          <a:solidFill>
            <a:srgbClr val="F2F5F6"/>
          </a:solidFill>
          <a:ln>
            <a:noFill/>
          </a:ln>
          <a:effectLst/>
        </p:spPr>
        <p:txBody>
          <a:bodyPr rtlCol="0" anchor="ctr"/>
          <a:lstStyle/>
          <a:p/>
        </p:txBody>
      </p:sp>
      <p:sp>
        <p:nvSpPr>
          <p:cNvPr id="9" name="TextBox 8"/>
          <p:cNvSpPr txBox="1"/>
          <p:nvPr/>
        </p:nvSpPr>
        <p:spPr>
          <a:xfrm>
            <a:off x="4526280" y="1097280"/>
            <a:ext cx="3108960" cy="1371600"/>
          </a:xfrm>
          <a:prstGeom prst="rect">
            <a:avLst/>
          </a:prstGeom>
          <a:noFill/>
        </p:spPr>
        <p:txBody>
          <a:bodyPr wrap="square" anchor="ctr" lIns="0" rIns="0" tIns="0" bIns="0">
            <a:spAutoFit/>
          </a:bodyPr>
          <a:lstStyle/>
          <a:p>
            <a:pPr algn="l">
              <a:spcAft>
                <a:spcPts val="200"/>
              </a:spcAft>
            </a:pPr>
            <a:r>
              <a:rPr sz="2200" b="1" i="0">
                <a:solidFill>
                  <a:srgbClr val="B90F0A"/>
                </a:solidFill>
                <a:latin typeface="Calibri"/>
              </a:rPr>
              <a:t>Saniyeler içinde çözüm</a:t>
            </a:r>
          </a:p>
          <a:p>
            <a:pPr algn="l">
              <a:spcAft>
                <a:spcPts val="200"/>
              </a:spcAft>
            </a:pPr>
            <a:r>
              <a:rPr sz="1400" b="0" i="0">
                <a:solidFill>
                  <a:srgbClr val="91969B"/>
                </a:solidFill>
                <a:latin typeface="Calibri"/>
              </a:rPr>
              <a:t>Bilinen sorunda, kaynağıyla (B)</a:t>
            </a:r>
          </a:p>
        </p:txBody>
      </p:sp>
      <p:sp>
        <p:nvSpPr>
          <p:cNvPr id="10" name="Rounded Rectangle 9"/>
          <p:cNvSpPr/>
          <p:nvPr/>
        </p:nvSpPr>
        <p:spPr>
          <a:xfrm>
            <a:off x="8092440" y="1097280"/>
            <a:ext cx="3611880" cy="1371600"/>
          </a:xfrm>
          <a:prstGeom prst="roundRect">
            <a:avLst>
              <a:gd name="adj" fmla="val 6000"/>
            </a:avLst>
          </a:prstGeom>
          <a:solidFill>
            <a:srgbClr val="F2F5F6"/>
          </a:solidFill>
          <a:ln>
            <a:noFill/>
          </a:ln>
          <a:effectLst/>
        </p:spPr>
        <p:txBody>
          <a:bodyPr rtlCol="0" anchor="ctr"/>
          <a:lstStyle/>
          <a:p/>
        </p:txBody>
      </p:sp>
      <p:sp>
        <p:nvSpPr>
          <p:cNvPr id="11" name="TextBox 10"/>
          <p:cNvSpPr txBox="1"/>
          <p:nvPr/>
        </p:nvSpPr>
        <p:spPr>
          <a:xfrm>
            <a:off x="8366760" y="1097280"/>
            <a:ext cx="3108960" cy="1371600"/>
          </a:xfrm>
          <a:prstGeom prst="rect">
            <a:avLst/>
          </a:prstGeom>
          <a:noFill/>
        </p:spPr>
        <p:txBody>
          <a:bodyPr wrap="square" anchor="ctr" lIns="0" rIns="0" tIns="0" bIns="0">
            <a:spAutoFit/>
          </a:bodyPr>
          <a:lstStyle/>
          <a:p>
            <a:pPr algn="l">
              <a:spcAft>
                <a:spcPts val="200"/>
              </a:spcAft>
            </a:pPr>
            <a:r>
              <a:rPr sz="2200" b="1" i="0">
                <a:solidFill>
                  <a:srgbClr val="870F00"/>
                </a:solidFill>
                <a:latin typeface="Calibri"/>
              </a:rPr>
              <a:t>Tek tıkla liste</a:t>
            </a:r>
          </a:p>
          <a:p>
            <a:pPr algn="l">
              <a:spcAft>
                <a:spcPts val="200"/>
              </a:spcAft>
            </a:pPr>
            <a:r>
              <a:rPr sz="1400" b="0" i="0">
                <a:solidFill>
                  <a:srgbClr val="91969B"/>
                </a:solidFill>
                <a:latin typeface="Calibri"/>
              </a:rPr>
              <a:t>Etkilenen müşteri, KVKK uyumlu (D)</a:t>
            </a:r>
          </a:p>
        </p:txBody>
      </p:sp>
      <p:graphicFrame>
        <p:nvGraphicFramePr>
          <p:cNvPr id="12" name="Table 11"/>
          <p:cNvGraphicFramePr>
            <a:graphicFrameLocks noGrp="1"/>
          </p:cNvGraphicFramePr>
          <p:nvPr/>
        </p:nvGraphicFramePr>
        <p:xfrm>
          <a:off x="411480" y="2697480"/>
          <a:ext cx="11338560" cy="3017520"/>
        </p:xfrm>
        <a:graphic>
          <a:graphicData uri="http://schemas.openxmlformats.org/drawingml/2006/table">
            <a:tbl>
              <a:tblPr firstRow="1" bandRow="1"/>
              <a:tblGrid>
                <a:gridCol w="2651760"/>
                <a:gridCol w="3931920"/>
                <a:gridCol w="4754880"/>
              </a:tblGrid>
              <a:tr h="502920">
                <a:tc>
                  <a:txBody>
                    <a:bodyPr/>
                    <a:lstStyle/>
                    <a:p>
                      <a:r>
                        <a:rPr sz="1400" b="1" i="0">
                          <a:solidFill>
                            <a:srgbClr val="FFFFFF"/>
                          </a:solidFill>
                          <a:latin typeface="Calibri"/>
                        </a:rPr>
                        <a:t>Ölçü</a:t>
                      </a:r>
                    </a:p>
                  </a:txBody>
                  <a:tcPr marL="109728" marR="109728" anchor="ctr">
                    <a:solidFill>
                      <a:srgbClr val="B90F0A"/>
                    </a:solidFill>
                  </a:tcPr>
                </a:tc>
                <a:tc>
                  <a:txBody>
                    <a:bodyPr/>
                    <a:lstStyle/>
                    <a:p>
                      <a:r>
                        <a:rPr sz="1400" b="1" i="0">
                          <a:solidFill>
                            <a:srgbClr val="FFFFFF"/>
                          </a:solidFill>
                          <a:latin typeface="Calibri"/>
                        </a:rPr>
                        <a:t>Bugün</a:t>
                      </a:r>
                    </a:p>
                  </a:txBody>
                  <a:tcPr marL="109728" marR="109728" anchor="ctr">
                    <a:solidFill>
                      <a:srgbClr val="B90F0A"/>
                    </a:solidFill>
                  </a:tcPr>
                </a:tc>
                <a:tc>
                  <a:txBody>
                    <a:bodyPr/>
                    <a:lstStyle/>
                    <a:p>
                      <a:r>
                        <a:rPr sz="1400" b="1" i="0">
                          <a:solidFill>
                            <a:srgbClr val="FFFFFF"/>
                          </a:solidFill>
                          <a:latin typeface="Calibri"/>
                        </a:rPr>
                        <a:t>Mercek ile</a:t>
                      </a:r>
                    </a:p>
                  </a:txBody>
                  <a:tcPr marL="109728" marR="109728" anchor="ctr">
                    <a:solidFill>
                      <a:srgbClr val="B90F0A"/>
                    </a:solidFill>
                  </a:tcPr>
                </a:tc>
              </a:tr>
              <a:tr h="502920">
                <a:tc>
                  <a:txBody>
                    <a:bodyPr/>
                    <a:lstStyle/>
                    <a:p>
                      <a:r>
                        <a:rPr sz="1400" b="1" i="0">
                          <a:solidFill>
                            <a:srgbClr val="1E1E1E"/>
                          </a:solidFill>
                          <a:latin typeface="Calibri"/>
                        </a:rPr>
                        <a:t>İş kuralı reddi</a:t>
                      </a:r>
                    </a:p>
                  </a:txBody>
                  <a:tcPr marL="109728" marR="109728" anchor="ctr">
                    <a:solidFill>
                      <a:srgbClr val="FFFFFF"/>
                    </a:solidFill>
                  </a:tcPr>
                </a:tc>
                <a:tc>
                  <a:txBody>
                    <a:bodyPr/>
                    <a:lstStyle/>
                    <a:p>
                      <a:r>
                        <a:rPr sz="1400" b="0" i="0">
                          <a:solidFill>
                            <a:srgbClr val="1E1E1E"/>
                          </a:solidFill>
                          <a:latin typeface="Calibri"/>
                        </a:rPr>
                        <a:t>Çağrı açılır, L1 kuralı açıklar</a:t>
                      </a:r>
                    </a:p>
                  </a:txBody>
                  <a:tcPr marL="109728" marR="109728" anchor="ctr">
                    <a:solidFill>
                      <a:srgbClr val="FFFFFF"/>
                    </a:solidFill>
                  </a:tcPr>
                </a:tc>
                <a:tc>
                  <a:txBody>
                    <a:bodyPr/>
                    <a:lstStyle/>
                    <a:p>
                      <a:r>
                        <a:rPr sz="1400" b="0" i="0">
                          <a:solidFill>
                            <a:srgbClr val="1E1E1E"/>
                          </a:solidFill>
                          <a:latin typeface="Calibri"/>
                        </a:rPr>
                        <a:t>Mercek kuralı ve nedenini açıklar; çağrı açılmaz</a:t>
                      </a:r>
                    </a:p>
                  </a:txBody>
                  <a:tcPr marL="109728" marR="109728" anchor="ctr">
                    <a:solidFill>
                      <a:srgbClr val="FFFFFF"/>
                    </a:solidFill>
                  </a:tcPr>
                </a:tc>
              </a:tr>
              <a:tr h="502920">
                <a:tc>
                  <a:txBody>
                    <a:bodyPr/>
                    <a:lstStyle/>
                    <a:p>
                      <a:r>
                        <a:rPr sz="1400" b="1" i="0">
                          <a:solidFill>
                            <a:srgbClr val="1E1E1E"/>
                          </a:solidFill>
                          <a:latin typeface="Calibri"/>
                        </a:rPr>
                        <a:t>Yaygın kurum sorunu</a:t>
                      </a:r>
                    </a:p>
                  </a:txBody>
                  <a:tcPr marL="109728" marR="109728" anchor="ctr">
                    <a:solidFill>
                      <a:srgbClr val="F2F5F6"/>
                    </a:solidFill>
                  </a:tcPr>
                </a:tc>
                <a:tc>
                  <a:txBody>
                    <a:bodyPr/>
                    <a:lstStyle/>
                    <a:p>
                      <a:r>
                        <a:rPr sz="1400" b="0" i="0">
                          <a:solidFill>
                            <a:srgbClr val="1E1E1E"/>
                          </a:solidFill>
                          <a:latin typeface="Calibri"/>
                        </a:rPr>
                        <a:t>Her arama ayrı çağrı</a:t>
                      </a:r>
                    </a:p>
                  </a:txBody>
                  <a:tcPr marL="109728" marR="109728" anchor="ctr">
                    <a:solidFill>
                      <a:srgbClr val="F2F5F6"/>
                    </a:solidFill>
                  </a:tcPr>
                </a:tc>
                <a:tc>
                  <a:txBody>
                    <a:bodyPr/>
                    <a:lstStyle/>
                    <a:p>
                      <a:r>
                        <a:rPr sz="1400" b="0" i="0">
                          <a:solidFill>
                            <a:srgbClr val="1E1E1E"/>
                          </a:solidFill>
                          <a:latin typeface="Calibri"/>
                        </a:rPr>
                        <a:t>Kurum kaynaklı olduğu, kaç kayıtta görüldüğüyle söylenir</a:t>
                      </a:r>
                    </a:p>
                  </a:txBody>
                  <a:tcPr marL="109728" marR="109728" anchor="ctr">
                    <a:solidFill>
                      <a:srgbClr val="F2F5F6"/>
                    </a:solidFill>
                  </a:tcPr>
                </a:tc>
              </a:tr>
              <a:tr h="502920">
                <a:tc>
                  <a:txBody>
                    <a:bodyPr/>
                    <a:lstStyle/>
                    <a:p>
                      <a:r>
                        <a:rPr sz="1400" b="1" i="0">
                          <a:solidFill>
                            <a:srgbClr val="1E1E1E"/>
                          </a:solidFill>
                          <a:latin typeface="Calibri"/>
                        </a:rPr>
                        <a:t>Bilinen sorun</a:t>
                      </a:r>
                    </a:p>
                  </a:txBody>
                  <a:tcPr marL="109728" marR="109728" anchor="ctr">
                    <a:solidFill>
                      <a:srgbClr val="FFFFFF"/>
                    </a:solidFill>
                  </a:tcPr>
                </a:tc>
                <a:tc>
                  <a:txBody>
                    <a:bodyPr/>
                    <a:lstStyle/>
                    <a:p>
                      <a:r>
                        <a:rPr sz="1400" b="0" i="0">
                          <a:solidFill>
                            <a:srgbClr val="1E1E1E"/>
                          </a:solidFill>
                          <a:latin typeface="Calibri"/>
                        </a:rPr>
                        <a:t>L2 log arar, çözüm kişide</a:t>
                      </a:r>
                    </a:p>
                  </a:txBody>
                  <a:tcPr marL="109728" marR="109728" anchor="ctr">
                    <a:solidFill>
                      <a:srgbClr val="FFFFFF"/>
                    </a:solidFill>
                  </a:tcPr>
                </a:tc>
                <a:tc>
                  <a:txBody>
                    <a:bodyPr/>
                    <a:lstStyle/>
                    <a:p>
                      <a:r>
                        <a:rPr sz="1400" b="0" i="0">
                          <a:solidFill>
                            <a:srgbClr val="1E1E1E"/>
                          </a:solidFill>
                          <a:latin typeface="Calibri"/>
                        </a:rPr>
                        <a:t>Hazır çözüm ve ekran akışı; %75 eşiğin altında öneri yok</a:t>
                      </a:r>
                    </a:p>
                  </a:txBody>
                  <a:tcPr marL="109728" marR="109728" anchor="ctr">
                    <a:solidFill>
                      <a:srgbClr val="FFFFFF"/>
                    </a:solidFill>
                  </a:tcPr>
                </a:tc>
              </a:tr>
              <a:tr h="502920">
                <a:tc>
                  <a:txBody>
                    <a:bodyPr/>
                    <a:lstStyle/>
                    <a:p>
                      <a:r>
                        <a:rPr sz="1400" b="1" i="0">
                          <a:solidFill>
                            <a:srgbClr val="1E1E1E"/>
                          </a:solidFill>
                          <a:latin typeface="Calibri"/>
                        </a:rPr>
                        <a:t>Yanlış kapatılan kural</a:t>
                      </a:r>
                    </a:p>
                  </a:txBody>
                  <a:tcPr marL="109728" marR="109728" anchor="ctr">
                    <a:solidFill>
                      <a:srgbClr val="F2F5F6"/>
                    </a:solidFill>
                  </a:tcPr>
                </a:tc>
                <a:tc>
                  <a:txBody>
                    <a:bodyPr/>
                    <a:lstStyle/>
                    <a:p>
                      <a:r>
                        <a:rPr sz="1400" b="0" i="0">
                          <a:solidFill>
                            <a:srgbClr val="1E1E1E"/>
                          </a:solidFill>
                          <a:latin typeface="Calibri"/>
                        </a:rPr>
                        <a:t>Kullanıcı hatası diye kapanır, tekrarlar</a:t>
                      </a:r>
                    </a:p>
                  </a:txBody>
                  <a:tcPr marL="109728" marR="109728" anchor="ctr">
                    <a:solidFill>
                      <a:srgbClr val="F2F5F6"/>
                    </a:solidFill>
                  </a:tcPr>
                </a:tc>
                <a:tc>
                  <a:txBody>
                    <a:bodyPr/>
                    <a:lstStyle/>
                    <a:p>
                      <a:r>
                        <a:rPr sz="1400" b="0" i="0">
                          <a:solidFill>
                            <a:srgbClr val="1E1E1E"/>
                          </a:solidFill>
                          <a:latin typeface="Calibri"/>
                        </a:rPr>
                        <a:t>Tek kurumda yoğunlaşma işaretlenir, temkinli sunulur</a:t>
                      </a:r>
                    </a:p>
                  </a:txBody>
                  <a:tcPr marL="109728" marR="109728" anchor="ctr">
                    <a:solidFill>
                      <a:srgbClr val="F2F5F6"/>
                    </a:solidFill>
                  </a:tcPr>
                </a:tc>
              </a:tr>
              <a:tr h="502920">
                <a:tc>
                  <a:txBody>
                    <a:bodyPr/>
                    <a:lstStyle/>
                    <a:p>
                      <a:r>
                        <a:rPr sz="1400" b="1" i="0">
                          <a:solidFill>
                            <a:srgbClr val="1E1E1E"/>
                          </a:solidFill>
                          <a:latin typeface="Calibri"/>
                        </a:rPr>
                        <a:t>Etkilenen müşteri</a:t>
                      </a:r>
                    </a:p>
                  </a:txBody>
                  <a:tcPr marL="109728" marR="109728" anchor="ctr">
                    <a:solidFill>
                      <a:srgbClr val="FFFFFF"/>
                    </a:solidFill>
                  </a:tcPr>
                </a:tc>
                <a:tc>
                  <a:txBody>
                    <a:bodyPr/>
                    <a:lstStyle/>
                    <a:p>
                      <a:r>
                        <a:rPr sz="1400" b="0" i="0">
                          <a:solidFill>
                            <a:srgbClr val="1E1E1E"/>
                          </a:solidFill>
                          <a:latin typeface="Calibri"/>
                        </a:rPr>
                        <a:t>Liste elle çıkarılır, izin bakılmaz</a:t>
                      </a:r>
                    </a:p>
                  </a:txBody>
                  <a:tcPr marL="109728" marR="109728" anchor="ctr">
                    <a:solidFill>
                      <a:srgbClr val="FFFFFF"/>
                    </a:solidFill>
                  </a:tcPr>
                </a:tc>
                <a:tc>
                  <a:txBody>
                    <a:bodyPr/>
                    <a:lstStyle/>
                    <a:p>
                      <a:r>
                        <a:rPr sz="1400" b="0" i="0">
                          <a:solidFill>
                            <a:srgbClr val="1E1E1E"/>
                          </a:solidFill>
                          <a:latin typeface="Calibri"/>
                        </a:rPr>
                        <a:t>L2 için tek tık; izinsiz numara maskeli, erişim kayıtlı</a:t>
                      </a:r>
                    </a:p>
                  </a:txBody>
                  <a:tcPr marL="109728" marR="109728" anchor="ctr">
                    <a:solidFill>
                      <a:srgbClr val="FFFFFF"/>
                    </a:solidFill>
                  </a:tcPr>
                </a:tc>
              </a:tr>
            </a:tbl>
          </a:graphicData>
        </a:graphic>
      </p:graphicFrame>
      <p:sp>
        <p:nvSpPr>
          <p:cNvPr id="13" name="TextBox 12"/>
          <p:cNvSpPr txBox="1"/>
          <p:nvPr/>
        </p:nvSpPr>
        <p:spPr>
          <a:xfrm>
            <a:off x="411480" y="5852160"/>
            <a:ext cx="11338560" cy="274320"/>
          </a:xfrm>
          <a:prstGeom prst="rect">
            <a:avLst/>
          </a:prstGeom>
          <a:noFill/>
        </p:spPr>
        <p:txBody>
          <a:bodyPr wrap="square" anchor="t" lIns="0" rIns="0" tIns="0" bIns="0">
            <a:spAutoFit/>
          </a:bodyPr>
          <a:lstStyle/>
          <a:p>
            <a:pPr algn="l">
              <a:spcAft>
                <a:spcPts val="400"/>
              </a:spcAft>
            </a:pPr>
            <a:r>
              <a:rPr sz="1200" b="0" i="1">
                <a:solidFill>
                  <a:srgbClr val="91969B"/>
                </a:solidFill>
                <a:latin typeface="Calibri"/>
              </a:rPr>
              <a:t>Rakamlar sentetik veriye dayanır; her rakam Mercek'in araçlarından gelir ve Foundry izlemesinde doğrulanabilir.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Neredeyiz, Sırada Ne Var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10</a:t>
            </a:r>
          </a:p>
        </p:txBody>
      </p:sp>
      <p:sp>
        <p:nvSpPr>
          <p:cNvPr id="6" name="Rounded Rectangle 5"/>
          <p:cNvSpPr/>
          <p:nvPr/>
        </p:nvSpPr>
        <p:spPr>
          <a:xfrm>
            <a:off x="411480" y="1097280"/>
            <a:ext cx="3611880" cy="4937760"/>
          </a:xfrm>
          <a:prstGeom prst="roundRect">
            <a:avLst>
              <a:gd name="adj" fmla="val 6000"/>
            </a:avLst>
          </a:prstGeom>
          <a:solidFill>
            <a:srgbClr val="F2F5F6"/>
          </a:solidFill>
          <a:ln>
            <a:noFill/>
          </a:ln>
          <a:effectLst/>
        </p:spPr>
        <p:txBody>
          <a:bodyPr rtlCol="0" anchor="ctr"/>
          <a:lstStyle/>
          <a:p/>
        </p:txBody>
      </p:sp>
      <p:sp>
        <p:nvSpPr>
          <p:cNvPr id="7" name="Oval 6"/>
          <p:cNvSpPr/>
          <p:nvPr/>
        </p:nvSpPr>
        <p:spPr>
          <a:xfrm>
            <a:off x="685800" y="1325880"/>
            <a:ext cx="685800" cy="685800"/>
          </a:xfrm>
          <a:prstGeom prst="ellipse">
            <a:avLst/>
          </a:prstGeom>
          <a:solidFill>
            <a:srgbClr val="E10514"/>
          </a:solidFill>
          <a:ln>
            <a:noFill/>
          </a:ln>
          <a:effectLst/>
        </p:spPr>
        <p:txBody>
          <a:bodyPr rtlCol="0" anchor="ctr"/>
          <a:lstStyle/>
          <a:p/>
        </p:txBody>
      </p:sp>
      <p:pic>
        <p:nvPicPr>
          <p:cNvPr id="8" name="Picture 7" descr="check-w.png"/>
          <p:cNvPicPr>
            <a:picLocks noChangeAspect="1"/>
          </p:cNvPicPr>
          <p:nvPr/>
        </p:nvPicPr>
        <p:blipFill>
          <a:blip r:embed="rId3"/>
          <a:stretch>
            <a:fillRect/>
          </a:stretch>
        </p:blipFill>
        <p:spPr>
          <a:xfrm>
            <a:off x="857250" y="1497330"/>
            <a:ext cx="342900" cy="342900"/>
          </a:xfrm>
          <a:prstGeom prst="rect">
            <a:avLst/>
          </a:prstGeom>
        </p:spPr>
      </p:pic>
      <p:sp>
        <p:nvSpPr>
          <p:cNvPr id="9" name="TextBox 8"/>
          <p:cNvSpPr txBox="1"/>
          <p:nvPr/>
        </p:nvSpPr>
        <p:spPr>
          <a:xfrm>
            <a:off x="150876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Tamamlanan</a:t>
            </a:r>
          </a:p>
        </p:txBody>
      </p:sp>
      <p:sp>
        <p:nvSpPr>
          <p:cNvPr id="10" name="TextBox 9"/>
          <p:cNvSpPr txBox="1"/>
          <p:nvPr/>
        </p:nvSpPr>
        <p:spPr>
          <a:xfrm>
            <a:off x="68580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M1 sohbet: log, çağrı, hata türü ve hazır çözüm araçları</a:t>
            </a:r>
          </a:p>
          <a:p>
            <a:pPr algn="l" marL="228600" indent="-228600">
              <a:spcAft>
                <a:spcPts val="1000"/>
              </a:spcAft>
              <a:buClr>
                <a:srgbClr val="E10514"/>
              </a:buClr>
              <a:buFont typeface="Arial"/>
              <a:buChar char="•"/>
            </a:pPr>
            <a:r>
              <a:rPr sz="1500" b="0" i="0">
                <a:solidFill>
                  <a:srgbClr val="1E1E1E"/>
                </a:solidFill>
                <a:latin typeface="Calibri"/>
              </a:rPr>
              <a:t>Foundry agent (mercek-cagri) ve izleme</a:t>
            </a:r>
          </a:p>
          <a:p>
            <a:pPr algn="l" marL="228600" indent="-228600">
              <a:spcAft>
                <a:spcPts val="1000"/>
              </a:spcAft>
              <a:buClr>
                <a:srgbClr val="E10514"/>
              </a:buClr>
              <a:buFont typeface="Arial"/>
              <a:buChar char="•"/>
            </a:pPr>
            <a:r>
              <a:rPr sz="1500" b="0" i="0">
                <a:solidFill>
                  <a:srgbClr val="1E1E1E"/>
                </a:solidFill>
                <a:latin typeface="Calibri"/>
              </a:rPr>
              <a:t>L2 etkilenen müşteri listesi, erişim kaydı</a:t>
            </a:r>
          </a:p>
          <a:p>
            <a:pPr algn="l" marL="228600" indent="-228600">
              <a:spcAft>
                <a:spcPts val="1000"/>
              </a:spcAft>
              <a:buClr>
                <a:srgbClr val="E10514"/>
              </a:buClr>
              <a:buFont typeface="Arial"/>
              <a:buChar char="•"/>
            </a:pPr>
            <a:r>
              <a:rPr sz="1500" b="0" i="0">
                <a:solidFill>
                  <a:srgbClr val="1E1E1E"/>
                </a:solidFill>
                <a:latin typeface="Calibri"/>
              </a:rPr>
              <a:t>Azure: 2 App Service, SQL, AI Search, Managed Identity</a:t>
            </a:r>
          </a:p>
        </p:txBody>
      </p:sp>
      <p:sp>
        <p:nvSpPr>
          <p:cNvPr id="11" name="Rounded Rectangle 10"/>
          <p:cNvSpPr/>
          <p:nvPr/>
        </p:nvSpPr>
        <p:spPr>
          <a:xfrm>
            <a:off x="4251960" y="1097280"/>
            <a:ext cx="3611880" cy="4937760"/>
          </a:xfrm>
          <a:prstGeom prst="roundRect">
            <a:avLst>
              <a:gd name="adj" fmla="val 6000"/>
            </a:avLst>
          </a:prstGeom>
          <a:solidFill>
            <a:srgbClr val="F2F5F6"/>
          </a:solidFill>
          <a:ln>
            <a:noFill/>
          </a:ln>
          <a:effectLst/>
        </p:spPr>
        <p:txBody>
          <a:bodyPr rtlCol="0" anchor="ctr"/>
          <a:lstStyle/>
          <a:p/>
        </p:txBody>
      </p:sp>
      <p:sp>
        <p:nvSpPr>
          <p:cNvPr id="12" name="Oval 11"/>
          <p:cNvSpPr/>
          <p:nvPr/>
        </p:nvSpPr>
        <p:spPr>
          <a:xfrm>
            <a:off x="4526280" y="1325880"/>
            <a:ext cx="685800" cy="685800"/>
          </a:xfrm>
          <a:prstGeom prst="ellipse">
            <a:avLst/>
          </a:prstGeom>
          <a:solidFill>
            <a:srgbClr val="91969B"/>
          </a:solidFill>
          <a:ln>
            <a:noFill/>
          </a:ln>
          <a:effectLst/>
        </p:spPr>
        <p:txBody>
          <a:bodyPr rtlCol="0" anchor="ctr"/>
          <a:lstStyle/>
          <a:p/>
        </p:txBody>
      </p:sp>
      <p:pic>
        <p:nvPicPr>
          <p:cNvPr id="13" name="Picture 12" descr="warn-w.png"/>
          <p:cNvPicPr>
            <a:picLocks noChangeAspect="1"/>
          </p:cNvPicPr>
          <p:nvPr/>
        </p:nvPicPr>
        <p:blipFill>
          <a:blip r:embed="rId4"/>
          <a:stretch>
            <a:fillRect/>
          </a:stretch>
        </p:blipFill>
        <p:spPr>
          <a:xfrm>
            <a:off x="4697730" y="1497330"/>
            <a:ext cx="342900" cy="342900"/>
          </a:xfrm>
          <a:prstGeom prst="rect">
            <a:avLst/>
          </a:prstGeom>
        </p:spPr>
      </p:pic>
      <p:sp>
        <p:nvSpPr>
          <p:cNvPr id="14" name="TextBox 13"/>
          <p:cNvSpPr txBox="1"/>
          <p:nvPr/>
        </p:nvSpPr>
        <p:spPr>
          <a:xfrm>
            <a:off x="5349240"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Sınırlamalar</a:t>
            </a:r>
          </a:p>
        </p:txBody>
      </p:sp>
      <p:sp>
        <p:nvSpPr>
          <p:cNvPr id="15" name="TextBox 14"/>
          <p:cNvSpPr txBox="1"/>
          <p:nvPr/>
        </p:nvSpPr>
        <p:spPr>
          <a:xfrm>
            <a:off x="452628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Veri tamamen sentetik</a:t>
            </a:r>
          </a:p>
          <a:p>
            <a:pPr algn="l" marL="228600" indent="-228600">
              <a:spcAft>
                <a:spcPts val="1000"/>
              </a:spcAft>
              <a:buClr>
                <a:srgbClr val="E10514"/>
              </a:buClr>
              <a:buFont typeface="Arial"/>
              <a:buChar char="•"/>
            </a:pPr>
            <a:r>
              <a:rPr sz="1500" b="0" i="0">
                <a:solidFill>
                  <a:srgbClr val="1E1E1E"/>
                </a:solidFill>
                <a:latin typeface="Calibri"/>
              </a:rPr>
              <a:t>Gerçek log, çağrı ve kod entegrasyonu yok</a:t>
            </a:r>
          </a:p>
          <a:p>
            <a:pPr algn="l" marL="228600" indent="-228600">
              <a:spcAft>
                <a:spcPts val="1000"/>
              </a:spcAft>
              <a:buClr>
                <a:srgbClr val="E10514"/>
              </a:buClr>
              <a:buFont typeface="Arial"/>
              <a:buChar char="•"/>
            </a:pPr>
            <a:r>
              <a:rPr sz="1500" b="0" i="0">
                <a:solidFill>
                  <a:srgbClr val="1E1E1E"/>
                </a:solidFill>
                <a:latin typeface="Calibri"/>
              </a:rPr>
              <a:t>Çözüm önerisi; karar insanda</a:t>
            </a:r>
          </a:p>
          <a:p>
            <a:pPr algn="l" marL="228600" indent="-228600">
              <a:spcAft>
                <a:spcPts val="1000"/>
              </a:spcAft>
              <a:buClr>
                <a:srgbClr val="E10514"/>
              </a:buClr>
              <a:buFont typeface="Arial"/>
              <a:buChar char="•"/>
            </a:pPr>
            <a:r>
              <a:rPr sz="1500" b="0" i="0">
                <a:solidFill>
                  <a:srgbClr val="1E1E1E"/>
                </a:solidFill>
                <a:latin typeface="Calibri"/>
              </a:rPr>
              <a:t>Arama ve SMS yok, liste bilgilendirme için</a:t>
            </a:r>
          </a:p>
        </p:txBody>
      </p:sp>
      <p:sp>
        <p:nvSpPr>
          <p:cNvPr id="16" name="Rounded Rectangle 15"/>
          <p:cNvSpPr/>
          <p:nvPr/>
        </p:nvSpPr>
        <p:spPr>
          <a:xfrm>
            <a:off x="8092440" y="1097280"/>
            <a:ext cx="3611880" cy="4937760"/>
          </a:xfrm>
          <a:prstGeom prst="roundRect">
            <a:avLst>
              <a:gd name="adj" fmla="val 6000"/>
            </a:avLst>
          </a:prstGeom>
          <a:solidFill>
            <a:srgbClr val="F2F5F6"/>
          </a:solidFill>
          <a:ln>
            <a:noFill/>
          </a:ln>
          <a:effectLst/>
        </p:spPr>
        <p:txBody>
          <a:bodyPr rtlCol="0" anchor="ctr"/>
          <a:lstStyle/>
          <a:p/>
        </p:txBody>
      </p:sp>
      <p:sp>
        <p:nvSpPr>
          <p:cNvPr id="17" name="Oval 16"/>
          <p:cNvSpPr/>
          <p:nvPr/>
        </p:nvSpPr>
        <p:spPr>
          <a:xfrm>
            <a:off x="8366760" y="1325880"/>
            <a:ext cx="685800" cy="685800"/>
          </a:xfrm>
          <a:prstGeom prst="ellipse">
            <a:avLst/>
          </a:prstGeom>
          <a:solidFill>
            <a:srgbClr val="870F00"/>
          </a:solidFill>
          <a:ln>
            <a:noFill/>
          </a:ln>
          <a:effectLst/>
        </p:spPr>
        <p:txBody>
          <a:bodyPr rtlCol="0" anchor="ctr"/>
          <a:lstStyle/>
          <a:p/>
        </p:txBody>
      </p:sp>
      <p:pic>
        <p:nvPicPr>
          <p:cNvPr id="18" name="Picture 17" descr="route-w.png"/>
          <p:cNvPicPr>
            <a:picLocks noChangeAspect="1"/>
          </p:cNvPicPr>
          <p:nvPr/>
        </p:nvPicPr>
        <p:blipFill>
          <a:blip r:embed="rId5"/>
          <a:stretch>
            <a:fillRect/>
          </a:stretch>
        </p:blipFill>
        <p:spPr>
          <a:xfrm>
            <a:off x="8538210" y="1497330"/>
            <a:ext cx="342900" cy="342900"/>
          </a:xfrm>
          <a:prstGeom prst="rect">
            <a:avLst/>
          </a:prstGeom>
        </p:spPr>
      </p:pic>
      <p:sp>
        <p:nvSpPr>
          <p:cNvPr id="19" name="TextBox 18"/>
          <p:cNvSpPr txBox="1"/>
          <p:nvPr/>
        </p:nvSpPr>
        <p:spPr>
          <a:xfrm>
            <a:off x="9189719" y="1325880"/>
            <a:ext cx="2331720" cy="685800"/>
          </a:xfrm>
          <a:prstGeom prst="rect">
            <a:avLst/>
          </a:prstGeom>
          <a:noFill/>
        </p:spPr>
        <p:txBody>
          <a:bodyPr wrap="square" anchor="ctr" lIns="0" rIns="0" tIns="0" bIns="0">
            <a:spAutoFit/>
          </a:bodyPr>
          <a:lstStyle/>
          <a:p>
            <a:pPr algn="l">
              <a:spcAft>
                <a:spcPts val="400"/>
              </a:spcAft>
            </a:pPr>
            <a:r>
              <a:rPr sz="2000" b="1" i="0">
                <a:solidFill>
                  <a:srgbClr val="1E1E1E"/>
                </a:solidFill>
                <a:latin typeface="Calibri"/>
              </a:rPr>
              <a:t>Sırada</a:t>
            </a:r>
          </a:p>
        </p:txBody>
      </p:sp>
      <p:sp>
        <p:nvSpPr>
          <p:cNvPr id="20" name="TextBox 19"/>
          <p:cNvSpPr txBox="1"/>
          <p:nvPr/>
        </p:nvSpPr>
        <p:spPr>
          <a:xfrm>
            <a:off x="8366760" y="2286000"/>
            <a:ext cx="3063240" cy="3566160"/>
          </a:xfrm>
          <a:prstGeom prst="rect">
            <a:avLst/>
          </a:prstGeom>
          <a:noFill/>
        </p:spPr>
        <p:txBody>
          <a:bodyPr wrap="square" anchor="t" lIns="0" rIns="0" tIns="0" bIns="0">
            <a:spAutoFit/>
          </a:bodyPr>
          <a:lstStyle/>
          <a:p>
            <a:pPr algn="l" marL="228600" indent="-228600">
              <a:spcAft>
                <a:spcPts val="1000"/>
              </a:spcAft>
              <a:buClr>
                <a:srgbClr val="E10514"/>
              </a:buClr>
              <a:buFont typeface="Arial"/>
              <a:buChar char="•"/>
            </a:pPr>
            <a:r>
              <a:rPr sz="1500" b="0" i="0">
                <a:solidFill>
                  <a:srgbClr val="1E1E1E"/>
                </a:solidFill>
                <a:latin typeface="Calibri"/>
              </a:rPr>
              <a:t>KVKK: modele gitmeden metin taraması</a:t>
            </a:r>
          </a:p>
          <a:p>
            <a:pPr algn="l" marL="228600" indent="-228600">
              <a:spcAft>
                <a:spcPts val="1000"/>
              </a:spcAft>
              <a:buClr>
                <a:srgbClr val="E10514"/>
              </a:buClr>
              <a:buFont typeface="Arial"/>
              <a:buChar char="•"/>
            </a:pPr>
            <a:r>
              <a:rPr sz="1500" b="0" i="0">
                <a:solidFill>
                  <a:srgbClr val="1E1E1E"/>
                </a:solidFill>
                <a:latin typeface="Calibri"/>
              </a:rPr>
              <a:t>Duyuru ve işlenmemiş e-posta araması (İSKİ)</a:t>
            </a:r>
          </a:p>
          <a:p>
            <a:pPr algn="l" marL="228600" indent="-228600">
              <a:spcAft>
                <a:spcPts val="1000"/>
              </a:spcAft>
              <a:buClr>
                <a:srgbClr val="E10514"/>
              </a:buClr>
              <a:buFont typeface="Arial"/>
              <a:buChar char="•"/>
            </a:pPr>
            <a:r>
              <a:rPr sz="1500" b="0" i="0">
                <a:solidFill>
                  <a:srgbClr val="1E1E1E"/>
                </a:solidFill>
                <a:latin typeface="Calibri"/>
              </a:rPr>
              <a:t>Modül 2: talep analizi, efor, takvim</a:t>
            </a:r>
          </a:p>
          <a:p>
            <a:pPr algn="l" marL="228600" indent="-228600">
              <a:spcAft>
                <a:spcPts val="1000"/>
              </a:spcAft>
              <a:buClr>
                <a:srgbClr val="E10514"/>
              </a:buClr>
              <a:buFont typeface="Arial"/>
              <a:buChar char="•"/>
            </a:pPr>
            <a:r>
              <a:rPr sz="1500" b="0" i="0">
                <a:solidFill>
                  <a:srgbClr val="1E1E1E"/>
                </a:solidFill>
                <a:latin typeface="Calibri"/>
              </a:rPr>
              <a:t>Pilot: şube kanalı, ODMTTLMT ve KRDTKULL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37160" y="91440"/>
            <a:ext cx="10058400" cy="566928"/>
          </a:xfrm>
          <a:prstGeom prst="rect">
            <a:avLst/>
          </a:prstGeom>
          <a:noFill/>
        </p:spPr>
        <p:txBody>
          <a:bodyPr wrap="square" anchor="t" lIns="0" rIns="0" tIns="0" bIns="0">
            <a:spAutoFit/>
          </a:bodyPr>
          <a:lstStyle/>
          <a:p>
            <a:pPr algn="l">
              <a:spcAft>
                <a:spcPts val="400"/>
              </a:spcAft>
            </a:pPr>
            <a:r>
              <a:rPr sz="3200" b="1" i="0">
                <a:solidFill>
                  <a:srgbClr val="1E1E1E"/>
                </a:solidFill>
                <a:latin typeface="Calibri"/>
              </a:rPr>
              <a:t>Ekler</a:t>
            </a:r>
          </a:p>
        </p:txBody>
      </p:sp>
      <p:pic>
        <p:nvPicPr>
          <p:cNvPr id="3" name="Picture 2" descr="mercek-logo-kucuk.png"/>
          <p:cNvPicPr>
            <a:picLocks noChangeAspect="1"/>
          </p:cNvPicPr>
          <p:nvPr/>
        </p:nvPicPr>
        <p:blipFill>
          <a:blip r:embed="rId2"/>
          <a:stretch>
            <a:fillRect/>
          </a:stretch>
        </p:blipFill>
        <p:spPr>
          <a:xfrm>
            <a:off x="10561320" y="155448"/>
            <a:ext cx="351129" cy="351129"/>
          </a:xfrm>
          <a:prstGeom prst="rect">
            <a:avLst/>
          </a:prstGeom>
        </p:spPr>
      </p:pic>
      <p:sp>
        <p:nvSpPr>
          <p:cNvPr id="4" name="TextBox 3"/>
          <p:cNvSpPr txBox="1"/>
          <p:nvPr/>
        </p:nvSpPr>
        <p:spPr>
          <a:xfrm>
            <a:off x="10978286" y="155448"/>
            <a:ext cx="1645919" cy="351129"/>
          </a:xfrm>
          <a:prstGeom prst="rect">
            <a:avLst/>
          </a:prstGeom>
          <a:noFill/>
        </p:spPr>
        <p:txBody>
          <a:bodyPr wrap="square" anchor="ctr" lIns="0" rIns="0" tIns="0" bIns="0">
            <a:spAutoFit/>
          </a:bodyPr>
          <a:lstStyle/>
          <a:p>
            <a:pPr algn="l">
              <a:spcAft>
                <a:spcPts val="400"/>
              </a:spcAft>
            </a:pPr>
            <a:r>
              <a:rPr sz="1500" b="1" i="0">
                <a:solidFill>
                  <a:srgbClr val="1E1E1E"/>
                </a:solidFill>
                <a:latin typeface="Calibri"/>
              </a:rPr>
              <a:t>MERCEK</a:t>
            </a:r>
          </a:p>
        </p:txBody>
      </p:sp>
      <p:sp>
        <p:nvSpPr>
          <p:cNvPr id="5" name="TextBox 4"/>
          <p:cNvSpPr txBox="1"/>
          <p:nvPr/>
        </p:nvSpPr>
        <p:spPr>
          <a:xfrm>
            <a:off x="11292840" y="6382512"/>
            <a:ext cx="685800" cy="274320"/>
          </a:xfrm>
          <a:prstGeom prst="rect">
            <a:avLst/>
          </a:prstGeom>
          <a:noFill/>
        </p:spPr>
        <p:txBody>
          <a:bodyPr wrap="square" anchor="t" lIns="0" rIns="0" tIns="0" bIns="0">
            <a:spAutoFit/>
          </a:bodyPr>
          <a:lstStyle/>
          <a:p>
            <a:pPr algn="r">
              <a:spcAft>
                <a:spcPts val="400"/>
              </a:spcAft>
            </a:pPr>
            <a:r>
              <a:rPr sz="1100" b="0" i="0">
                <a:solidFill>
                  <a:srgbClr val="91969B"/>
                </a:solidFill>
                <a:latin typeface="Calibri"/>
              </a:rPr>
              <a:t>11</a:t>
            </a:r>
          </a:p>
        </p:txBody>
      </p:sp>
      <p:sp>
        <p:nvSpPr>
          <p:cNvPr id="6" name="Oval 5"/>
          <p:cNvSpPr/>
          <p:nvPr/>
        </p:nvSpPr>
        <p:spPr>
          <a:xfrm>
            <a:off x="548640" y="1371600"/>
            <a:ext cx="731520" cy="731520"/>
          </a:xfrm>
          <a:prstGeom prst="ellipse">
            <a:avLst/>
          </a:prstGeom>
          <a:solidFill>
            <a:srgbClr val="B90F0A"/>
          </a:solidFill>
          <a:ln>
            <a:noFill/>
          </a:ln>
          <a:effectLst/>
        </p:spPr>
        <p:txBody>
          <a:bodyPr rtlCol="0" anchor="ctr"/>
          <a:lstStyle/>
          <a:p/>
        </p:txBody>
      </p:sp>
      <p:pic>
        <p:nvPicPr>
          <p:cNvPr id="7" name="Picture 6" descr="github-w.png"/>
          <p:cNvPicPr>
            <a:picLocks noChangeAspect="1"/>
          </p:cNvPicPr>
          <p:nvPr/>
        </p:nvPicPr>
        <p:blipFill>
          <a:blip r:embed="rId3"/>
          <a:stretch>
            <a:fillRect/>
          </a:stretch>
        </p:blipFill>
        <p:spPr>
          <a:xfrm>
            <a:off x="731520" y="1554480"/>
            <a:ext cx="365760" cy="365760"/>
          </a:xfrm>
          <a:prstGeom prst="rect">
            <a:avLst/>
          </a:prstGeom>
        </p:spPr>
      </p:pic>
      <p:sp>
        <p:nvSpPr>
          <p:cNvPr id="8" name="TextBox 7"/>
          <p:cNvSpPr txBox="1"/>
          <p:nvPr/>
        </p:nvSpPr>
        <p:spPr>
          <a:xfrm>
            <a:off x="1508760" y="135331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GitHub repository</a:t>
            </a:r>
          </a:p>
          <a:p>
            <a:pPr algn="l">
              <a:spcAft>
                <a:spcPts val="200"/>
              </a:spcAft>
            </a:pPr>
            <a:r>
              <a:rPr sz="1600" b="0" i="0">
                <a:solidFill>
                  <a:srgbClr val="E10514"/>
                </a:solidFill>
                <a:latin typeface="Calibri"/>
              </a:rPr>
              <a:t>[repo bağlantısı]</a:t>
            </a:r>
          </a:p>
        </p:txBody>
      </p:sp>
      <p:sp>
        <p:nvSpPr>
          <p:cNvPr id="9" name="Oval 8"/>
          <p:cNvSpPr/>
          <p:nvPr/>
        </p:nvSpPr>
        <p:spPr>
          <a:xfrm>
            <a:off x="548640" y="2468880"/>
            <a:ext cx="731520" cy="731520"/>
          </a:xfrm>
          <a:prstGeom prst="ellipse">
            <a:avLst/>
          </a:prstGeom>
          <a:solidFill>
            <a:srgbClr val="B90F0A"/>
          </a:solidFill>
          <a:ln>
            <a:noFill/>
          </a:ln>
          <a:effectLst/>
        </p:spPr>
        <p:txBody>
          <a:bodyPr rtlCol="0" anchor="ctr"/>
          <a:lstStyle/>
          <a:p/>
        </p:txBody>
      </p:sp>
      <p:pic>
        <p:nvPicPr>
          <p:cNvPr id="10" name="Picture 9" descr="globe-w.png"/>
          <p:cNvPicPr>
            <a:picLocks noChangeAspect="1"/>
          </p:cNvPicPr>
          <p:nvPr/>
        </p:nvPicPr>
        <p:blipFill>
          <a:blip r:embed="rId4"/>
          <a:stretch>
            <a:fillRect/>
          </a:stretch>
        </p:blipFill>
        <p:spPr>
          <a:xfrm>
            <a:off x="731520" y="2651760"/>
            <a:ext cx="365760" cy="365760"/>
          </a:xfrm>
          <a:prstGeom prst="rect">
            <a:avLst/>
          </a:prstGeom>
        </p:spPr>
      </p:pic>
      <p:sp>
        <p:nvSpPr>
          <p:cNvPr id="11" name="TextBox 10"/>
          <p:cNvSpPr txBox="1"/>
          <p:nvPr/>
        </p:nvSpPr>
        <p:spPr>
          <a:xfrm>
            <a:off x="1508760" y="245059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Web uygulaması</a:t>
            </a:r>
          </a:p>
          <a:p>
            <a:pPr algn="l">
              <a:spcAft>
                <a:spcPts val="200"/>
              </a:spcAft>
            </a:pPr>
            <a:r>
              <a:rPr sz="1600" b="0" i="0">
                <a:solidFill>
                  <a:srgbClr val="E10514"/>
                </a:solidFill>
                <a:latin typeface="Calibri"/>
              </a:rPr>
              <a:t>[mercek-web adresi]</a:t>
            </a:r>
          </a:p>
        </p:txBody>
      </p:sp>
      <p:sp>
        <p:nvSpPr>
          <p:cNvPr id="12" name="Oval 11"/>
          <p:cNvSpPr/>
          <p:nvPr/>
        </p:nvSpPr>
        <p:spPr>
          <a:xfrm>
            <a:off x="548640" y="3566160"/>
            <a:ext cx="731520" cy="731520"/>
          </a:xfrm>
          <a:prstGeom prst="ellipse">
            <a:avLst/>
          </a:prstGeom>
          <a:solidFill>
            <a:srgbClr val="B90F0A"/>
          </a:solidFill>
          <a:ln>
            <a:noFill/>
          </a:ln>
          <a:effectLst/>
        </p:spPr>
        <p:txBody>
          <a:bodyPr rtlCol="0" anchor="ctr"/>
          <a:lstStyle/>
          <a:p/>
        </p:txBody>
      </p:sp>
      <p:pic>
        <p:nvPicPr>
          <p:cNvPr id="13" name="Picture 12" descr="video-w.png"/>
          <p:cNvPicPr>
            <a:picLocks noChangeAspect="1"/>
          </p:cNvPicPr>
          <p:nvPr/>
        </p:nvPicPr>
        <p:blipFill>
          <a:blip r:embed="rId5"/>
          <a:stretch>
            <a:fillRect/>
          </a:stretch>
        </p:blipFill>
        <p:spPr>
          <a:xfrm>
            <a:off x="731520" y="3749039"/>
            <a:ext cx="365760" cy="365760"/>
          </a:xfrm>
          <a:prstGeom prst="rect">
            <a:avLst/>
          </a:prstGeom>
        </p:spPr>
      </p:pic>
      <p:sp>
        <p:nvSpPr>
          <p:cNvPr id="14" name="TextBox 13"/>
          <p:cNvSpPr txBox="1"/>
          <p:nvPr/>
        </p:nvSpPr>
        <p:spPr>
          <a:xfrm>
            <a:off x="1508760" y="3547872"/>
            <a:ext cx="5029200" cy="777240"/>
          </a:xfrm>
          <a:prstGeom prst="rect">
            <a:avLst/>
          </a:prstGeom>
          <a:noFill/>
        </p:spPr>
        <p:txBody>
          <a:bodyPr wrap="square" anchor="ctr" lIns="0" rIns="0" tIns="0" bIns="0">
            <a:spAutoFit/>
          </a:bodyPr>
          <a:lstStyle/>
          <a:p>
            <a:pPr algn="l">
              <a:spcAft>
                <a:spcPts val="200"/>
              </a:spcAft>
            </a:pPr>
            <a:r>
              <a:rPr sz="1800" b="1" i="0">
                <a:solidFill>
                  <a:srgbClr val="1E1E1E"/>
                </a:solidFill>
                <a:latin typeface="Calibri"/>
              </a:rPr>
              <a:t>Senaryo videoları</a:t>
            </a:r>
          </a:p>
          <a:p>
            <a:pPr algn="l">
              <a:spcAft>
                <a:spcPts val="200"/>
              </a:spcAft>
            </a:pPr>
            <a:r>
              <a:rPr sz="1600" b="0" i="0">
                <a:solidFill>
                  <a:srgbClr val="E10514"/>
                </a:solidFill>
                <a:latin typeface="Calibri"/>
              </a:rPr>
              <a:t>[video bağlantısı]</a:t>
            </a:r>
          </a:p>
        </p:txBody>
      </p:sp>
      <p:pic>
        <p:nvPicPr>
          <p:cNvPr id="15" name="Picture 14" descr="mercek-logo.png"/>
          <p:cNvPicPr>
            <a:picLocks noChangeAspect="1"/>
          </p:cNvPicPr>
          <p:nvPr/>
        </p:nvPicPr>
        <p:blipFill>
          <a:blip r:embed="rId6"/>
          <a:stretch>
            <a:fillRect/>
          </a:stretch>
        </p:blipFill>
        <p:spPr>
          <a:xfrm>
            <a:off x="7726679" y="1143000"/>
            <a:ext cx="3017520" cy="3017520"/>
          </a:xfrm>
          <a:prstGeom prst="rect">
            <a:avLst/>
          </a:prstGeom>
        </p:spPr>
      </p:pic>
      <p:sp>
        <p:nvSpPr>
          <p:cNvPr id="16" name="TextBox 15"/>
          <p:cNvSpPr txBox="1"/>
          <p:nvPr/>
        </p:nvSpPr>
        <p:spPr>
          <a:xfrm>
            <a:off x="6949440" y="4434840"/>
            <a:ext cx="4572000" cy="914400"/>
          </a:xfrm>
          <a:prstGeom prst="rect">
            <a:avLst/>
          </a:prstGeom>
          <a:noFill/>
        </p:spPr>
        <p:txBody>
          <a:bodyPr wrap="square" anchor="t" lIns="0" rIns="0" tIns="0" bIns="0">
            <a:spAutoFit/>
          </a:bodyPr>
          <a:lstStyle/>
          <a:p>
            <a:pPr algn="ctr">
              <a:spcAft>
                <a:spcPts val="400"/>
              </a:spcAft>
            </a:pPr>
            <a:r>
              <a:rPr sz="3200" b="1" i="0">
                <a:solidFill>
                  <a:srgbClr val="1E1E1E"/>
                </a:solidFill>
                <a:latin typeface="Calibri"/>
              </a:rPr>
              <a:t>MERCEK</a:t>
            </a:r>
          </a:p>
          <a:p>
            <a:pPr algn="ctr">
              <a:spcAft>
                <a:spcPts val="400"/>
              </a:spcAft>
            </a:pPr>
            <a:r>
              <a:rPr sz="1800" b="0" i="1">
                <a:solidFill>
                  <a:srgbClr val="B90F0A"/>
                </a:solidFill>
                <a:latin typeface="Calibri"/>
              </a:rPr>
              <a:t>Soruna odaklanır, çözümü netleştirir.</a:t>
            </a:r>
          </a:p>
        </p:txBody>
      </p:sp>
      <p:sp>
        <p:nvSpPr>
          <p:cNvPr id="17" name="TextBox 16"/>
          <p:cNvSpPr txBox="1"/>
          <p:nvPr/>
        </p:nvSpPr>
        <p:spPr>
          <a:xfrm>
            <a:off x="548640" y="4937760"/>
            <a:ext cx="10972800" cy="457200"/>
          </a:xfrm>
          <a:prstGeom prst="rect">
            <a:avLst/>
          </a:prstGeom>
          <a:noFill/>
        </p:spPr>
        <p:txBody>
          <a:bodyPr wrap="square" anchor="t" lIns="0" rIns="0" tIns="0" bIns="0">
            <a:spAutoFit/>
          </a:bodyPr>
          <a:lstStyle/>
          <a:p>
            <a:pPr algn="l">
              <a:spcAft>
                <a:spcPts val="400"/>
              </a:spcAft>
            </a:pPr>
            <a:r>
              <a:rPr sz="2000" b="1" i="0">
                <a:solidFill>
                  <a:srgbClr val="B90F0A"/>
                </a:solidFill>
                <a:latin typeface="Calibri"/>
              </a:rPr>
              <a:t>Teşekkürler · AI Overflow</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PRESENTATIONDONOTDELETE" val="&lt;?xml version=&quot;1.0&quot; encoding=&quot;UTF-16&quot; standalone=&quot;yes&quot;?&gt;&lt;root reqver=&quot;23045&quot;&gt;&lt;version val=&quot;25174&quot;/&gt;&lt;CPresentation id=&quot;1&quot;&gt;&lt;m_precDefaultNumber&gt;&lt;m_bNumberIsYear val=&quot;1&quot;/&gt;&lt;m_chMinusSymbol&gt;-&lt;/m_chMinusSymbol&gt;&lt;m_chDecimalSymbol17909&gt;,&lt;/m_chDecimalSymbol17909&gt;&lt;m_nGroupingDigits17909 val=&quot;3&quot;/&gt;&lt;m_chGroupingSymbol17909&gt;.&lt;/m_chGroupingSymbol17909&gt;&lt;m_yearfmt&gt;&lt;begin val=&quot;0&quot;/&gt;&lt;end val=&quot;4&quot;/&gt;&lt;/m_yearfmt&gt;&lt;/m_precDefaultNumber&gt;&lt;m_precDefaultPercent&gt;&lt;m_bNumberIsYear val=&quot;1&quot;/&gt;&lt;m_chMinusSymbol&gt;-&lt;/m_chMinusSymbol&gt;&lt;m_nDecimalDigits17909 val=&quot;0&quot;/&gt;&lt;m_chDecimalSymbol17909&gt;,&lt;/m_chDecimalSymbol17909&gt;&lt;m_nGroupingDigits17909 val=&quot;3&quot;/&gt;&lt;m_chGroupingSymbol17909&gt;.&lt;/m_chGroupingSymbol17909&gt;&lt;m_strSuffix17909&gt;%&lt;/m_strSuffix17909&gt;&lt;m_yearfmt&gt;&lt;begin val=&quot;0&quot;/&gt;&lt;end val=&quot;4&quot;/&gt;&lt;/m_yearfmt&gt;&lt;/m_precDefaultPercent&gt;&lt;m_precDefaultDate&gt;&lt;m_bNumberIsYear val=&quot;0&quot;/&gt;&lt;m_strFormatTime&gt;%d.%m.%Y&lt;/m_strFormatTime&gt;&lt;m_yearfmt&gt;&lt;begin val=&quot;0&quot;/&gt;&lt;end val=&quot;0&quot;/&gt;&lt;/m_yearfmt&gt;&lt;/m_precDefaultDate&gt;&lt;m_precDefaultYear&gt;&lt;m_yearfmt&gt;&lt;begin val=&quot;0&quot;/&gt;&lt;end val=&quot;4&quot;/&gt;&lt;/m_yearfmt&gt;&lt;/m_precDefaultYear&gt;&lt;m_precDefaultQuarter&gt;&lt;m_yearfmt&gt;&lt;begin val=&quot;0&quot;/&gt;&lt;end val=&quot;4&quot;/&gt;&lt;/m_yearfmt&gt;&lt;/m_precDefaultQuarter&gt;&lt;m_precDefaultMonth&gt;&lt;m_yearfmt&gt;&lt;begin val=&quot;0&quot;/&gt;&lt;end val=&quot;4&quot;/&gt;&lt;/m_yearfmt&gt;&lt;/m_precDefaultMonth&gt;&lt;m_precDefaultWeek&gt;&lt;m_yearfmt&gt;&lt;begin val=&quot;0&quot;/&gt;&lt;end val=&quot;4&quot;/&gt;&lt;/m_yearfmt&gt;&lt;/m_precDefaultWeek&gt;&lt;m_precDefaultDay&gt;&lt;m_yearfmt&gt;&lt;begin val=&quot;0&quot;/&gt;&lt;end val=&quot;4&quot;/&gt;&lt;/m_yearfmt&gt;&lt;/m_precDefaultDay&gt;&lt;m_mruColor&gt;&lt;m_vecMRU length=&quot;12&quot;&gt;&lt;elem m_fUsage=&quot;6.75167633144312073767E+00&quot;&gt;&lt;m_msothmcolidx val=&quot;0&quot;/&gt;&lt;m_rgb r=&quot;E1&quot; g=&quot;05&quot; b=&quot;14&quot;/&gt;&lt;m_nBrightness val=&quot;0&quot;/&gt;&lt;/elem&gt;&lt;elem m_fUsage=&quot;1.45937761194624893157E+00&quot;&gt;&lt;m_msothmcolidx val=&quot;0&quot;/&gt;&lt;m_rgb r=&quot;00&quot; g=&quot;B0&quot; b=&quot;50&quot;/&gt;&lt;m_nBrightness val=&quot;0&quot;/&gt;&lt;/elem&gt;&lt;elem m_fUsage=&quot;1.27632002757554285921E+00&quot;&gt;&lt;m_msothmcolidx val=&quot;0&quot;/&gt;&lt;m_rgb r=&quot;E6&quot; g=&quot;A8&quot; b=&quot;26&quot;/&gt;&lt;m_nBrightness val=&quot;0&quot;/&gt;&lt;/elem&gt;&lt;elem m_fUsage=&quot;2.28951097719494012228E-01&quot;&gt;&lt;m_msothmcolidx val=&quot;0&quot;/&gt;&lt;m_rgb r=&quot;C0&quot; g=&quot;00&quot; b=&quot;00&quot;/&gt;&lt;m_nBrightness val=&quot;0&quot;/&gt;&lt;/elem&gt;&lt;elem m_fUsage=&quot;1.22629232194560094937E-01&quot;&gt;&lt;m_msothmcolidx val=&quot;0&quot;/&gt;&lt;m_rgb r=&quot;12&quot; g=&quot;8E&quot; b=&quot;EB&quot;/&gt;&lt;m_nBrightness val=&quot;0&quot;/&gt;&lt;/elem&gt;&lt;elem m_fUsage=&quot;1.13496234317806241054E-01&quot;&gt;&lt;m_msothmcolidx val=&quot;0&quot;/&gt;&lt;m_rgb r=&quot;70&quot; g=&quot;E0&quot; b=&quot;2C&quot;/&gt;&lt;m_nBrightness val=&quot;0&quot;/&gt;&lt;/elem&gt;&lt;elem m_fUsage=&quot;4.10177351476903456762E-02&quot;&gt;&lt;m_msothmcolidx val=&quot;0&quot;/&gt;&lt;m_rgb r=&quot;10&quot; g=&quot;09&quot; b=&quot;9B&quot;/&gt;&lt;m_nBrightness val=&quot;0&quot;/&gt;&lt;/elem&gt;&lt;elem m_fUsage=&quot;3.97557662666475717522E-03&quot;&gt;&lt;m_msothmcolidx val=&quot;0&quot;/&gt;&lt;m_rgb r=&quot;EA&quot; g=&quot;2D&quot; b=&quot;0B&quot;/&gt;&lt;m_nBrightness val=&quot;0&quot;/&gt;&lt;/elem&gt;&lt;elem m_fUsage=&quot;2.50147009437863034054E-03&quot;&gt;&lt;m_msothmcolidx val=&quot;0&quot;/&gt;&lt;m_rgb r=&quot;33&quot; g=&quot;88&quot; b=&quot;40&quot;/&gt;&lt;m_nBrightness val=&quot;0&quot;/&gt;&lt;/elem&gt;&lt;elem m_fUsage=&quot;2.65613988875875437802E-05&quot;&gt;&lt;m_msothmcolidx val=&quot;0&quot;/&gt;&lt;m_rgb r=&quot;93&quot; g=&quot;77&quot; b=&quot;95&quot;/&gt;&lt;m_nBrightness val=&quot;0&quot;/&gt;&lt;/elem&gt;&lt;elem m_fUsage=&quot;1.95845728732013649631E-05&quot;&gt;&lt;m_msothmcolidx val=&quot;0&quot;/&gt;&lt;m_rgb r=&quot;02&quot; g=&quot;7D&quot; b=&quot;27&quot;/&gt;&lt;m_nBrightness val=&quot;0&quot;/&gt;&lt;/elem&gt;&lt;elem m_fUsage=&quot;4.61095345797014455319E-06&quot;&gt;&lt;m_msothmcolidx val=&quot;0&quot;/&gt;&lt;m_rgb r=&quot;39&quot; g=&quot;D6&quot; b=&quot;F7&quot;/&gt;&lt;m_nBrightness val=&quot;0&quot;/&gt;&lt;/elem&gt;&lt;/m_vecMRU&gt;&lt;/m_mruColor&gt;&lt;m_eweekdayFirstOfWeek val=&quot;2&quot;/&gt;&lt;m_eweekdayFirstOfWorkweek val=&quot;2&quot;/&gt;&lt;m_eweekdayFirstOfWeekend val=&quot;7&quot;/&gt;&lt;/CPresentation&gt;&lt;/root&gt;"/>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07-2010">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eması">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d7f2a2c318ea48f8bf2be12c7bb49163 xmlns="872b0e65-a850-4256-91a8-a543885a32f9">
      <Terms xmlns="http://schemas.microsoft.com/office/infopath/2007/PartnerControls"/>
    </d7f2a2c318ea48f8bf2be12c7bb49163>
    <TaxCatchAll xmlns="872b0e65-a850-4256-91a8-a543885a32f9"/>
  </documentManagement>
</p:properties>
</file>

<file path=customXml/item2.xml><?xml version="1.0" encoding="utf-8"?>
<ct:contentTypeSchema xmlns:ct="http://schemas.microsoft.com/office/2006/metadata/contentType" xmlns:ma="http://schemas.microsoft.com/office/2006/metadata/properties/metaAttributes" ct:_="" ma:_="" ma:contentTypeName="Belge" ma:contentTypeID="0x0101007FDE9DE898099B47AD53ECDD9E193140" ma:contentTypeVersion="4" ma:contentTypeDescription="Yeni belge oluşturun." ma:contentTypeScope="" ma:versionID="b70f0c76d93e25033cf4db8f120587fe">
  <xsd:schema xmlns:xsd="http://www.w3.org/2001/XMLSchema" xmlns:xs="http://www.w3.org/2001/XMLSchema" xmlns:p="http://schemas.microsoft.com/office/2006/metadata/properties" xmlns:ns2="872b0e65-a850-4256-91a8-a543885a32f9" targetNamespace="http://schemas.microsoft.com/office/2006/metadata/properties" ma:root="true" ma:fieldsID="dced2f8ce83e1d5451651c4c1899820e" ns2:_="">
    <xsd:import namespace="872b0e65-a850-4256-91a8-a543885a32f9"/>
    <xsd:element name="properties">
      <xsd:complexType>
        <xsd:sequence>
          <xsd:element name="documentManagement">
            <xsd:complexType>
              <xsd:all>
                <xsd:element ref="ns2:d7f2a2c318ea48f8bf2be12c7bb49163" minOccurs="0"/>
                <xsd:element ref="ns2:TaxCatchAll"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72b0e65-a850-4256-91a8-a543885a32f9" elementFormDefault="qualified">
    <xsd:import namespace="http://schemas.microsoft.com/office/2006/documentManagement/types"/>
    <xsd:import namespace="http://schemas.microsoft.com/office/infopath/2007/PartnerControls"/>
    <xsd:element name="d7f2a2c318ea48f8bf2be12c7bb49163" ma:index="9" nillable="true" ma:taxonomy="true" ma:internalName="d7f2a2c318ea48f8bf2be12c7bb49163" ma:taxonomyFieldName="DokumanEtiketleri" ma:displayName="Doküman Etiketi" ma:default="" ma:fieldId="{d7f2a2c3-18ea-48f8-bf2b-e12c7bb49163}" ma:taxonomyMulti="true" ma:sspId="9d946acd-f3a8-48c7-babb-734644f09d3c" ma:termSetId="5a1bfb8a-42d9-4784-bb29-cd70e36b4b18" ma:anchorId="00000000-0000-0000-0000-000000000000" ma:open="false" ma:isKeyword="false">
      <xsd:complexType>
        <xsd:sequence>
          <xsd:element ref="pc:Terms" minOccurs="0" maxOccurs="1"/>
        </xsd:sequence>
      </xsd:complexType>
    </xsd:element>
    <xsd:element name="TaxCatchAll" ma:index="10" nillable="true" ma:displayName="Taxonomy Catch All Column" ma:hidden="true" ma:list="{27ac4545-5272-484c-bb21-a940ae5d9a4e}" ma:internalName="TaxCatchAll" ma:showField="CatchAllData" ma:web="872b0e65-a850-4256-91a8-a543885a32f9">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çerik Türü"/>
        <xsd:element ref="dc:title" minOccurs="0" maxOccurs="1" ma:index="4" ma:displayName="Başlık"/>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576518-83F3-4DEE-BF44-94473B43FD62}">
  <ds:schemaRefs>
    <ds:schemaRef ds:uri="http://schemas.microsoft.com/office/infopath/2007/PartnerControls"/>
    <ds:schemaRef ds:uri="http://purl.org/dc/terms/"/>
    <ds:schemaRef ds:uri="http://schemas.microsoft.com/office/2006/documentManagement/types"/>
    <ds:schemaRef ds:uri="http://purl.org/dc/dcmitype/"/>
    <ds:schemaRef ds:uri="872b0e65-a850-4256-91a8-a543885a32f9"/>
    <ds:schemaRef ds:uri="http://schemas.openxmlformats.org/package/2006/metadata/core-properties"/>
    <ds:schemaRef ds:uri="http://purl.org/dc/elements/1.1/"/>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478170A8-355B-4F3A-8ADC-EE20A1FFDB9C}">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72b0e65-a850-4256-91a8-a543885a32f9"/>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15B5AB58-5B87-4770-808D-12108CC49CA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16465</TotalTime>
  <Words>1060</Words>
  <Application>Microsoft Office PowerPoint</Application>
  <PresentationFormat>Widescreen</PresentationFormat>
  <Paragraphs>275</Paragraphs>
  <Slides>24</Slides>
  <Notes>14</Notes>
  <HiddenSlides>0</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2</vt:i4>
      </vt:variant>
      <vt:variant>
        <vt:lpstr>Slide Titles</vt:lpstr>
      </vt:variant>
      <vt:variant>
        <vt:i4>24</vt:i4>
      </vt:variant>
    </vt:vector>
  </HeadingPairs>
  <TitlesOfParts>
    <vt:vector size="36" baseType="lpstr">
      <vt:lpstr>Amatic SC</vt:lpstr>
      <vt:lpstr>Arial</vt:lpstr>
      <vt:lpstr>Calibri</vt:lpstr>
      <vt:lpstr>Calibri Light</vt:lpstr>
      <vt:lpstr>Gabriola</vt:lpstr>
      <vt:lpstr>Helvetica</vt:lpstr>
      <vt:lpstr>Roboto Medium</vt:lpstr>
      <vt:lpstr>Tahoma</vt:lpstr>
      <vt:lpstr>Wingdings</vt:lpstr>
      <vt:lpstr>Office Teması</vt:lpstr>
      <vt:lpstr>think-cell Slide</vt:lpstr>
      <vt:lpstr>Çizelge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SEO &amp; Marketing Icons</vt:lpstr>
    </vt:vector>
  </TitlesOfParts>
  <Company>T.C. Ziraat Bankası A.Ş.</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Sunusu</dc:title>
  <dc:creator>Mustafa Alper Aydın (Kurumsal Mimari Grup Başkanlığı)</dc:creator>
  <cp:lastModifiedBy>Elif EREN GÜRSOY (Dijital Bankacılık Portföy)</cp:lastModifiedBy>
  <cp:revision>678</cp:revision>
  <cp:lastPrinted>2017-10-06T11:42:26Z</cp:lastPrinted>
  <dcterms:created xsi:type="dcterms:W3CDTF">2017-01-25T08:39:48Z</dcterms:created>
  <dcterms:modified xsi:type="dcterms:W3CDTF">2025-10-03T13:04:48Z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0x0101007FDE9DE898099B47AD53ECDD9E193140</vt:lpwstr>
  </property>
  <property fmtid="{D5CDD505-2E9C-101B-9397-08002B2CF9AE}" pid="3" name="DokumanEtiketleri">
    <vt:lpwstr/>
  </property>
</Properties>
</file>