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sldIdLst>
    <p:sldId id="256" r:id="rId12"/>
    <p:sldId id="257" r:id="rId13"/>
    <p:sldId id="258" r:id="rId14"/>
    <p:sldId id="259" r:id="rId15"/>
    <p:sldId id="260" r:id="rId16"/>
    <p:sldId id="261" r:id="rId17"/>
    <p:sldId id="262" r:id="rId18"/>
    <p:sldId id="263" r:id="rId19"/>
    <p:sldId id="264" r:id="rId20"/>
    <p:sldId id="265" r:id="rId21"/>
    <p:sldId id="266" r:id="rId22"/>
  </p:sldIdLst>
  <p:sldSz cx="12192000" cy="6858000"/>
  <p:notesSz cx="6797675" cy="9926638"/>
  <p:custDataLst>
    <p:tags r:id="rId30"/>
  </p:custData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ustafa Alper Aydın (Kurumsal Mimari Grup Başkanlığı)" initials="MAA(MG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1969B"/>
    <a:srgbClr val="B4BEC3"/>
    <a:srgbClr val="D2DCE1"/>
    <a:srgbClr val="D7E6EB"/>
    <a:srgbClr val="870F00"/>
    <a:srgbClr val="B90F0A"/>
    <a:srgbClr val="FFFFFF"/>
    <a:srgbClr val="E10514"/>
    <a:srgbClr val="F0AE90"/>
    <a:srgbClr val="F967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til Yok, Tablo Kılavuz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7853C-536D-4A76-A0AE-DD22124D55A5}" styleName="Tema Uygulanmış Stil 1 - Vurgu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800" autoAdjust="0"/>
  </p:normalViewPr>
  <p:slideViewPr>
    <p:cSldViewPr>
      <p:cViewPr varScale="1">
        <p:scale>
          <a:sx n="70" d="100"/>
          <a:sy n="70" d="100"/>
        </p:scale>
        <p:origin x="592" y="52"/>
      </p:cViewPr>
      <p:guideLst>
        <p:guide orient="horz" pos="2160"/>
        <p:guide pos="3840"/>
      </p:guideLst>
    </p:cSldViewPr>
  </p:slideViewPr>
  <p:notesTextViewPr>
    <p:cViewPr>
      <p:scale>
        <a:sx n="1" d="1"/>
        <a:sy n="1" d="1"/>
      </p:scale>
      <p:origin x="0" y="0"/>
    </p:cViewPr>
  </p:notesTextViewPr>
  <p:gridSpacing cx="90001" cy="90001"/>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9" Type="http://schemas.openxmlformats.org/officeDocument/2006/relationships/notesMaster" Target="notesMasters/notesMaster1.xml"/><Relationship Id="rId30" Type="http://schemas.openxmlformats.org/officeDocument/2006/relationships/tags" Target="tags/tag1.xml"/><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42478B06-6A38-4D9A-8235-039CB031A12B}" type="datetimeFigureOut">
              <a:rPr lang="tr-TR" smtClean="0"/>
              <a:t>3.10.2025</a:t>
            </a:fld>
            <a:endParaRPr lang="tr-TR"/>
          </a:p>
        </p:txBody>
      </p:sp>
      <p:sp>
        <p:nvSpPr>
          <p:cNvPr id="4" name="Slayt Görüntüsü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322CD1B9-83A6-4443-98F3-89FCB3552544}" type="slidenum">
              <a:rPr lang="tr-TR" smtClean="0"/>
              <a:t>‹#›</a:t>
            </a:fld>
            <a:endParaRPr lang="tr-TR"/>
          </a:p>
        </p:txBody>
      </p:sp>
    </p:spTree>
    <p:extLst>
      <p:ext uri="{BB962C8B-B14F-4D97-AF65-F5344CB8AC3E}">
        <p14:creationId xmlns:p14="http://schemas.microsoft.com/office/powerpoint/2010/main" val="322657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 Merhaba, biz AI Overflow. Projemizin adı Mercek: soruna odaklanır, çözümü netleştirir.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0:10–0:20 · Takımı tek cümleyle tanıtın. (Ad, birim ve rolleri doldurun; fotoğraf eklenecekse daire içine yerleştirin.)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0:20–0:40 · Şube personeli işlem yapamadığında hata mı kural mı bilemiyor, çağrı açıyor. L1 ve L2 Kibana'da log arıyor, aynı kurum sorunu için onlarca çağrı açılıyor, bilinen çözümler kişilerde kalıyor. Yeni talepler de bu sorunlardan habersiz planlanıyor.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0:40–0:50 · Tek cümle çözüm. İki modül ve köprü: loglar, çağrı ve müşteri verisi talep kapsamına giriyor. Mercek'i müşteri değil banka çalışanları kullanıyor.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0:50–0:58 · Mercek çağrıyı kaydetmekle kalmıyor: açıklıyor, birleştiriyor, koda bağlıyor ve talebi gerekçelendiriyor. AI'ın rolü sınırlı ve denetlenebilir.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0:58–1:05 · Mercek hibrit RAG kullanır: AI Search geçmiş çözümleri, talepleri ve duyuruları anlam benzerliğiyle bulur (vektör + kelime, Türkçe analizör, Foundry embedding); Azure SQL o anki gerçek rakamları parametreli sorgularla getirir. Foundry ikisini bağlam olarak alıp cevabı yazar; rakam uydurmaz çünkü her sayı SQL'den gelir. Model SQL yazmaz (text-to-SQL yok). CI/CD her PR'da test ve güvenlik taraması yapıyor. Sağda AI'ın ve kuralların işi. (Yalnızca gerçekten çalışan servisler bu slaytta kalmalı.)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1:05–1:20 · Mercek'in altı kullanım senaryosu. 'CANLI' etiketliler birazdan canlı gösterilecek; diğerleri ekran görüntüsü veya kısa videoyla. (2. gün 12:00 kod dondurmada etiketleri gerçek duruma göre güncelleyin: canlı demoya yalnızca deploy edilmiş ortamda doğrulaması yeşil ve 3 provada hatasız olan senaryolar girer.)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1:20–4:15 · CANLI DEMO (~3 dk), önce demo_reset çalıştırılmış olmalı. A: Elif KRDTKULL 400.000 / 3 ay → Sorun yaşıyorum → iş kuralı kartı → Bana göster. B: Mehmet ODMTFATR Başkentgaz (odm-dogalgaz turu) → Zeynep Mercek'e yazar → müşteriye söylenecek metin, CAG-2051 bağlı vaka 12 → Kerem %93 eşleşme. C: Elif İSKİ metni → 412 / %97 / 13 hane, duyuru → Kerem: %35, kod analizi, diff, ASKİ. D: Fatma talebi → analiz kartları → önerileri kabul et → 18 a/g, 9 Kasım–2 Aralık → köprü → Evet → 20 a/g, 4 Aralık. Canlıda olmayan sahneyi ekran görüntüsüyle 15 sn'de geçin; bir sahne bozulursa videosuna geçin.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 Önce/sonra. Demo sırasında artan sayaçları ve ölçülen analiz süresini söyleyin. Varsayımları açıkça belirtin.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4:45–4:55 · 'Tamamlanan' listesini 2. gün 12:00'de gerçek duruma göre güncelleyin. S-C: AI yanlışsa → eşik, kaynak, sayı doğrulaması, insan onayı. Maliyet → küçük model, kısa bağlam, analiz başına ölçülen token.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4:55–5:00 · Sloganla kapatın. Bağlantıları sunumdan önce doldurun; şifre, anahtar veya gerçek müşteri verisi görünmediğini kontrol 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2654586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ctrTitle"/>
          </p:nvPr>
        </p:nvSpPr>
        <p:spPr>
          <a:xfrm>
            <a:off x="1524000" y="1122363"/>
            <a:ext cx="9144000" cy="2387600"/>
          </a:xfrm>
        </p:spPr>
        <p:txBody>
          <a:bodyPr anchor="b"/>
          <a:lstStyle>
            <a:lvl1pPr algn="ctr">
              <a:defRPr sz="6000"/>
            </a:lvl1pPr>
          </a:lstStyle>
          <a:p>
            <a:r>
              <a:rPr lang="tr-TR"/>
              <a:t>Asıl başlık stili için tıklatın</a:t>
            </a:r>
          </a:p>
        </p:txBody>
      </p:sp>
      <p:sp>
        <p:nvSpPr>
          <p:cNvPr id="3" name="Alt Başlı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706309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3830045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idx="1"/>
          </p:nvPr>
        </p:nvSpPr>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62958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graphicFrame>
        <p:nvGraphicFramePr>
          <p:cNvPr id="8" name="Nesne 7" hidden="1"/>
          <p:cNvGraphicFramePr>
            <a:graphicFrameLocks noChangeAspect="1"/>
          </p:cNvGraphicFramePr>
          <p:nvPr userDrawn="1">
            <p:custDataLst>
              <p:tags r:id="rId1"/>
            </p:custDataLst>
            <p:extLst>
              <p:ext uri="{D42A27DB-BD31-4B8C-83A1-F6EECF244321}">
                <p14:modId xmlns:p14="http://schemas.microsoft.com/office/powerpoint/2010/main" val="164464852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a:xfrm>
            <a:off x="831850" y="1709738"/>
            <a:ext cx="10515600" cy="2852737"/>
          </a:xfrm>
        </p:spPr>
        <p:txBody>
          <a:bodyPr anchor="b"/>
          <a:lstStyle>
            <a:lvl1pPr>
              <a:defRPr sz="6000"/>
            </a:lvl1pPr>
          </a:lstStyle>
          <a:p>
            <a:r>
              <a:rPr lang="tr-TR"/>
              <a:t>Asıl başlık stili için tıklatın</a:t>
            </a:r>
          </a:p>
        </p:txBody>
      </p:sp>
      <p:sp>
        <p:nvSpPr>
          <p:cNvPr id="3" name="Metin Yer Tutucusu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0106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sz="half" idx="1"/>
          </p:nvPr>
        </p:nvSpPr>
        <p:spPr>
          <a:xfrm>
            <a:off x="838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p:cNvSpPr>
            <a:spLocks noGrp="1"/>
          </p:cNvSpPr>
          <p:nvPr>
            <p:ph sz="half" idx="2"/>
          </p:nvPr>
        </p:nvSpPr>
        <p:spPr>
          <a:xfrm>
            <a:off x="6172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0731766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Unvan 1"/>
          <p:cNvSpPr>
            <a:spLocks noGrp="1"/>
          </p:cNvSpPr>
          <p:nvPr>
            <p:ph type="title"/>
          </p:nvPr>
        </p:nvSpPr>
        <p:spPr>
          <a:xfrm>
            <a:off x="839788" y="365125"/>
            <a:ext cx="10515600" cy="1325563"/>
          </a:xfrm>
        </p:spPr>
        <p:txBody>
          <a:bodyPr/>
          <a:lstStyle/>
          <a:p>
            <a:r>
              <a:rPr lang="tr-TR"/>
              <a:t>Asıl başlık stili için tıklatın</a:t>
            </a:r>
          </a:p>
        </p:txBody>
      </p:sp>
      <p:sp>
        <p:nvSpPr>
          <p:cNvPr id="3" name="Metin Yer Tutucusu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4" name="İçerik Yer Tutucusu 3"/>
          <p:cNvSpPr>
            <a:spLocks noGrp="1"/>
          </p:cNvSpPr>
          <p:nvPr>
            <p:ph sz="half" idx="2"/>
          </p:nvPr>
        </p:nvSpPr>
        <p:spPr>
          <a:xfrm>
            <a:off x="839788" y="2505075"/>
            <a:ext cx="5157787"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6" name="İçerik Yer Tutucusu 5"/>
          <p:cNvSpPr>
            <a:spLocks noGrp="1"/>
          </p:cNvSpPr>
          <p:nvPr>
            <p:ph sz="quarter" idx="4"/>
          </p:nvPr>
        </p:nvSpPr>
        <p:spPr>
          <a:xfrm>
            <a:off x="6172200" y="2505075"/>
            <a:ext cx="5183188"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8" name="Altbilgi Yer Tutucusu 7"/>
          <p:cNvSpPr>
            <a:spLocks noGrp="1"/>
          </p:cNvSpPr>
          <p:nvPr>
            <p:ph type="ftr" sz="quarter" idx="11"/>
          </p:nvPr>
        </p:nvSpPr>
        <p:spPr/>
        <p:txBody>
          <a:bodyPr/>
          <a:lstStyle/>
          <a:p>
            <a:endParaRPr lang="tr-TR" dirty="0"/>
          </a:p>
        </p:txBody>
      </p:sp>
      <p:sp>
        <p:nvSpPr>
          <p:cNvPr id="9" name="Slayt Numarası Yer Tutucusu 8"/>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27081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Veri Yer Tutucusu 2"/>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4" name="Altbilgi Yer Tutucusu 3"/>
          <p:cNvSpPr>
            <a:spLocks noGrp="1"/>
          </p:cNvSpPr>
          <p:nvPr>
            <p:ph type="ftr" sz="quarter" idx="11"/>
          </p:nvPr>
        </p:nvSpPr>
        <p:spPr/>
        <p:txBody>
          <a:bodyPr/>
          <a:lstStyle/>
          <a:p>
            <a:endParaRPr lang="tr-TR" dirty="0"/>
          </a:p>
        </p:txBody>
      </p:sp>
      <p:sp>
        <p:nvSpPr>
          <p:cNvPr id="5" name="Slayt Numarası Yer Tutucusu 4"/>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35046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3" name="Altbilgi Yer Tutucusu 2"/>
          <p:cNvSpPr>
            <a:spLocks noGrp="1"/>
          </p:cNvSpPr>
          <p:nvPr>
            <p:ph type="ftr" sz="quarter" idx="11"/>
          </p:nvPr>
        </p:nvSpPr>
        <p:spPr/>
        <p:txBody>
          <a:bodyPr/>
          <a:lstStyle/>
          <a:p>
            <a:endParaRPr lang="tr-TR" dirty="0"/>
          </a:p>
        </p:txBody>
      </p:sp>
      <p:sp>
        <p:nvSpPr>
          <p:cNvPr id="4" name="Slayt Numarası Yer Tutucusu 3"/>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64630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İçerik Yer Tutucus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5350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Resim Yer Tutucusu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dirty="0"/>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92694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Dikey Metin Yer Tutucusu 2"/>
          <p:cNvSpPr>
            <a:spLocks noGrp="1"/>
          </p:cNvSpPr>
          <p:nvPr>
            <p:ph type="body" orient="vert" idx="1"/>
          </p:nvPr>
        </p:nvSpPr>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013179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p:nvPr>
        </p:nvSpPr>
        <p:spPr>
          <a:xfrm>
            <a:off x="8724900" y="365125"/>
            <a:ext cx="2628900" cy="5811838"/>
          </a:xfrm>
        </p:spPr>
        <p:txBody>
          <a:bodyPr vert="eaVert"/>
          <a:lstStyle/>
          <a:p>
            <a:r>
              <a:rPr lang="tr-TR"/>
              <a:t>Asıl başlık stili için tıklatın</a:t>
            </a:r>
          </a:p>
        </p:txBody>
      </p:sp>
      <p:sp>
        <p:nvSpPr>
          <p:cNvPr id="3" name="Dikey Metin Yer Tutucusu 2"/>
          <p:cNvSpPr>
            <a:spLocks noGrp="1"/>
          </p:cNvSpPr>
          <p:nvPr>
            <p:ph type="body" orient="vert" idx="1"/>
          </p:nvPr>
        </p:nvSpPr>
        <p:spPr>
          <a:xfrm>
            <a:off x="838200" y="365125"/>
            <a:ext cx="7734300" cy="5811838"/>
          </a:xfrm>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41629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graphicFrame>
        <p:nvGraphicFramePr>
          <p:cNvPr id="2" name="Nesne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ntent Placeholder 4"/>
          <p:cNvSpPr>
            <a:spLocks noGrp="1"/>
          </p:cNvSpPr>
          <p:nvPr>
            <p:ph sz="quarter" idx="11"/>
          </p:nvPr>
        </p:nvSpPr>
        <p:spPr bwMode="gray">
          <a:xfrm>
            <a:off x="460375" y="1325564"/>
            <a:ext cx="11272838" cy="46608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p:cNvSpPr>
            <a:spLocks noGrp="1"/>
          </p:cNvSpPr>
          <p:nvPr>
            <p:ph type="title"/>
          </p:nvPr>
        </p:nvSpPr>
        <p:spPr bwMode="auto">
          <a:xfrm>
            <a:off x="460375" y="228600"/>
            <a:ext cx="11272838" cy="535531"/>
          </a:xfrm>
          <a:prstGeom prst="rect">
            <a:avLst/>
          </a:prstGeom>
        </p:spPr>
        <p:txBody>
          <a:bodyPr>
            <a:spAutoFit/>
          </a:bodyPr>
          <a:lstStyle/>
          <a:p>
            <a:r>
              <a:rPr lang="en-US"/>
              <a:t>Click to edit Master title style</a:t>
            </a:r>
            <a:endParaRPr lang="en-US" dirty="0"/>
          </a:p>
        </p:txBody>
      </p:sp>
    </p:spTree>
    <p:extLst>
      <p:ext uri="{BB962C8B-B14F-4D97-AF65-F5344CB8AC3E}">
        <p14:creationId xmlns:p14="http://schemas.microsoft.com/office/powerpoint/2010/main" val="141594647"/>
      </p:ext>
    </p:extLst>
  </p:cSld>
  <p:clrMapOvr>
    <a:masterClrMapping/>
  </p:clrMapOvr>
  <p:transition/>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image" Target="../media/image1.png"/><Relationship Id="rId16" Type="http://schemas.openxmlformats.org/officeDocument/2006/relationships/oleObject" Target="../embeddings/oleObject1.bin"/><Relationship Id="rId17"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6EE8CAE-E084-41A3-8171-2677F1F6650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55935" y="6399033"/>
            <a:ext cx="1854959" cy="324000"/>
          </a:xfrm>
          <a:prstGeom prst="rect">
            <a:avLst/>
          </a:prstGeom>
        </p:spPr>
      </p:pic>
      <p:graphicFrame>
        <p:nvGraphicFramePr>
          <p:cNvPr id="8" name="Nesne 7" hidden="1"/>
          <p:cNvGraphicFramePr>
            <a:graphicFrameLocks noChangeAspect="1"/>
          </p:cNvGraphicFramePr>
          <p:nvPr>
            <p:custDataLst>
              <p:tags r:id="rId14"/>
            </p:custDataLst>
            <p:extLst>
              <p:ext uri="{D42A27DB-BD31-4B8C-83A1-F6EECF244321}">
                <p14:modId xmlns:p14="http://schemas.microsoft.com/office/powerpoint/2010/main" val="346812989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6" imgW="270" imgH="270" progId="TCLayout.ActiveDocument.1">
                  <p:embed/>
                </p:oleObj>
              </mc:Choice>
              <mc:Fallback>
                <p:oleObj name="think-cell Slide" r:id="rId16" imgW="270" imgH="270" progId="TCLayout.ActiveDocument.1">
                  <p:embed/>
                  <p:pic>
                    <p:nvPicPr>
                      <p:cNvPr id="0" name=""/>
                      <p:cNvPicPr/>
                      <p:nvPr/>
                    </p:nvPicPr>
                    <p:blipFill>
                      <a:blip r:embed="rId17"/>
                      <a:stretch>
                        <a:fillRect/>
                      </a:stretch>
                    </p:blipFill>
                    <p:spPr>
                      <a:xfrm>
                        <a:off x="1588" y="1588"/>
                        <a:ext cx="1587" cy="1587"/>
                      </a:xfrm>
                      <a:prstGeom prst="rect">
                        <a:avLst/>
                      </a:prstGeom>
                    </p:spPr>
                  </p:pic>
                </p:oleObj>
              </mc:Fallback>
            </mc:AlternateContent>
          </a:graphicData>
        </a:graphic>
      </p:graphicFrame>
      <p:sp>
        <p:nvSpPr>
          <p:cNvPr id="2" name="Başlık Yer Tutucusu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 için tıklatın</a:t>
            </a:r>
          </a:p>
        </p:txBody>
      </p:sp>
      <p:sp>
        <p:nvSpPr>
          <p:cNvPr id="3" name="Metin Yer Tutucusu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2"/>
          </p:nvPr>
        </p:nvSpPr>
        <p:spPr>
          <a:xfrm>
            <a:off x="2315958" y="6356350"/>
            <a:ext cx="1265442"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896AB5-6331-4D15-9B8F-6E61C0B1DA97}" type="datetimeFigureOut">
              <a:rPr lang="tr-TR" smtClean="0"/>
              <a:t>3.10.2025</a:t>
            </a:fld>
            <a:endParaRPr lang="tr-TR" dirty="0"/>
          </a:p>
        </p:txBody>
      </p:sp>
      <p:sp>
        <p:nvSpPr>
          <p:cNvPr id="5" name="Altbilgi Yer Tutucusu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dirty="0"/>
          </a:p>
        </p:txBody>
      </p:sp>
      <p:sp>
        <p:nvSpPr>
          <p:cNvPr id="6" name="Slayt Numarası Yer Tutucusu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160DAF-6CD0-4F84-B624-AA1D29C488AF}" type="slidenum">
              <a:rPr lang="tr-TR" smtClean="0"/>
              <a:t>‹#›</a:t>
            </a:fld>
            <a:endParaRPr lang="tr-TR" dirty="0"/>
          </a:p>
        </p:txBody>
      </p:sp>
    </p:spTree>
    <p:extLst>
      <p:ext uri="{BB962C8B-B14F-4D97-AF65-F5344CB8AC3E}">
        <p14:creationId xmlns:p14="http://schemas.microsoft.com/office/powerpoint/2010/main" val="942725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4.png"/><Relationship Id="rId7"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417320"/>
            <a:ext cx="6217920" cy="365760"/>
          </a:xfrm>
          <a:prstGeom prst="rect">
            <a:avLst/>
          </a:prstGeom>
          <a:noFill/>
        </p:spPr>
        <p:txBody>
          <a:bodyPr wrap="square" anchor="t" lIns="0" rIns="0" tIns="0" bIns="0">
            <a:spAutoFit/>
          </a:bodyPr>
          <a:lstStyle/>
          <a:p>
            <a:pPr algn="l">
              <a:spcAft>
                <a:spcPts val="400"/>
              </a:spcAft>
            </a:pPr>
            <a:r>
              <a:rPr sz="1400" b="1" i="0">
                <a:solidFill>
                  <a:srgbClr val="E10514"/>
                </a:solidFill>
                <a:latin typeface="Calibri"/>
              </a:rPr>
              <a:t>ZİRAAT TEKNOLOJİ YAPAY ZEKÂ HACKATHONU · TEMA 2</a:t>
            </a:r>
          </a:p>
        </p:txBody>
      </p:sp>
      <p:sp>
        <p:nvSpPr>
          <p:cNvPr id="3" name="TextBox 2"/>
          <p:cNvSpPr txBox="1"/>
          <p:nvPr/>
        </p:nvSpPr>
        <p:spPr>
          <a:xfrm>
            <a:off x="914400" y="1828800"/>
            <a:ext cx="6217920" cy="1188720"/>
          </a:xfrm>
          <a:prstGeom prst="rect">
            <a:avLst/>
          </a:prstGeom>
          <a:noFill/>
        </p:spPr>
        <p:txBody>
          <a:bodyPr wrap="square" anchor="t" lIns="0" rIns="0" tIns="0" bIns="0">
            <a:spAutoFit/>
          </a:bodyPr>
          <a:lstStyle/>
          <a:p>
            <a:pPr algn="l">
              <a:spcAft>
                <a:spcPts val="400"/>
              </a:spcAft>
            </a:pPr>
            <a:r>
              <a:rPr sz="7200" b="1" i="0">
                <a:solidFill>
                  <a:srgbClr val="1E1E1E"/>
                </a:solidFill>
                <a:latin typeface="Calibri"/>
              </a:rPr>
              <a:t>MERCEK</a:t>
            </a:r>
          </a:p>
        </p:txBody>
      </p:sp>
      <p:sp>
        <p:nvSpPr>
          <p:cNvPr id="4" name="Rectangle 3"/>
          <p:cNvSpPr/>
          <p:nvPr/>
        </p:nvSpPr>
        <p:spPr>
          <a:xfrm>
            <a:off x="960120" y="3063240"/>
            <a:ext cx="1097280" cy="64008"/>
          </a:xfrm>
          <a:prstGeom prst="rect">
            <a:avLst/>
          </a:prstGeom>
          <a:solidFill>
            <a:srgbClr val="E10514"/>
          </a:solidFill>
          <a:ln>
            <a:noFill/>
          </a:ln>
          <a:effectLst/>
        </p:spPr>
        <p:txBody>
          <a:bodyPr rtlCol="0" anchor="ctr"/>
          <a:lstStyle/>
          <a:p/>
        </p:txBody>
      </p:sp>
      <p:sp>
        <p:nvSpPr>
          <p:cNvPr id="5" name="TextBox 4"/>
          <p:cNvSpPr txBox="1"/>
          <p:nvPr/>
        </p:nvSpPr>
        <p:spPr>
          <a:xfrm>
            <a:off x="914400" y="3291840"/>
            <a:ext cx="6217920" cy="548640"/>
          </a:xfrm>
          <a:prstGeom prst="rect">
            <a:avLst/>
          </a:prstGeom>
          <a:noFill/>
        </p:spPr>
        <p:txBody>
          <a:bodyPr wrap="square" anchor="t" lIns="0" rIns="0" tIns="0" bIns="0">
            <a:spAutoFit/>
          </a:bodyPr>
          <a:lstStyle/>
          <a:p>
            <a:pPr algn="l">
              <a:spcAft>
                <a:spcPts val="400"/>
              </a:spcAft>
            </a:pPr>
            <a:r>
              <a:rPr sz="2600" b="0" i="1">
                <a:solidFill>
                  <a:srgbClr val="B90F0A"/>
                </a:solidFill>
                <a:latin typeface="Calibri"/>
              </a:rPr>
              <a:t>Soruna odaklanır, çözümü netleştirir.</a:t>
            </a:r>
          </a:p>
        </p:txBody>
      </p:sp>
      <p:sp>
        <p:nvSpPr>
          <p:cNvPr id="6" name="TextBox 5"/>
          <p:cNvSpPr txBox="1"/>
          <p:nvPr/>
        </p:nvSpPr>
        <p:spPr>
          <a:xfrm>
            <a:off x="914400" y="4343400"/>
            <a:ext cx="6217920" cy="822960"/>
          </a:xfrm>
          <a:prstGeom prst="rect">
            <a:avLst/>
          </a:prstGeom>
          <a:noFill/>
        </p:spPr>
        <p:txBody>
          <a:bodyPr wrap="square" anchor="t" lIns="0" rIns="0" tIns="0" bIns="0">
            <a:spAutoFit/>
          </a:bodyPr>
          <a:lstStyle/>
          <a:p>
            <a:pPr algn="l">
              <a:spcAft>
                <a:spcPts val="400"/>
              </a:spcAft>
            </a:pPr>
            <a:r>
              <a:rPr sz="2000" b="1" i="0">
                <a:solidFill>
                  <a:srgbClr val="1E1E1E"/>
                </a:solidFill>
                <a:latin typeface="Calibri"/>
              </a:rPr>
              <a:t>AI Overflow Takımı</a:t>
            </a:r>
          </a:p>
          <a:p>
            <a:pPr algn="l">
              <a:spcAft>
                <a:spcPts val="400"/>
              </a:spcAft>
            </a:pPr>
            <a:r>
              <a:rPr sz="1600" b="0" i="0">
                <a:solidFill>
                  <a:srgbClr val="91969B"/>
                </a:solidFill>
                <a:latin typeface="Calibri"/>
              </a:rPr>
              <a:t>17 Ekim 2026</a:t>
            </a:r>
          </a:p>
        </p:txBody>
      </p:sp>
      <p:pic>
        <p:nvPicPr>
          <p:cNvPr id="7" name="Picture 6" descr="mercek-logo.png"/>
          <p:cNvPicPr>
            <a:picLocks noChangeAspect="1"/>
          </p:cNvPicPr>
          <p:nvPr/>
        </p:nvPicPr>
        <p:blipFill>
          <a:blip r:embed="rId2"/>
          <a:stretch>
            <a:fillRect/>
          </a:stretch>
        </p:blipFill>
        <p:spPr>
          <a:xfrm>
            <a:off x="7086600" y="914400"/>
            <a:ext cx="4206240" cy="4206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AI Overflow Takımı</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2</a:t>
            </a:r>
          </a:p>
        </p:txBody>
      </p:sp>
      <p:sp>
        <p:nvSpPr>
          <p:cNvPr id="6" name="Rounded Rectangle 5"/>
          <p:cNvSpPr/>
          <p:nvPr/>
        </p:nvSpPr>
        <p:spPr>
          <a:xfrm>
            <a:off x="502920" y="1325880"/>
            <a:ext cx="2103120" cy="420624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960119" y="1691640"/>
            <a:ext cx="1188720" cy="1188720"/>
          </a:xfrm>
          <a:prstGeom prst="ellipse">
            <a:avLst/>
          </a:prstGeom>
          <a:solidFill>
            <a:srgbClr val="FFFFFF"/>
          </a:solidFill>
          <a:ln w="15875">
            <a:solidFill>
              <a:srgbClr val="E10514"/>
            </a:solidFill>
          </a:ln>
          <a:effectLst/>
        </p:spPr>
        <p:txBody>
          <a:bodyPr rtlCol="0" anchor="ctr"/>
          <a:lstStyle/>
          <a:p/>
        </p:txBody>
      </p:sp>
      <p:pic>
        <p:nvPicPr>
          <p:cNvPr id="8" name="Picture 7" descr="user-g.png"/>
          <p:cNvPicPr>
            <a:picLocks noChangeAspect="1"/>
          </p:cNvPicPr>
          <p:nvPr/>
        </p:nvPicPr>
        <p:blipFill>
          <a:blip r:embed="rId3"/>
          <a:stretch>
            <a:fillRect/>
          </a:stretch>
        </p:blipFill>
        <p:spPr>
          <a:xfrm>
            <a:off x="1280160" y="2011680"/>
            <a:ext cx="548640" cy="548640"/>
          </a:xfrm>
          <a:prstGeom prst="rect">
            <a:avLst/>
          </a:prstGeom>
        </p:spPr>
      </p:pic>
      <p:sp>
        <p:nvSpPr>
          <p:cNvPr id="9" name="TextBox 8"/>
          <p:cNvSpPr txBox="1"/>
          <p:nvPr/>
        </p:nvSpPr>
        <p:spPr>
          <a:xfrm>
            <a:off x="640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0" name="Rounded Rectangle 9"/>
          <p:cNvSpPr/>
          <p:nvPr/>
        </p:nvSpPr>
        <p:spPr>
          <a:xfrm>
            <a:off x="2788920" y="1325880"/>
            <a:ext cx="2103120" cy="4206240"/>
          </a:xfrm>
          <a:prstGeom prst="roundRect">
            <a:avLst>
              <a:gd name="adj" fmla="val 6000"/>
            </a:avLst>
          </a:prstGeom>
          <a:solidFill>
            <a:srgbClr val="F2F5F6"/>
          </a:solidFill>
          <a:ln>
            <a:noFill/>
          </a:ln>
          <a:effectLst/>
        </p:spPr>
        <p:txBody>
          <a:bodyPr rtlCol="0" anchor="ctr"/>
          <a:lstStyle/>
          <a:p/>
        </p:txBody>
      </p:sp>
      <p:sp>
        <p:nvSpPr>
          <p:cNvPr id="11" name="Oval 10"/>
          <p:cNvSpPr/>
          <p:nvPr/>
        </p:nvSpPr>
        <p:spPr>
          <a:xfrm>
            <a:off x="3246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2" name="Picture 11" descr="user-g.png"/>
          <p:cNvPicPr>
            <a:picLocks noChangeAspect="1"/>
          </p:cNvPicPr>
          <p:nvPr/>
        </p:nvPicPr>
        <p:blipFill>
          <a:blip r:embed="rId3"/>
          <a:stretch>
            <a:fillRect/>
          </a:stretch>
        </p:blipFill>
        <p:spPr>
          <a:xfrm>
            <a:off x="3566159" y="2011680"/>
            <a:ext cx="548640" cy="548640"/>
          </a:xfrm>
          <a:prstGeom prst="rect">
            <a:avLst/>
          </a:prstGeom>
        </p:spPr>
      </p:pic>
      <p:sp>
        <p:nvSpPr>
          <p:cNvPr id="13" name="TextBox 12"/>
          <p:cNvSpPr txBox="1"/>
          <p:nvPr/>
        </p:nvSpPr>
        <p:spPr>
          <a:xfrm>
            <a:off x="2926079"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4" name="Rounded Rectangle 13"/>
          <p:cNvSpPr/>
          <p:nvPr/>
        </p:nvSpPr>
        <p:spPr>
          <a:xfrm>
            <a:off x="5074920" y="1325880"/>
            <a:ext cx="2103120" cy="420624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5532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6" name="Picture 15" descr="user-g.png"/>
          <p:cNvPicPr>
            <a:picLocks noChangeAspect="1"/>
          </p:cNvPicPr>
          <p:nvPr/>
        </p:nvPicPr>
        <p:blipFill>
          <a:blip r:embed="rId3"/>
          <a:stretch>
            <a:fillRect/>
          </a:stretch>
        </p:blipFill>
        <p:spPr>
          <a:xfrm>
            <a:off x="5852159" y="2011680"/>
            <a:ext cx="548640" cy="548640"/>
          </a:xfrm>
          <a:prstGeom prst="rect">
            <a:avLst/>
          </a:prstGeom>
        </p:spPr>
      </p:pic>
      <p:sp>
        <p:nvSpPr>
          <p:cNvPr id="17" name="TextBox 16"/>
          <p:cNvSpPr txBox="1"/>
          <p:nvPr/>
        </p:nvSpPr>
        <p:spPr>
          <a:xfrm>
            <a:off x="5212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8" name="Rounded Rectangle 17"/>
          <p:cNvSpPr/>
          <p:nvPr/>
        </p:nvSpPr>
        <p:spPr>
          <a:xfrm>
            <a:off x="7360920" y="1325880"/>
            <a:ext cx="2103120" cy="420624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7818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0" name="Picture 19" descr="user-g.png"/>
          <p:cNvPicPr>
            <a:picLocks noChangeAspect="1"/>
          </p:cNvPicPr>
          <p:nvPr/>
        </p:nvPicPr>
        <p:blipFill>
          <a:blip r:embed="rId3"/>
          <a:stretch>
            <a:fillRect/>
          </a:stretch>
        </p:blipFill>
        <p:spPr>
          <a:xfrm>
            <a:off x="8138160" y="2011680"/>
            <a:ext cx="548640" cy="548640"/>
          </a:xfrm>
          <a:prstGeom prst="rect">
            <a:avLst/>
          </a:prstGeom>
        </p:spPr>
      </p:pic>
      <p:sp>
        <p:nvSpPr>
          <p:cNvPr id="21" name="TextBox 20"/>
          <p:cNvSpPr txBox="1"/>
          <p:nvPr/>
        </p:nvSpPr>
        <p:spPr>
          <a:xfrm>
            <a:off x="7498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2" name="Rounded Rectangle 21"/>
          <p:cNvSpPr/>
          <p:nvPr/>
        </p:nvSpPr>
        <p:spPr>
          <a:xfrm>
            <a:off x="9646920" y="1325880"/>
            <a:ext cx="2103120" cy="420624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10104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4" name="Picture 23" descr="user-g.png"/>
          <p:cNvPicPr>
            <a:picLocks noChangeAspect="1"/>
          </p:cNvPicPr>
          <p:nvPr/>
        </p:nvPicPr>
        <p:blipFill>
          <a:blip r:embed="rId3"/>
          <a:stretch>
            <a:fillRect/>
          </a:stretch>
        </p:blipFill>
        <p:spPr>
          <a:xfrm>
            <a:off x="10424160" y="2011680"/>
            <a:ext cx="548640" cy="548640"/>
          </a:xfrm>
          <a:prstGeom prst="rect">
            <a:avLst/>
          </a:prstGeom>
        </p:spPr>
      </p:pic>
      <p:sp>
        <p:nvSpPr>
          <p:cNvPr id="25" name="TextBox 24"/>
          <p:cNvSpPr txBox="1"/>
          <p:nvPr/>
        </p:nvSpPr>
        <p:spPr>
          <a:xfrm>
            <a:off x="9784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6" name="TextBox 25"/>
          <p:cNvSpPr txBox="1"/>
          <p:nvPr/>
        </p:nvSpPr>
        <p:spPr>
          <a:xfrm>
            <a:off x="502920" y="5715000"/>
            <a:ext cx="10972800" cy="320040"/>
          </a:xfrm>
          <a:prstGeom prst="rect">
            <a:avLst/>
          </a:prstGeom>
          <a:noFill/>
        </p:spPr>
        <p:txBody>
          <a:bodyPr wrap="square" anchor="t" lIns="0" rIns="0" tIns="0" bIns="0">
            <a:spAutoFit/>
          </a:bodyPr>
          <a:lstStyle/>
          <a:p>
            <a:pPr algn="l">
              <a:spcAft>
                <a:spcPts val="400"/>
              </a:spcAft>
            </a:pPr>
            <a:r>
              <a:rPr sz="1400" b="0" i="0">
                <a:solidFill>
                  <a:srgbClr val="91969B"/>
                </a:solidFill>
                <a:latin typeface="Calibri"/>
              </a:rPr>
              <a:t>Sorumluluklar 19 maddelik listeden herkesin kendi seçimiyle dağıtıldı.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Hata mı, Kural mı? Bilinmeyince Çağrı Açılıyor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3</a:t>
            </a:r>
          </a:p>
        </p:txBody>
      </p:sp>
      <p:sp>
        <p:nvSpPr>
          <p:cNvPr id="6" name="Rounded Rectangle 5"/>
          <p:cNvSpPr/>
          <p:nvPr/>
        </p:nvSpPr>
        <p:spPr>
          <a:xfrm>
            <a:off x="411480" y="1188720"/>
            <a:ext cx="3246120" cy="4800600"/>
          </a:xfrm>
          <a:prstGeom prst="roundRect">
            <a:avLst>
              <a:gd name="adj" fmla="val 6000"/>
            </a:avLst>
          </a:prstGeom>
          <a:solidFill>
            <a:srgbClr val="B90F0A"/>
          </a:solidFill>
          <a:ln>
            <a:noFill/>
          </a:ln>
          <a:effectLst/>
        </p:spPr>
        <p:txBody>
          <a:bodyPr rtlCol="0" anchor="ctr"/>
          <a:lstStyle/>
          <a:p/>
        </p:txBody>
      </p:sp>
      <p:pic>
        <p:nvPicPr>
          <p:cNvPr id="7" name="Picture 6" descr="quote-w.png"/>
          <p:cNvPicPr>
            <a:picLocks noChangeAspect="1"/>
          </p:cNvPicPr>
          <p:nvPr/>
        </p:nvPicPr>
        <p:blipFill>
          <a:blip r:embed="rId3"/>
          <a:stretch>
            <a:fillRect/>
          </a:stretch>
        </p:blipFill>
        <p:spPr>
          <a:xfrm>
            <a:off x="731520" y="1508760"/>
            <a:ext cx="457200" cy="457200"/>
          </a:xfrm>
          <a:prstGeom prst="rect">
            <a:avLst/>
          </a:prstGeom>
        </p:spPr>
      </p:pic>
      <p:sp>
        <p:nvSpPr>
          <p:cNvPr id="8" name="TextBox 7"/>
          <p:cNvSpPr txBox="1"/>
          <p:nvPr/>
        </p:nvSpPr>
        <p:spPr>
          <a:xfrm>
            <a:off x="731520" y="2148840"/>
            <a:ext cx="2651760" cy="2194560"/>
          </a:xfrm>
          <a:prstGeom prst="rect">
            <a:avLst/>
          </a:prstGeom>
          <a:noFill/>
        </p:spPr>
        <p:txBody>
          <a:bodyPr wrap="square" anchor="t" lIns="0" rIns="0" tIns="0" bIns="0">
            <a:spAutoFit/>
          </a:bodyPr>
          <a:lstStyle/>
          <a:p>
            <a:pPr algn="l">
              <a:spcAft>
                <a:spcPts val="400"/>
              </a:spcAft>
            </a:pPr>
            <a:r>
              <a:rPr sz="2400" b="1" i="1">
                <a:solidFill>
                  <a:srgbClr val="FFFFFF"/>
                </a:solidFill>
                <a:latin typeface="Calibri"/>
              </a:rPr>
              <a:t>“Ekran ‘kullandırılamaz’ diyor. Sistem mi bozuk?”</a:t>
            </a:r>
          </a:p>
        </p:txBody>
      </p:sp>
      <p:sp>
        <p:nvSpPr>
          <p:cNvPr id="9" name="TextBox 8"/>
          <p:cNvSpPr txBox="1"/>
          <p:nvPr/>
        </p:nvSpPr>
        <p:spPr>
          <a:xfrm>
            <a:off x="731520" y="5120640"/>
            <a:ext cx="2651760" cy="640080"/>
          </a:xfrm>
          <a:prstGeom prst="rect">
            <a:avLst/>
          </a:prstGeom>
          <a:noFill/>
        </p:spPr>
        <p:txBody>
          <a:bodyPr wrap="square" anchor="b" lIns="0" rIns="0" tIns="0" bIns="0">
            <a:spAutoFit/>
          </a:bodyPr>
          <a:lstStyle/>
          <a:p>
            <a:pPr algn="l">
              <a:spcAft>
                <a:spcPts val="400"/>
              </a:spcAft>
            </a:pPr>
            <a:r>
              <a:rPr sz="1400" b="0" i="0">
                <a:solidFill>
                  <a:srgbClr val="FFFFFF"/>
                </a:solidFill>
                <a:latin typeface="Calibri"/>
              </a:rPr>
              <a:t>Elif, şube müşteri temsilcisi · KRDTKULL</a:t>
            </a:r>
          </a:p>
        </p:txBody>
      </p:sp>
      <p:sp>
        <p:nvSpPr>
          <p:cNvPr id="10" name="Rounded Rectangle 9"/>
          <p:cNvSpPr/>
          <p:nvPr/>
        </p:nvSpPr>
        <p:spPr>
          <a:xfrm>
            <a:off x="3931920" y="1188720"/>
            <a:ext cx="1444752" cy="1783080"/>
          </a:xfrm>
          <a:prstGeom prst="roundRect">
            <a:avLst>
              <a:gd name="adj" fmla="val 6000"/>
            </a:avLst>
          </a:prstGeom>
          <a:solidFill>
            <a:srgbClr val="F2F5F6"/>
          </a:solidFill>
          <a:ln>
            <a:noFill/>
          </a:ln>
          <a:effectLst/>
        </p:spPr>
        <p:txBody>
          <a:bodyPr rtlCol="0" anchor="ctr"/>
          <a:lstStyle/>
          <a:p/>
        </p:txBody>
      </p:sp>
      <p:sp>
        <p:nvSpPr>
          <p:cNvPr id="11" name="Oval 10"/>
          <p:cNvSpPr/>
          <p:nvPr/>
        </p:nvSpPr>
        <p:spPr>
          <a:xfrm>
            <a:off x="4069080" y="1325880"/>
            <a:ext cx="411480" cy="411480"/>
          </a:xfrm>
          <a:prstGeom prst="ellipse">
            <a:avLst/>
          </a:prstGeom>
          <a:solidFill>
            <a:srgbClr val="E10514"/>
          </a:solidFill>
          <a:ln>
            <a:noFill/>
          </a:ln>
          <a:effectLst/>
        </p:spPr>
        <p:txBody>
          <a:bodyPr rtlCol="0" anchor="ctr"/>
          <a:lstStyle/>
          <a:p/>
        </p:txBody>
      </p:sp>
      <p:sp>
        <p:nvSpPr>
          <p:cNvPr id="12" name="TextBox 11"/>
          <p:cNvSpPr txBox="1"/>
          <p:nvPr/>
        </p:nvSpPr>
        <p:spPr>
          <a:xfrm>
            <a:off x="4069080"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1</a:t>
            </a:r>
          </a:p>
        </p:txBody>
      </p:sp>
      <p:sp>
        <p:nvSpPr>
          <p:cNvPr id="13" name="TextBox 12"/>
          <p:cNvSpPr txBox="1"/>
          <p:nvPr/>
        </p:nvSpPr>
        <p:spPr>
          <a:xfrm>
            <a:off x="4069080"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Temsilci uyarıyı görür</a:t>
            </a:r>
          </a:p>
        </p:txBody>
      </p:sp>
      <p:sp>
        <p:nvSpPr>
          <p:cNvPr id="14" name="Rounded Rectangle 13"/>
          <p:cNvSpPr/>
          <p:nvPr/>
        </p:nvSpPr>
        <p:spPr>
          <a:xfrm>
            <a:off x="5504688" y="1188720"/>
            <a:ext cx="1444752" cy="178308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5641848" y="1325880"/>
            <a:ext cx="411480" cy="411480"/>
          </a:xfrm>
          <a:prstGeom prst="ellipse">
            <a:avLst/>
          </a:prstGeom>
          <a:solidFill>
            <a:srgbClr val="E10514"/>
          </a:solidFill>
          <a:ln>
            <a:noFill/>
          </a:ln>
          <a:effectLst/>
        </p:spPr>
        <p:txBody>
          <a:bodyPr rtlCol="0" anchor="ctr"/>
          <a:lstStyle/>
          <a:p/>
        </p:txBody>
      </p:sp>
      <p:sp>
        <p:nvSpPr>
          <p:cNvPr id="16" name="TextBox 15"/>
          <p:cNvSpPr txBox="1"/>
          <p:nvPr/>
        </p:nvSpPr>
        <p:spPr>
          <a:xfrm>
            <a:off x="5641848"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2</a:t>
            </a:r>
          </a:p>
        </p:txBody>
      </p:sp>
      <p:sp>
        <p:nvSpPr>
          <p:cNvPr id="17" name="TextBox 16"/>
          <p:cNvSpPr txBox="1"/>
          <p:nvPr/>
        </p:nvSpPr>
        <p:spPr>
          <a:xfrm>
            <a:off x="5641848"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Çağrı açar</a:t>
            </a:r>
          </a:p>
        </p:txBody>
      </p:sp>
      <p:sp>
        <p:nvSpPr>
          <p:cNvPr id="18" name="Rounded Rectangle 17"/>
          <p:cNvSpPr/>
          <p:nvPr/>
        </p:nvSpPr>
        <p:spPr>
          <a:xfrm>
            <a:off x="7077456" y="1188720"/>
            <a:ext cx="1444752" cy="178308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7214616" y="1325880"/>
            <a:ext cx="411480" cy="411480"/>
          </a:xfrm>
          <a:prstGeom prst="ellipse">
            <a:avLst/>
          </a:prstGeom>
          <a:solidFill>
            <a:srgbClr val="E10514"/>
          </a:solidFill>
          <a:ln>
            <a:noFill/>
          </a:ln>
          <a:effectLst/>
        </p:spPr>
        <p:txBody>
          <a:bodyPr rtlCol="0" anchor="ctr"/>
          <a:lstStyle/>
          <a:p/>
        </p:txBody>
      </p:sp>
      <p:sp>
        <p:nvSpPr>
          <p:cNvPr id="20" name="TextBox 19"/>
          <p:cNvSpPr txBox="1"/>
          <p:nvPr/>
        </p:nvSpPr>
        <p:spPr>
          <a:xfrm>
            <a:off x="7214616"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3</a:t>
            </a:r>
          </a:p>
        </p:txBody>
      </p:sp>
      <p:sp>
        <p:nvSpPr>
          <p:cNvPr id="21" name="TextBox 20"/>
          <p:cNvSpPr txBox="1"/>
          <p:nvPr/>
        </p:nvSpPr>
        <p:spPr>
          <a:xfrm>
            <a:off x="7214616"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L1 Kibana'da log arar</a:t>
            </a:r>
          </a:p>
        </p:txBody>
      </p:sp>
      <p:sp>
        <p:nvSpPr>
          <p:cNvPr id="22" name="Rounded Rectangle 21"/>
          <p:cNvSpPr/>
          <p:nvPr/>
        </p:nvSpPr>
        <p:spPr>
          <a:xfrm>
            <a:off x="8650224" y="1188720"/>
            <a:ext cx="1444752" cy="178308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8787384" y="1325880"/>
            <a:ext cx="411480" cy="411480"/>
          </a:xfrm>
          <a:prstGeom prst="ellipse">
            <a:avLst/>
          </a:prstGeom>
          <a:solidFill>
            <a:srgbClr val="E10514"/>
          </a:solidFill>
          <a:ln>
            <a:noFill/>
          </a:ln>
          <a:effectLst/>
        </p:spPr>
        <p:txBody>
          <a:bodyPr rtlCol="0" anchor="ctr"/>
          <a:lstStyle/>
          <a:p/>
        </p:txBody>
      </p:sp>
      <p:sp>
        <p:nvSpPr>
          <p:cNvPr id="24" name="TextBox 23"/>
          <p:cNvSpPr txBox="1"/>
          <p:nvPr/>
        </p:nvSpPr>
        <p:spPr>
          <a:xfrm>
            <a:off x="8787384"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4</a:t>
            </a:r>
          </a:p>
        </p:txBody>
      </p:sp>
      <p:sp>
        <p:nvSpPr>
          <p:cNvPr id="25" name="TextBox 24"/>
          <p:cNvSpPr txBox="1"/>
          <p:nvPr/>
        </p:nvSpPr>
        <p:spPr>
          <a:xfrm>
            <a:off x="8787384"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L2 kurumu ve kodu inceler</a:t>
            </a:r>
          </a:p>
        </p:txBody>
      </p:sp>
      <p:sp>
        <p:nvSpPr>
          <p:cNvPr id="26" name="Rounded Rectangle 25"/>
          <p:cNvSpPr/>
          <p:nvPr/>
        </p:nvSpPr>
        <p:spPr>
          <a:xfrm>
            <a:off x="10222992" y="1188720"/>
            <a:ext cx="1444752" cy="1783080"/>
          </a:xfrm>
          <a:prstGeom prst="roundRect">
            <a:avLst>
              <a:gd name="adj" fmla="val 6000"/>
            </a:avLst>
          </a:prstGeom>
          <a:solidFill>
            <a:srgbClr val="F2F5F6"/>
          </a:solidFill>
          <a:ln>
            <a:noFill/>
          </a:ln>
          <a:effectLst/>
        </p:spPr>
        <p:txBody>
          <a:bodyPr rtlCol="0" anchor="ctr"/>
          <a:lstStyle/>
          <a:p/>
        </p:txBody>
      </p:sp>
      <p:sp>
        <p:nvSpPr>
          <p:cNvPr id="27" name="Oval 26"/>
          <p:cNvSpPr/>
          <p:nvPr/>
        </p:nvSpPr>
        <p:spPr>
          <a:xfrm>
            <a:off x="10360152" y="1325880"/>
            <a:ext cx="411480" cy="411480"/>
          </a:xfrm>
          <a:prstGeom prst="ellipse">
            <a:avLst/>
          </a:prstGeom>
          <a:solidFill>
            <a:srgbClr val="E10514"/>
          </a:solidFill>
          <a:ln>
            <a:noFill/>
          </a:ln>
          <a:effectLst/>
        </p:spPr>
        <p:txBody>
          <a:bodyPr rtlCol="0" anchor="ctr"/>
          <a:lstStyle/>
          <a:p/>
        </p:txBody>
      </p:sp>
      <p:sp>
        <p:nvSpPr>
          <p:cNvPr id="28" name="TextBox 27"/>
          <p:cNvSpPr txBox="1"/>
          <p:nvPr/>
        </p:nvSpPr>
        <p:spPr>
          <a:xfrm>
            <a:off x="10360152"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5</a:t>
            </a:r>
          </a:p>
        </p:txBody>
      </p:sp>
      <p:sp>
        <p:nvSpPr>
          <p:cNvPr id="29" name="TextBox 28"/>
          <p:cNvSpPr txBox="1"/>
          <p:nvPr/>
        </p:nvSpPr>
        <p:spPr>
          <a:xfrm>
            <a:off x="10360152"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Yeni talep bu sorunlardan habersiz planlanır</a:t>
            </a:r>
          </a:p>
        </p:txBody>
      </p:sp>
      <p:sp>
        <p:nvSpPr>
          <p:cNvPr id="30" name="TextBox 29"/>
          <p:cNvSpPr txBox="1"/>
          <p:nvPr/>
        </p:nvSpPr>
        <p:spPr>
          <a:xfrm>
            <a:off x="3931920" y="3108960"/>
            <a:ext cx="7772400" cy="548640"/>
          </a:xfrm>
          <a:prstGeom prst="rect">
            <a:avLst/>
          </a:prstGeom>
          <a:noFill/>
        </p:spPr>
        <p:txBody>
          <a:bodyPr wrap="square" anchor="t" lIns="0" rIns="0" tIns="0" bIns="0">
            <a:spAutoFit/>
          </a:bodyPr>
          <a:lstStyle/>
          <a:p>
            <a:pPr algn="l">
              <a:spcAft>
                <a:spcPts val="400"/>
              </a:spcAft>
            </a:pPr>
            <a:r>
              <a:rPr sz="1400" b="1" i="0">
                <a:solidFill>
                  <a:srgbClr val="B90F0A"/>
                </a:solidFill>
                <a:latin typeface="Calibri"/>
              </a:rPr>
              <a:t>Bedeli: </a:t>
            </a:r>
            <a:r>
              <a:rPr sz="1400" b="0" i="0">
                <a:solidFill>
                  <a:srgbClr val="B90F0A"/>
                </a:solidFill>
                <a:latin typeface="Calibri"/>
              </a:rPr>
              <a:t>işlem yapamayan müşteri · gereksiz çağrılar · aynı kurum sorunu için onlarca kayıt · veriden kopuk planlanan talepler</a:t>
            </a:r>
          </a:p>
        </p:txBody>
      </p:sp>
      <p:sp>
        <p:nvSpPr>
          <p:cNvPr id="31" name="Oval 30"/>
          <p:cNvSpPr/>
          <p:nvPr/>
        </p:nvSpPr>
        <p:spPr>
          <a:xfrm>
            <a:off x="3931920" y="3886200"/>
            <a:ext cx="548640" cy="548640"/>
          </a:xfrm>
          <a:prstGeom prst="ellipse">
            <a:avLst/>
          </a:prstGeom>
          <a:solidFill>
            <a:srgbClr val="91969B"/>
          </a:solidFill>
          <a:ln>
            <a:noFill/>
          </a:ln>
          <a:effectLst/>
        </p:spPr>
        <p:txBody>
          <a:bodyPr rtlCol="0" anchor="ctr"/>
          <a:lstStyle/>
          <a:p/>
        </p:txBody>
      </p:sp>
      <p:pic>
        <p:nvPicPr>
          <p:cNvPr id="32" name="Picture 31" descr="eye-w.png"/>
          <p:cNvPicPr>
            <a:picLocks noChangeAspect="1"/>
          </p:cNvPicPr>
          <p:nvPr/>
        </p:nvPicPr>
        <p:blipFill>
          <a:blip r:embed="rId4"/>
          <a:stretch>
            <a:fillRect/>
          </a:stretch>
        </p:blipFill>
        <p:spPr>
          <a:xfrm>
            <a:off x="4069080" y="4023360"/>
            <a:ext cx="274320" cy="274320"/>
          </a:xfrm>
          <a:prstGeom prst="rect">
            <a:avLst/>
          </a:prstGeom>
        </p:spPr>
      </p:pic>
      <p:sp>
        <p:nvSpPr>
          <p:cNvPr id="33" name="TextBox 32"/>
          <p:cNvSpPr txBox="1"/>
          <p:nvPr/>
        </p:nvSpPr>
        <p:spPr>
          <a:xfrm>
            <a:off x="3931920"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Hata mı kural mı belli değil</a:t>
            </a:r>
          </a:p>
          <a:p>
            <a:pPr algn="l">
              <a:spcAft>
                <a:spcPts val="400"/>
              </a:spcAft>
            </a:pPr>
            <a:r>
              <a:rPr sz="1400" b="0" i="0">
                <a:solidFill>
                  <a:srgbClr val="91969B"/>
                </a:solidFill>
                <a:latin typeface="Calibri"/>
              </a:rPr>
              <a:t>İş kuralı reddi ekranda teknik hatadan ayrılamıyor.</a:t>
            </a:r>
          </a:p>
        </p:txBody>
      </p:sp>
      <p:sp>
        <p:nvSpPr>
          <p:cNvPr id="34" name="Oval 33"/>
          <p:cNvSpPr/>
          <p:nvPr/>
        </p:nvSpPr>
        <p:spPr>
          <a:xfrm>
            <a:off x="6565392" y="3886200"/>
            <a:ext cx="548640" cy="548640"/>
          </a:xfrm>
          <a:prstGeom prst="ellipse">
            <a:avLst/>
          </a:prstGeom>
          <a:solidFill>
            <a:srgbClr val="91969B"/>
          </a:solidFill>
          <a:ln>
            <a:noFill/>
          </a:ln>
          <a:effectLst/>
        </p:spPr>
        <p:txBody>
          <a:bodyPr rtlCol="0" anchor="ctr"/>
          <a:lstStyle/>
          <a:p/>
        </p:txBody>
      </p:sp>
      <p:pic>
        <p:nvPicPr>
          <p:cNvPr id="35" name="Picture 34" descr="users-w.png"/>
          <p:cNvPicPr>
            <a:picLocks noChangeAspect="1"/>
          </p:cNvPicPr>
          <p:nvPr/>
        </p:nvPicPr>
        <p:blipFill>
          <a:blip r:embed="rId5"/>
          <a:stretch>
            <a:fillRect/>
          </a:stretch>
        </p:blipFill>
        <p:spPr>
          <a:xfrm>
            <a:off x="6702552" y="4023360"/>
            <a:ext cx="274320" cy="274320"/>
          </a:xfrm>
          <a:prstGeom prst="rect">
            <a:avLst/>
          </a:prstGeom>
        </p:spPr>
      </p:pic>
      <p:sp>
        <p:nvSpPr>
          <p:cNvPr id="36" name="TextBox 35"/>
          <p:cNvSpPr txBox="1"/>
          <p:nvPr/>
        </p:nvSpPr>
        <p:spPr>
          <a:xfrm>
            <a:off x="6565392"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Aynı sorun, onlarca çağrı</a:t>
            </a:r>
          </a:p>
          <a:p>
            <a:pPr algn="l">
              <a:spcAft>
                <a:spcPts val="400"/>
              </a:spcAft>
            </a:pPr>
            <a:r>
              <a:rPr sz="1400" b="0" i="0">
                <a:solidFill>
                  <a:srgbClr val="91969B"/>
                </a:solidFill>
                <a:latin typeface="Calibri"/>
              </a:rPr>
              <a:t>Kurum kaynaklı sorunda her arama ayrı kayıt; çözüm kişilerde.</a:t>
            </a:r>
          </a:p>
        </p:txBody>
      </p:sp>
      <p:sp>
        <p:nvSpPr>
          <p:cNvPr id="37" name="Oval 36"/>
          <p:cNvSpPr/>
          <p:nvPr/>
        </p:nvSpPr>
        <p:spPr>
          <a:xfrm>
            <a:off x="9198863" y="3886200"/>
            <a:ext cx="548640" cy="548640"/>
          </a:xfrm>
          <a:prstGeom prst="ellipse">
            <a:avLst/>
          </a:prstGeom>
          <a:solidFill>
            <a:srgbClr val="91969B"/>
          </a:solidFill>
          <a:ln>
            <a:noFill/>
          </a:ln>
          <a:effectLst/>
        </p:spPr>
        <p:txBody>
          <a:bodyPr rtlCol="0" anchor="ctr"/>
          <a:lstStyle/>
          <a:p/>
        </p:txBody>
      </p:sp>
      <p:pic>
        <p:nvPicPr>
          <p:cNvPr id="38" name="Picture 37" descr="unlink-w.png"/>
          <p:cNvPicPr>
            <a:picLocks noChangeAspect="1"/>
          </p:cNvPicPr>
          <p:nvPr/>
        </p:nvPicPr>
        <p:blipFill>
          <a:blip r:embed="rId6"/>
          <a:stretch>
            <a:fillRect/>
          </a:stretch>
        </p:blipFill>
        <p:spPr>
          <a:xfrm>
            <a:off x="9336024" y="4023360"/>
            <a:ext cx="274320" cy="274320"/>
          </a:xfrm>
          <a:prstGeom prst="rect">
            <a:avLst/>
          </a:prstGeom>
        </p:spPr>
      </p:pic>
      <p:sp>
        <p:nvSpPr>
          <p:cNvPr id="39" name="TextBox 38"/>
          <p:cNvSpPr txBox="1"/>
          <p:nvPr/>
        </p:nvSpPr>
        <p:spPr>
          <a:xfrm>
            <a:off x="9198863"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Talepler veriden kopuk</a:t>
            </a:r>
          </a:p>
          <a:p>
            <a:pPr algn="l">
              <a:spcAft>
                <a:spcPts val="400"/>
              </a:spcAft>
            </a:pPr>
            <a:r>
              <a:rPr sz="1400" b="0" i="0">
                <a:solidFill>
                  <a:srgbClr val="91969B"/>
                </a:solidFill>
                <a:latin typeface="Calibri"/>
              </a:rPr>
              <a:t>Efor toplantıda; erişim ve kapasite sorunları geç fark ediliyor.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Mercek: Sorundan Plana Tek Akış</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4</a:t>
            </a:r>
          </a:p>
        </p:txBody>
      </p:sp>
      <p:sp>
        <p:nvSpPr>
          <p:cNvPr id="6" name="TextBox 5"/>
          <p:cNvSpPr txBox="1"/>
          <p:nvPr/>
        </p:nvSpPr>
        <p:spPr>
          <a:xfrm>
            <a:off x="411480" y="1097280"/>
            <a:ext cx="11338560" cy="731520"/>
          </a:xfrm>
          <a:prstGeom prst="rect">
            <a:avLst/>
          </a:prstGeom>
          <a:noFill/>
        </p:spPr>
        <p:txBody>
          <a:bodyPr wrap="square" anchor="t" lIns="0" rIns="0" tIns="0" bIns="0">
            <a:spAutoFit/>
          </a:bodyPr>
          <a:lstStyle/>
          <a:p>
            <a:pPr algn="l">
              <a:spcAft>
                <a:spcPts val="400"/>
              </a:spcAft>
            </a:pPr>
            <a:r>
              <a:rPr sz="1800" b="0" i="0">
                <a:solidFill>
                  <a:srgbClr val="1E1E1E"/>
                </a:solidFill>
                <a:latin typeface="Calibri"/>
              </a:rPr>
              <a:t>Banka çalışanlarının ekranlarda yaşadığı sorunu loglardan, çağrı geçmişinden ve koddan açıklar; çağrıları doğru servise yönlendirip birleştirir ve iş birimi taleplerini servis bazlı efor ve takvimle plana dönüştürür.</a:t>
            </a:r>
          </a:p>
        </p:txBody>
      </p:sp>
      <p:sp>
        <p:nvSpPr>
          <p:cNvPr id="7" name="Rounded Rectangle 6"/>
          <p:cNvSpPr/>
          <p:nvPr/>
        </p:nvSpPr>
        <p:spPr>
          <a:xfrm>
            <a:off x="411480" y="2011680"/>
            <a:ext cx="5257800" cy="2971800"/>
          </a:xfrm>
          <a:prstGeom prst="roundRect">
            <a:avLst>
              <a:gd name="adj" fmla="val 6000"/>
            </a:avLst>
          </a:prstGeom>
          <a:solidFill>
            <a:srgbClr val="F2F5F6"/>
          </a:solidFill>
          <a:ln>
            <a:noFill/>
          </a:ln>
          <a:effectLst/>
        </p:spPr>
        <p:txBody>
          <a:bodyPr rtlCol="0" anchor="ctr"/>
          <a:lstStyle/>
          <a:p/>
        </p:txBody>
      </p:sp>
      <p:sp>
        <p:nvSpPr>
          <p:cNvPr id="8" name="Rounded Rectangle 7"/>
          <p:cNvSpPr/>
          <p:nvPr/>
        </p:nvSpPr>
        <p:spPr>
          <a:xfrm>
            <a:off x="411480" y="2011680"/>
            <a:ext cx="5257800" cy="777240"/>
          </a:xfrm>
          <a:prstGeom prst="roundRect">
            <a:avLst>
              <a:gd name="adj" fmla="val 12000"/>
            </a:avLst>
          </a:prstGeom>
          <a:solidFill>
            <a:srgbClr val="E10514"/>
          </a:solidFill>
          <a:ln>
            <a:noFill/>
          </a:ln>
          <a:effectLst/>
        </p:spPr>
        <p:txBody>
          <a:bodyPr rtlCol="0" anchor="ctr"/>
          <a:lstStyle/>
          <a:p/>
        </p:txBody>
      </p:sp>
      <p:sp>
        <p:nvSpPr>
          <p:cNvPr id="9" name="Oval 8"/>
          <p:cNvSpPr/>
          <p:nvPr/>
        </p:nvSpPr>
        <p:spPr>
          <a:xfrm>
            <a:off x="594360" y="2130552"/>
            <a:ext cx="548640" cy="548640"/>
          </a:xfrm>
          <a:prstGeom prst="ellipse">
            <a:avLst/>
          </a:prstGeom>
          <a:solidFill>
            <a:srgbClr val="870F00"/>
          </a:solidFill>
          <a:ln>
            <a:noFill/>
          </a:ln>
          <a:effectLst/>
        </p:spPr>
        <p:txBody>
          <a:bodyPr rtlCol="0" anchor="ctr"/>
          <a:lstStyle/>
          <a:p/>
        </p:txBody>
      </p:sp>
      <p:pic>
        <p:nvPicPr>
          <p:cNvPr id="10" name="Picture 9" descr="headset-w.png"/>
          <p:cNvPicPr>
            <a:picLocks noChangeAspect="1"/>
          </p:cNvPicPr>
          <p:nvPr/>
        </p:nvPicPr>
        <p:blipFill>
          <a:blip r:embed="rId3"/>
          <a:stretch>
            <a:fillRect/>
          </a:stretch>
        </p:blipFill>
        <p:spPr>
          <a:xfrm>
            <a:off x="731520" y="2267712"/>
            <a:ext cx="274320" cy="274320"/>
          </a:xfrm>
          <a:prstGeom prst="rect">
            <a:avLst/>
          </a:prstGeom>
        </p:spPr>
      </p:pic>
      <p:sp>
        <p:nvSpPr>
          <p:cNvPr id="11" name="TextBox 10"/>
          <p:cNvSpPr txBox="1"/>
          <p:nvPr/>
        </p:nvSpPr>
        <p:spPr>
          <a:xfrm>
            <a:off x="128016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Problem Çözüm ve Çağrı Yönetimi</a:t>
            </a:r>
          </a:p>
        </p:txBody>
      </p:sp>
      <p:sp>
        <p:nvSpPr>
          <p:cNvPr id="12" name="TextBox 11"/>
          <p:cNvSpPr txBox="1"/>
          <p:nvPr/>
        </p:nvSpPr>
        <p:spPr>
          <a:xfrm>
            <a:off x="68580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Ekran bağlamıyla logu bulur, iş kuralını hatadan ayırır</a:t>
            </a:r>
          </a:p>
          <a:p>
            <a:pPr algn="l" marL="228600" indent="-228600">
              <a:spcAft>
                <a:spcPts val="800"/>
              </a:spcAft>
              <a:buClr>
                <a:srgbClr val="E10514"/>
              </a:buClr>
              <a:buFont typeface="Arial"/>
              <a:buChar char="•"/>
            </a:pPr>
            <a:r>
              <a:rPr sz="1600" b="0" i="0">
                <a:solidFill>
                  <a:srgbClr val="1E1E1E"/>
                </a:solidFill>
                <a:latin typeface="Calibri"/>
              </a:rPr>
              <a:t>Çağrıyı servise atar, mükerrerleri ana kayda bağlar</a:t>
            </a:r>
          </a:p>
          <a:p>
            <a:pPr algn="l" marL="228600" indent="-228600">
              <a:spcAft>
                <a:spcPts val="800"/>
              </a:spcAft>
              <a:buClr>
                <a:srgbClr val="E10514"/>
              </a:buClr>
              <a:buFont typeface="Arial"/>
              <a:buChar char="•"/>
            </a:pPr>
            <a:r>
              <a:rPr sz="1600" b="0" i="0">
                <a:solidFill>
                  <a:srgbClr val="1E1E1E"/>
                </a:solidFill>
                <a:latin typeface="Calibri"/>
              </a:rPr>
              <a:t>Geçmiş çözümü bulur; yoksa duyuruya ve koda bakar</a:t>
            </a:r>
          </a:p>
        </p:txBody>
      </p:sp>
      <p:sp>
        <p:nvSpPr>
          <p:cNvPr id="13" name="Rounded Rectangle 12"/>
          <p:cNvSpPr/>
          <p:nvPr/>
        </p:nvSpPr>
        <p:spPr>
          <a:xfrm>
            <a:off x="6492240" y="2011680"/>
            <a:ext cx="5257800" cy="2971800"/>
          </a:xfrm>
          <a:prstGeom prst="roundRect">
            <a:avLst>
              <a:gd name="adj" fmla="val 6000"/>
            </a:avLst>
          </a:prstGeom>
          <a:solidFill>
            <a:srgbClr val="F2F5F6"/>
          </a:solidFill>
          <a:ln>
            <a:noFill/>
          </a:ln>
          <a:effectLst/>
        </p:spPr>
        <p:txBody>
          <a:bodyPr rtlCol="0" anchor="ctr"/>
          <a:lstStyle/>
          <a:p/>
        </p:txBody>
      </p:sp>
      <p:sp>
        <p:nvSpPr>
          <p:cNvPr id="14" name="Rounded Rectangle 13"/>
          <p:cNvSpPr/>
          <p:nvPr/>
        </p:nvSpPr>
        <p:spPr>
          <a:xfrm>
            <a:off x="6492240" y="2011680"/>
            <a:ext cx="5257800" cy="777240"/>
          </a:xfrm>
          <a:prstGeom prst="roundRect">
            <a:avLst>
              <a:gd name="adj" fmla="val 12000"/>
            </a:avLst>
          </a:prstGeom>
          <a:solidFill>
            <a:srgbClr val="B90F0A"/>
          </a:solidFill>
          <a:ln>
            <a:noFill/>
          </a:ln>
          <a:effectLst/>
        </p:spPr>
        <p:txBody>
          <a:bodyPr rtlCol="0" anchor="ctr"/>
          <a:lstStyle/>
          <a:p/>
        </p:txBody>
      </p:sp>
      <p:sp>
        <p:nvSpPr>
          <p:cNvPr id="15" name="Oval 14"/>
          <p:cNvSpPr/>
          <p:nvPr/>
        </p:nvSpPr>
        <p:spPr>
          <a:xfrm>
            <a:off x="6675120" y="2130552"/>
            <a:ext cx="548640" cy="548640"/>
          </a:xfrm>
          <a:prstGeom prst="ellipse">
            <a:avLst/>
          </a:prstGeom>
          <a:solidFill>
            <a:srgbClr val="870F00"/>
          </a:solidFill>
          <a:ln>
            <a:noFill/>
          </a:ln>
          <a:effectLst/>
        </p:spPr>
        <p:txBody>
          <a:bodyPr rtlCol="0" anchor="ctr"/>
          <a:lstStyle/>
          <a:p/>
        </p:txBody>
      </p:sp>
      <p:pic>
        <p:nvPicPr>
          <p:cNvPr id="16" name="Picture 15" descr="clip-w.png"/>
          <p:cNvPicPr>
            <a:picLocks noChangeAspect="1"/>
          </p:cNvPicPr>
          <p:nvPr/>
        </p:nvPicPr>
        <p:blipFill>
          <a:blip r:embed="rId4"/>
          <a:stretch>
            <a:fillRect/>
          </a:stretch>
        </p:blipFill>
        <p:spPr>
          <a:xfrm>
            <a:off x="6812280" y="2267712"/>
            <a:ext cx="274320" cy="274320"/>
          </a:xfrm>
          <a:prstGeom prst="rect">
            <a:avLst/>
          </a:prstGeom>
        </p:spPr>
      </p:pic>
      <p:sp>
        <p:nvSpPr>
          <p:cNvPr id="17" name="TextBox 16"/>
          <p:cNvSpPr txBox="1"/>
          <p:nvPr/>
        </p:nvSpPr>
        <p:spPr>
          <a:xfrm>
            <a:off x="736092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Talep Analizi, Efor ve Takvim</a:t>
            </a:r>
          </a:p>
        </p:txBody>
      </p:sp>
      <p:sp>
        <p:nvSpPr>
          <p:cNvPr id="18" name="TextBox 17"/>
          <p:cNvSpPr txBox="1"/>
          <p:nvPr/>
        </p:nvSpPr>
        <p:spPr>
          <a:xfrm>
            <a:off x="676656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Talebi bileşenlere ayırır, ekranları ve servisleri bulur</a:t>
            </a:r>
          </a:p>
          <a:p>
            <a:pPr algn="l" marL="228600" indent="-228600">
              <a:spcAft>
                <a:spcPts val="800"/>
              </a:spcAft>
              <a:buClr>
                <a:srgbClr val="E10514"/>
              </a:buClr>
              <a:buFont typeface="Arial"/>
              <a:buChar char="•"/>
            </a:pPr>
            <a:r>
              <a:rPr sz="1600" b="0" i="0">
                <a:solidFill>
                  <a:srgbClr val="1E1E1E"/>
                </a:solidFill>
                <a:latin typeface="Calibri"/>
              </a:rPr>
              <a:t>Benzer taleplerden adam-gün, servis takviminden plan</a:t>
            </a:r>
          </a:p>
          <a:p>
            <a:pPr algn="l" marL="228600" indent="-228600">
              <a:spcAft>
                <a:spcPts val="800"/>
              </a:spcAft>
              <a:buClr>
                <a:srgbClr val="E10514"/>
              </a:buClr>
              <a:buFont typeface="Arial"/>
              <a:buChar char="•"/>
            </a:pPr>
            <a:r>
              <a:rPr sz="1600" b="0" i="0">
                <a:solidFill>
                  <a:srgbClr val="1E1E1E"/>
                </a:solidFill>
                <a:latin typeface="Calibri"/>
              </a:rPr>
              <a:t>Çağrı ve müşteri verisiyle kapsamı düzeltir</a:t>
            </a:r>
          </a:p>
        </p:txBody>
      </p:sp>
      <p:sp>
        <p:nvSpPr>
          <p:cNvPr id="19" name="Rounded Rectangle 18"/>
          <p:cNvSpPr/>
          <p:nvPr/>
        </p:nvSpPr>
        <p:spPr>
          <a:xfrm>
            <a:off x="5733288" y="3017520"/>
            <a:ext cx="731520" cy="914400"/>
          </a:xfrm>
          <a:prstGeom prst="roundRect">
            <a:avLst>
              <a:gd name="adj" fmla="val 15000"/>
            </a:avLst>
          </a:prstGeom>
          <a:solidFill>
            <a:srgbClr val="870F00"/>
          </a:solidFill>
          <a:ln>
            <a:noFill/>
          </a:ln>
          <a:effectLst/>
        </p:spPr>
        <p:txBody>
          <a:bodyPr rtlCol="0" anchor="ctr"/>
          <a:lstStyle/>
          <a:p/>
        </p:txBody>
      </p:sp>
      <p:sp>
        <p:nvSpPr>
          <p:cNvPr id="20" name="TextBox 19"/>
          <p:cNvSpPr txBox="1"/>
          <p:nvPr/>
        </p:nvSpPr>
        <p:spPr>
          <a:xfrm>
            <a:off x="5733288" y="3017520"/>
            <a:ext cx="731520" cy="914400"/>
          </a:xfrm>
          <a:prstGeom prst="rect">
            <a:avLst/>
          </a:prstGeom>
          <a:noFill/>
        </p:spPr>
        <p:txBody>
          <a:bodyPr wrap="square" anchor="ctr" lIns="0" rIns="0" tIns="0" bIns="0">
            <a:spAutoFit/>
          </a:bodyPr>
          <a:lstStyle/>
          <a:p>
            <a:pPr algn="ctr">
              <a:spcAft>
                <a:spcPts val="0"/>
              </a:spcAft>
            </a:pPr>
            <a:r>
              <a:rPr sz="1100" b="1" i="0">
                <a:solidFill>
                  <a:srgbClr val="FFFFFF"/>
                </a:solidFill>
                <a:latin typeface="Calibri"/>
              </a:rPr>
              <a:t>veri</a:t>
            </a:r>
          </a:p>
          <a:p>
            <a:pPr algn="ctr">
              <a:spcAft>
                <a:spcPts val="0"/>
              </a:spcAft>
            </a:pPr>
            <a:r>
              <a:rPr sz="1100" b="1" i="0">
                <a:solidFill>
                  <a:srgbClr val="FFFFFF"/>
                </a:solidFill>
                <a:latin typeface="Calibri"/>
              </a:rPr>
              <a:t>→</a:t>
            </a:r>
          </a:p>
          <a:p>
            <a:pPr algn="ctr">
              <a:spcAft>
                <a:spcPts val="0"/>
              </a:spcAft>
            </a:pPr>
            <a:r>
              <a:rPr sz="1100" b="1" i="0">
                <a:solidFill>
                  <a:srgbClr val="FFFFFF"/>
                </a:solidFill>
                <a:latin typeface="Calibri"/>
              </a:rPr>
              <a:t>kapsam</a:t>
            </a:r>
          </a:p>
        </p:txBody>
      </p:sp>
      <p:sp>
        <p:nvSpPr>
          <p:cNvPr id="21" name="TextBox 20"/>
          <p:cNvSpPr txBox="1"/>
          <p:nvPr/>
        </p:nvSpPr>
        <p:spPr>
          <a:xfrm>
            <a:off x="411480" y="5257800"/>
            <a:ext cx="1645920" cy="502920"/>
          </a:xfrm>
          <a:prstGeom prst="rect">
            <a:avLst/>
          </a:prstGeom>
          <a:noFill/>
        </p:spPr>
        <p:txBody>
          <a:bodyPr wrap="square" anchor="ctr" lIns="0" rIns="0" tIns="0" bIns="0">
            <a:spAutoFit/>
          </a:bodyPr>
          <a:lstStyle/>
          <a:p>
            <a:pPr algn="l">
              <a:spcAft>
                <a:spcPts val="400"/>
              </a:spcAft>
            </a:pPr>
            <a:r>
              <a:rPr sz="1600" b="1" i="0">
                <a:solidFill>
                  <a:srgbClr val="1E1E1E"/>
                </a:solidFill>
                <a:latin typeface="Calibri"/>
              </a:rPr>
              <a:t>Kullanıcılar</a:t>
            </a:r>
          </a:p>
        </p:txBody>
      </p:sp>
      <p:sp>
        <p:nvSpPr>
          <p:cNvPr id="22" name="Rounded Rectangle 21"/>
          <p:cNvSpPr/>
          <p:nvPr/>
        </p:nvSpPr>
        <p:spPr>
          <a:xfrm>
            <a:off x="2103120" y="5257800"/>
            <a:ext cx="2194560" cy="502920"/>
          </a:xfrm>
          <a:prstGeom prst="roundRect">
            <a:avLst>
              <a:gd name="adj" fmla="val 50000"/>
            </a:avLst>
          </a:prstGeom>
          <a:solidFill>
            <a:srgbClr val="D2DCE1"/>
          </a:solidFill>
          <a:ln>
            <a:noFill/>
          </a:ln>
          <a:effectLst/>
        </p:spPr>
        <p:txBody>
          <a:bodyPr rtlCol="0" anchor="ctr"/>
          <a:lstStyle/>
          <a:p/>
        </p:txBody>
      </p:sp>
      <p:sp>
        <p:nvSpPr>
          <p:cNvPr id="23" name="TextBox 22"/>
          <p:cNvSpPr txBox="1"/>
          <p:nvPr/>
        </p:nvSpPr>
        <p:spPr>
          <a:xfrm>
            <a:off x="210312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Şube, çağrı merkezi</a:t>
            </a:r>
          </a:p>
        </p:txBody>
      </p:sp>
      <p:sp>
        <p:nvSpPr>
          <p:cNvPr id="24" name="Rounded Rectangle 23"/>
          <p:cNvSpPr/>
          <p:nvPr/>
        </p:nvSpPr>
        <p:spPr>
          <a:xfrm>
            <a:off x="4480560" y="5257800"/>
            <a:ext cx="2194560" cy="502920"/>
          </a:xfrm>
          <a:prstGeom prst="roundRect">
            <a:avLst>
              <a:gd name="adj" fmla="val 50000"/>
            </a:avLst>
          </a:prstGeom>
          <a:solidFill>
            <a:srgbClr val="D2DCE1"/>
          </a:solidFill>
          <a:ln>
            <a:noFill/>
          </a:ln>
          <a:effectLst/>
        </p:spPr>
        <p:txBody>
          <a:bodyPr rtlCol="0" anchor="ctr"/>
          <a:lstStyle/>
          <a:p/>
        </p:txBody>
      </p:sp>
      <p:sp>
        <p:nvSpPr>
          <p:cNvPr id="25" name="TextBox 24"/>
          <p:cNvSpPr txBox="1"/>
          <p:nvPr/>
        </p:nvSpPr>
        <p:spPr>
          <a:xfrm>
            <a:off x="448056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L2, platform</a:t>
            </a:r>
          </a:p>
        </p:txBody>
      </p:sp>
      <p:sp>
        <p:nvSpPr>
          <p:cNvPr id="26" name="Rounded Rectangle 25"/>
          <p:cNvSpPr/>
          <p:nvPr/>
        </p:nvSpPr>
        <p:spPr>
          <a:xfrm>
            <a:off x="6858000" y="5257800"/>
            <a:ext cx="2194560" cy="502920"/>
          </a:xfrm>
          <a:prstGeom prst="roundRect">
            <a:avLst>
              <a:gd name="adj" fmla="val 50000"/>
            </a:avLst>
          </a:prstGeom>
          <a:solidFill>
            <a:srgbClr val="D2DCE1"/>
          </a:solidFill>
          <a:ln>
            <a:noFill/>
          </a:ln>
          <a:effectLst/>
        </p:spPr>
        <p:txBody>
          <a:bodyPr rtlCol="0" anchor="ctr"/>
          <a:lstStyle/>
          <a:p/>
        </p:txBody>
      </p:sp>
      <p:sp>
        <p:nvSpPr>
          <p:cNvPr id="27" name="TextBox 26"/>
          <p:cNvSpPr txBox="1"/>
          <p:nvPr/>
        </p:nvSpPr>
        <p:spPr>
          <a:xfrm>
            <a:off x="685800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birimleri</a:t>
            </a:r>
          </a:p>
        </p:txBody>
      </p:sp>
      <p:sp>
        <p:nvSpPr>
          <p:cNvPr id="28" name="Rounded Rectangle 27"/>
          <p:cNvSpPr/>
          <p:nvPr/>
        </p:nvSpPr>
        <p:spPr>
          <a:xfrm>
            <a:off x="9235440" y="5257800"/>
            <a:ext cx="2194560" cy="502920"/>
          </a:xfrm>
          <a:prstGeom prst="roundRect">
            <a:avLst>
              <a:gd name="adj" fmla="val 50000"/>
            </a:avLst>
          </a:prstGeom>
          <a:solidFill>
            <a:srgbClr val="D2DCE1"/>
          </a:solidFill>
          <a:ln>
            <a:noFill/>
          </a:ln>
          <a:effectLst/>
        </p:spPr>
        <p:txBody>
          <a:bodyPr rtlCol="0" anchor="ctr"/>
          <a:lstStyle/>
          <a:p/>
        </p:txBody>
      </p:sp>
      <p:sp>
        <p:nvSpPr>
          <p:cNvPr id="29" name="TextBox 28"/>
          <p:cNvSpPr txBox="1"/>
          <p:nvPr/>
        </p:nvSpPr>
        <p:spPr>
          <a:xfrm>
            <a:off x="923544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analisti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Dört Farkımız</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55448" y="658368"/>
            <a:ext cx="11430000" cy="365760"/>
          </a:xfrm>
          <a:prstGeom prst="rect">
            <a:avLst/>
          </a:prstGeom>
          <a:noFill/>
        </p:spPr>
        <p:txBody>
          <a:bodyPr wrap="square" anchor="t" lIns="0" rIns="0" tIns="0" bIns="0">
            <a:spAutoFit/>
          </a:bodyPr>
          <a:lstStyle/>
          <a:p>
            <a:pPr algn="l">
              <a:spcAft>
                <a:spcPts val="400"/>
              </a:spcAft>
            </a:pPr>
            <a:r>
              <a:rPr sz="1600" b="0" i="0">
                <a:solidFill>
                  <a:srgbClr val="91969B"/>
                </a:solidFill>
                <a:latin typeface="Calibri"/>
              </a:rPr>
              <a:t>Bugünkü araçlar sorunu kaydeder; Mercek açıklar, kaynağına bağlar ve yeni talebin planına taşır.</a:t>
            </a:r>
          </a:p>
        </p:txBody>
      </p:sp>
      <p:sp>
        <p:nvSpPr>
          <p:cNvPr id="6" name="TextBox 5"/>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5</a:t>
            </a:r>
          </a:p>
        </p:txBody>
      </p:sp>
      <p:sp>
        <p:nvSpPr>
          <p:cNvPr id="7" name="Rounded Rectangle 6"/>
          <p:cNvSpPr/>
          <p:nvPr/>
        </p:nvSpPr>
        <p:spPr>
          <a:xfrm>
            <a:off x="411480" y="1280160"/>
            <a:ext cx="5532120" cy="2148840"/>
          </a:xfrm>
          <a:prstGeom prst="roundRect">
            <a:avLst>
              <a:gd name="adj" fmla="val 6000"/>
            </a:avLst>
          </a:prstGeom>
          <a:solidFill>
            <a:srgbClr val="F2F5F6"/>
          </a:solidFill>
          <a:ln>
            <a:noFill/>
          </a:ln>
          <a:effectLst/>
        </p:spPr>
        <p:txBody>
          <a:bodyPr rtlCol="0" anchor="ctr"/>
          <a:lstStyle/>
          <a:p/>
        </p:txBody>
      </p:sp>
      <p:sp>
        <p:nvSpPr>
          <p:cNvPr id="8" name="Oval 7"/>
          <p:cNvSpPr/>
          <p:nvPr/>
        </p:nvSpPr>
        <p:spPr>
          <a:xfrm>
            <a:off x="731520" y="1645919"/>
            <a:ext cx="777240" cy="777240"/>
          </a:xfrm>
          <a:prstGeom prst="ellipse">
            <a:avLst/>
          </a:prstGeom>
          <a:solidFill>
            <a:srgbClr val="E10514"/>
          </a:solidFill>
          <a:ln>
            <a:noFill/>
          </a:ln>
          <a:effectLst/>
        </p:spPr>
        <p:txBody>
          <a:bodyPr rtlCol="0" anchor="ctr"/>
          <a:lstStyle/>
          <a:p/>
        </p:txBody>
      </p:sp>
      <p:pic>
        <p:nvPicPr>
          <p:cNvPr id="9" name="Picture 8" descr="bolt-w.png"/>
          <p:cNvPicPr>
            <a:picLocks noChangeAspect="1"/>
          </p:cNvPicPr>
          <p:nvPr/>
        </p:nvPicPr>
        <p:blipFill>
          <a:blip r:embed="rId3"/>
          <a:stretch>
            <a:fillRect/>
          </a:stretch>
        </p:blipFill>
        <p:spPr>
          <a:xfrm>
            <a:off x="925830" y="1840229"/>
            <a:ext cx="388620" cy="388620"/>
          </a:xfrm>
          <a:prstGeom prst="rect">
            <a:avLst/>
          </a:prstGeom>
        </p:spPr>
      </p:pic>
      <p:sp>
        <p:nvSpPr>
          <p:cNvPr id="10" name="TextBox 9"/>
          <p:cNvSpPr txBox="1"/>
          <p:nvPr/>
        </p:nvSpPr>
        <p:spPr>
          <a:xfrm>
            <a:off x="178308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Bağlamı bilir</a:t>
            </a:r>
          </a:p>
          <a:p>
            <a:pPr algn="l">
              <a:spcAft>
                <a:spcPts val="600"/>
              </a:spcAft>
            </a:pPr>
            <a:r>
              <a:rPr sz="1600" b="0" i="0">
                <a:solidFill>
                  <a:srgbClr val="1E1E1E"/>
                </a:solidFill>
                <a:latin typeface="Calibri"/>
              </a:rPr>
              <a:t>Ekran kodu, son işlemin logu ve temsilcinin cümlesiyle çalışır; kullanıcı yazmadan açıklar ve ekranı doğru değerlerle doldurur.</a:t>
            </a:r>
          </a:p>
        </p:txBody>
      </p:sp>
      <p:sp>
        <p:nvSpPr>
          <p:cNvPr id="11" name="Rounded Rectangle 10"/>
          <p:cNvSpPr/>
          <p:nvPr/>
        </p:nvSpPr>
        <p:spPr>
          <a:xfrm>
            <a:off x="6172200" y="1280160"/>
            <a:ext cx="5532120" cy="2148840"/>
          </a:xfrm>
          <a:prstGeom prst="roundRect">
            <a:avLst>
              <a:gd name="adj" fmla="val 6000"/>
            </a:avLst>
          </a:prstGeom>
          <a:solidFill>
            <a:srgbClr val="F2F5F6"/>
          </a:solidFill>
          <a:ln>
            <a:noFill/>
          </a:ln>
          <a:effectLst/>
        </p:spPr>
        <p:txBody>
          <a:bodyPr rtlCol="0" anchor="ctr"/>
          <a:lstStyle/>
          <a:p/>
        </p:txBody>
      </p:sp>
      <p:sp>
        <p:nvSpPr>
          <p:cNvPr id="12" name="Oval 11"/>
          <p:cNvSpPr/>
          <p:nvPr/>
        </p:nvSpPr>
        <p:spPr>
          <a:xfrm>
            <a:off x="6492240" y="1645919"/>
            <a:ext cx="777240" cy="777240"/>
          </a:xfrm>
          <a:prstGeom prst="ellipse">
            <a:avLst/>
          </a:prstGeom>
          <a:solidFill>
            <a:srgbClr val="B90F0A"/>
          </a:solidFill>
          <a:ln>
            <a:noFill/>
          </a:ln>
          <a:effectLst/>
        </p:spPr>
        <p:txBody>
          <a:bodyPr rtlCol="0" anchor="ctr"/>
          <a:lstStyle/>
          <a:p/>
        </p:txBody>
      </p:sp>
      <p:pic>
        <p:nvPicPr>
          <p:cNvPr id="13" name="Picture 12" descr="code-w.png"/>
          <p:cNvPicPr>
            <a:picLocks noChangeAspect="1"/>
          </p:cNvPicPr>
          <p:nvPr/>
        </p:nvPicPr>
        <p:blipFill>
          <a:blip r:embed="rId4"/>
          <a:stretch>
            <a:fillRect/>
          </a:stretch>
        </p:blipFill>
        <p:spPr>
          <a:xfrm>
            <a:off x="6686550" y="1840229"/>
            <a:ext cx="388620" cy="388620"/>
          </a:xfrm>
          <a:prstGeom prst="rect">
            <a:avLst/>
          </a:prstGeom>
        </p:spPr>
      </p:pic>
      <p:sp>
        <p:nvSpPr>
          <p:cNvPr id="14" name="TextBox 13"/>
          <p:cNvSpPr txBox="1"/>
          <p:nvPr/>
        </p:nvSpPr>
        <p:spPr>
          <a:xfrm>
            <a:off x="754380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Üç kaynağı birleştirir</a:t>
            </a:r>
          </a:p>
          <a:p>
            <a:pPr algn="l">
              <a:spcAft>
                <a:spcPts val="600"/>
              </a:spcAft>
            </a:pPr>
            <a:r>
              <a:rPr sz="1600" b="0" i="0">
                <a:solidFill>
                  <a:srgbClr val="1E1E1E"/>
                </a:solidFill>
                <a:latin typeface="Calibri"/>
              </a:rPr>
              <a:t>Log (ne oluyor), kurum duyurusu (neden) ve uygulama kodu (nerede düzeltilir) tek analizde.</a:t>
            </a:r>
          </a:p>
        </p:txBody>
      </p:sp>
      <p:sp>
        <p:nvSpPr>
          <p:cNvPr id="15" name="Rounded Rectangle 14"/>
          <p:cNvSpPr/>
          <p:nvPr/>
        </p:nvSpPr>
        <p:spPr>
          <a:xfrm>
            <a:off x="411480" y="3657600"/>
            <a:ext cx="5532120" cy="2148840"/>
          </a:xfrm>
          <a:prstGeom prst="roundRect">
            <a:avLst>
              <a:gd name="adj" fmla="val 6000"/>
            </a:avLst>
          </a:prstGeom>
          <a:solidFill>
            <a:srgbClr val="F2F5F6"/>
          </a:solidFill>
          <a:ln>
            <a:noFill/>
          </a:ln>
          <a:effectLst/>
        </p:spPr>
        <p:txBody>
          <a:bodyPr rtlCol="0" anchor="ctr"/>
          <a:lstStyle/>
          <a:p/>
        </p:txBody>
      </p:sp>
      <p:sp>
        <p:nvSpPr>
          <p:cNvPr id="16" name="Oval 15"/>
          <p:cNvSpPr/>
          <p:nvPr/>
        </p:nvSpPr>
        <p:spPr>
          <a:xfrm>
            <a:off x="731520" y="4023360"/>
            <a:ext cx="777240" cy="777240"/>
          </a:xfrm>
          <a:prstGeom prst="ellipse">
            <a:avLst/>
          </a:prstGeom>
          <a:solidFill>
            <a:srgbClr val="870F00"/>
          </a:solidFill>
          <a:ln>
            <a:noFill/>
          </a:ln>
          <a:effectLst/>
        </p:spPr>
        <p:txBody>
          <a:bodyPr rtlCol="0" anchor="ctr"/>
          <a:lstStyle/>
          <a:p/>
        </p:txBody>
      </p:sp>
      <p:pic>
        <p:nvPicPr>
          <p:cNvPr id="17" name="Picture 16" descr="sync-w.png"/>
          <p:cNvPicPr>
            <a:picLocks noChangeAspect="1"/>
          </p:cNvPicPr>
          <p:nvPr/>
        </p:nvPicPr>
        <p:blipFill>
          <a:blip r:embed="rId5"/>
          <a:stretch>
            <a:fillRect/>
          </a:stretch>
        </p:blipFill>
        <p:spPr>
          <a:xfrm>
            <a:off x="925830" y="4217670"/>
            <a:ext cx="388620" cy="388620"/>
          </a:xfrm>
          <a:prstGeom prst="rect">
            <a:avLst/>
          </a:prstGeom>
        </p:spPr>
      </p:pic>
      <p:sp>
        <p:nvSpPr>
          <p:cNvPr id="18" name="TextBox 17"/>
          <p:cNvSpPr txBox="1"/>
          <p:nvPr/>
        </p:nvSpPr>
        <p:spPr>
          <a:xfrm>
            <a:off x="178308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Kapalı döngü</a:t>
            </a:r>
          </a:p>
          <a:p>
            <a:pPr algn="l">
              <a:spcAft>
                <a:spcPts val="600"/>
              </a:spcAft>
            </a:pPr>
            <a:r>
              <a:rPr sz="1600" b="0" i="0">
                <a:solidFill>
                  <a:srgbClr val="1E1E1E"/>
                </a:solidFill>
                <a:latin typeface="Calibri"/>
              </a:rPr>
              <a:t>Çağrı ve müşteri verisi, talebin değerini kanıtlar ve eksik kapsamı talep anında gösterir.</a:t>
            </a:r>
          </a:p>
        </p:txBody>
      </p:sp>
      <p:sp>
        <p:nvSpPr>
          <p:cNvPr id="19" name="Rounded Rectangle 18"/>
          <p:cNvSpPr/>
          <p:nvPr/>
        </p:nvSpPr>
        <p:spPr>
          <a:xfrm>
            <a:off x="6172200" y="3657600"/>
            <a:ext cx="5532120" cy="2148840"/>
          </a:xfrm>
          <a:prstGeom prst="roundRect">
            <a:avLst>
              <a:gd name="adj" fmla="val 6000"/>
            </a:avLst>
          </a:prstGeom>
          <a:solidFill>
            <a:srgbClr val="F2F5F6"/>
          </a:solidFill>
          <a:ln>
            <a:noFill/>
          </a:ln>
          <a:effectLst/>
        </p:spPr>
        <p:txBody>
          <a:bodyPr rtlCol="0" anchor="ctr"/>
          <a:lstStyle/>
          <a:p/>
        </p:txBody>
      </p:sp>
      <p:sp>
        <p:nvSpPr>
          <p:cNvPr id="20" name="Oval 19"/>
          <p:cNvSpPr/>
          <p:nvPr/>
        </p:nvSpPr>
        <p:spPr>
          <a:xfrm>
            <a:off x="6492240" y="4023360"/>
            <a:ext cx="777240" cy="777240"/>
          </a:xfrm>
          <a:prstGeom prst="ellipse">
            <a:avLst/>
          </a:prstGeom>
          <a:solidFill>
            <a:srgbClr val="91969B"/>
          </a:solidFill>
          <a:ln>
            <a:noFill/>
          </a:ln>
          <a:effectLst/>
        </p:spPr>
        <p:txBody>
          <a:bodyPr rtlCol="0" anchor="ctr"/>
          <a:lstStyle/>
          <a:p/>
        </p:txBody>
      </p:sp>
      <p:pic>
        <p:nvPicPr>
          <p:cNvPr id="21" name="Picture 20" descr="shield-w.png"/>
          <p:cNvPicPr>
            <a:picLocks noChangeAspect="1"/>
          </p:cNvPicPr>
          <p:nvPr/>
        </p:nvPicPr>
        <p:blipFill>
          <a:blip r:embed="rId6"/>
          <a:stretch>
            <a:fillRect/>
          </a:stretch>
        </p:blipFill>
        <p:spPr>
          <a:xfrm>
            <a:off x="6686550" y="4217670"/>
            <a:ext cx="388620" cy="388620"/>
          </a:xfrm>
          <a:prstGeom prst="rect">
            <a:avLst/>
          </a:prstGeom>
        </p:spPr>
      </p:pic>
      <p:sp>
        <p:nvSpPr>
          <p:cNvPr id="22" name="TextBox 21"/>
          <p:cNvSpPr txBox="1"/>
          <p:nvPr/>
        </p:nvSpPr>
        <p:spPr>
          <a:xfrm>
            <a:off x="754380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Güvenilir AI</a:t>
            </a:r>
          </a:p>
          <a:p>
            <a:pPr algn="l">
              <a:spcAft>
                <a:spcPts val="600"/>
              </a:spcAft>
            </a:pPr>
            <a:r>
              <a:rPr sz="1600" b="0" i="0">
                <a:solidFill>
                  <a:srgbClr val="1E1E1E"/>
                </a:solidFill>
                <a:latin typeface="Calibri"/>
              </a:rPr>
              <a:t>Hesabı kod yapar, AI açıklar. Eşik altında öneri yok; her rakam ve kod satırı doğrulanır.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Mimari: Azure Üzerinde Hibrit RAG</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6</a:t>
            </a:r>
          </a:p>
        </p:txBody>
      </p:sp>
      <p:sp>
        <p:nvSpPr>
          <p:cNvPr id="6" name="Rounded Rectangle 5"/>
          <p:cNvSpPr/>
          <p:nvPr/>
        </p:nvSpPr>
        <p:spPr>
          <a:xfrm>
            <a:off x="411480" y="2148840"/>
            <a:ext cx="1463040" cy="237744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484632" y="2194560"/>
            <a:ext cx="1316736" cy="2286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Kullanıcılar</a:t>
            </a:r>
          </a:p>
          <a:p>
            <a:pPr algn="ctr">
              <a:spcAft>
                <a:spcPts val="200"/>
              </a:spcAft>
            </a:pPr>
            <a:r>
              <a:rPr sz="1200" b="0" i="0">
                <a:solidFill>
                  <a:srgbClr val="1E1E1E"/>
                </a:solidFill>
                <a:latin typeface="Calibri"/>
              </a:rPr>
              <a:t>Şube, çağrı
merkezi
L2 destek
İş birimi,
analist</a:t>
            </a:r>
          </a:p>
        </p:txBody>
      </p:sp>
      <p:sp>
        <p:nvSpPr>
          <p:cNvPr id="8" name="Rounded Rectangle 7"/>
          <p:cNvSpPr/>
          <p:nvPr/>
        </p:nvSpPr>
        <p:spPr>
          <a:xfrm>
            <a:off x="2103120" y="1234440"/>
            <a:ext cx="2103120" cy="1600200"/>
          </a:xfrm>
          <a:prstGeom prst="roundRect">
            <a:avLst>
              <a:gd name="adj" fmla="val 6000"/>
            </a:avLst>
          </a:prstGeom>
          <a:solidFill>
            <a:srgbClr val="E10514"/>
          </a:solidFill>
          <a:ln>
            <a:noFill/>
          </a:ln>
          <a:effectLst/>
        </p:spPr>
        <p:txBody>
          <a:bodyPr rtlCol="0" anchor="ctr"/>
          <a:lstStyle/>
          <a:p/>
        </p:txBody>
      </p:sp>
      <p:sp>
        <p:nvSpPr>
          <p:cNvPr id="9" name="TextBox 8"/>
          <p:cNvSpPr txBox="1"/>
          <p:nvPr/>
        </p:nvSpPr>
        <p:spPr>
          <a:xfrm>
            <a:off x="2176272" y="1280160"/>
            <a:ext cx="1956815"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web</a:t>
            </a:r>
          </a:p>
          <a:p>
            <a:pPr algn="ctr">
              <a:spcAft>
                <a:spcPts val="200"/>
              </a:spcAft>
            </a:pPr>
            <a:r>
              <a:rPr sz="1200" b="0" i="0">
                <a:solidFill>
                  <a:srgbClr val="FFFFFF"/>
                </a:solidFill>
                <a:latin typeface="Calibri"/>
              </a:rPr>
              <a:t>Next.js 16
Bankacılık ekranları,
Mercek, Talep</a:t>
            </a:r>
          </a:p>
        </p:txBody>
      </p:sp>
      <p:sp>
        <p:nvSpPr>
          <p:cNvPr id="10" name="Rounded Rectangle 9"/>
          <p:cNvSpPr/>
          <p:nvPr/>
        </p:nvSpPr>
        <p:spPr>
          <a:xfrm>
            <a:off x="2103120" y="3794760"/>
            <a:ext cx="2103120" cy="1600200"/>
          </a:xfrm>
          <a:prstGeom prst="roundRect">
            <a:avLst>
              <a:gd name="adj" fmla="val 6000"/>
            </a:avLst>
          </a:prstGeom>
          <a:solidFill>
            <a:srgbClr val="B90F0A"/>
          </a:solidFill>
          <a:ln>
            <a:noFill/>
          </a:ln>
          <a:effectLst/>
        </p:spPr>
        <p:txBody>
          <a:bodyPr rtlCol="0" anchor="ctr"/>
          <a:lstStyle/>
          <a:p/>
        </p:txBody>
      </p:sp>
      <p:sp>
        <p:nvSpPr>
          <p:cNvPr id="11" name="TextBox 10"/>
          <p:cNvSpPr txBox="1"/>
          <p:nvPr/>
        </p:nvSpPr>
        <p:spPr>
          <a:xfrm>
            <a:off x="2176272" y="3840480"/>
            <a:ext cx="1956815"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api</a:t>
            </a:r>
          </a:p>
          <a:p>
            <a:pPr algn="ctr">
              <a:spcAft>
                <a:spcPts val="200"/>
              </a:spcAft>
            </a:pPr>
            <a:r>
              <a:rPr sz="1200" b="0" i="0">
                <a:solidFill>
                  <a:srgbClr val="FFFFFF"/>
                </a:solidFill>
                <a:latin typeface="Calibri"/>
              </a:rPr>
              <a:t>FastAPI · /api/health
orkestrasyon, hesap
ve doğrulama</a:t>
            </a:r>
          </a:p>
        </p:txBody>
      </p:sp>
      <p:sp>
        <p:nvSpPr>
          <p:cNvPr id="12" name="Rounded Rectangle 11"/>
          <p:cNvSpPr/>
          <p:nvPr/>
        </p:nvSpPr>
        <p:spPr>
          <a:xfrm>
            <a:off x="4434840" y="1097280"/>
            <a:ext cx="3749039" cy="4343400"/>
          </a:xfrm>
          <a:prstGeom prst="roundRect">
            <a:avLst>
              <a:gd name="adj" fmla="val 6000"/>
            </a:avLst>
          </a:prstGeom>
          <a:solidFill>
            <a:srgbClr val="FFFFFF"/>
          </a:solidFill>
          <a:ln w="15875">
            <a:solidFill>
              <a:srgbClr val="E10514"/>
            </a:solidFill>
          </a:ln>
          <a:effectLst/>
        </p:spPr>
        <p:txBody>
          <a:bodyPr rtlCol="0" anchor="ctr"/>
          <a:lstStyle/>
          <a:p/>
        </p:txBody>
      </p:sp>
      <p:sp>
        <p:nvSpPr>
          <p:cNvPr id="13" name="TextBox 12"/>
          <p:cNvSpPr txBox="1"/>
          <p:nvPr/>
        </p:nvSpPr>
        <p:spPr>
          <a:xfrm>
            <a:off x="4572000" y="1133856"/>
            <a:ext cx="3474720" cy="365760"/>
          </a:xfrm>
          <a:prstGeom prst="rect">
            <a:avLst/>
          </a:prstGeom>
          <a:noFill/>
        </p:spPr>
        <p:txBody>
          <a:bodyPr wrap="square" anchor="ctr" lIns="0" rIns="0" tIns="0" bIns="0">
            <a:spAutoFit/>
          </a:bodyPr>
          <a:lstStyle/>
          <a:p>
            <a:pPr algn="l">
              <a:spcAft>
                <a:spcPts val="400"/>
              </a:spcAft>
            </a:pPr>
            <a:r>
              <a:rPr sz="1300" b="1" i="0">
                <a:solidFill>
                  <a:srgbClr val="E10514"/>
                </a:solidFill>
                <a:latin typeface="Calibri"/>
              </a:rPr>
              <a:t>HİBRİT RAG  </a:t>
            </a:r>
            <a:r>
              <a:rPr sz="1100" b="0" i="0">
                <a:solidFill>
                  <a:srgbClr val="91969B"/>
                </a:solidFill>
                <a:latin typeface="Calibri"/>
              </a:rPr>
              <a:t>1 getir · 2 bağlam · 3 üret</a:t>
            </a:r>
          </a:p>
        </p:txBody>
      </p:sp>
      <p:sp>
        <p:nvSpPr>
          <p:cNvPr id="14" name="Rounded Rectangle 13"/>
          <p:cNvSpPr/>
          <p:nvPr/>
        </p:nvSpPr>
        <p:spPr>
          <a:xfrm>
            <a:off x="4572000" y="1554480"/>
            <a:ext cx="2103120" cy="1463040"/>
          </a:xfrm>
          <a:prstGeom prst="roundRect">
            <a:avLst>
              <a:gd name="adj" fmla="val 6000"/>
            </a:avLst>
          </a:prstGeom>
          <a:solidFill>
            <a:srgbClr val="F2F5F6"/>
          </a:solidFill>
          <a:ln w="15875">
            <a:solidFill>
              <a:srgbClr val="E10514"/>
            </a:solidFill>
          </a:ln>
          <a:effectLst/>
        </p:spPr>
        <p:txBody>
          <a:bodyPr rtlCol="0" anchor="ctr"/>
          <a:lstStyle/>
          <a:p/>
        </p:txBody>
      </p:sp>
      <p:sp>
        <p:nvSpPr>
          <p:cNvPr id="15" name="TextBox 14"/>
          <p:cNvSpPr txBox="1"/>
          <p:nvPr/>
        </p:nvSpPr>
        <p:spPr>
          <a:xfrm>
            <a:off x="4645152" y="1600200"/>
            <a:ext cx="1956815" cy="1371600"/>
          </a:xfrm>
          <a:prstGeom prst="rect">
            <a:avLst/>
          </a:prstGeom>
          <a:noFill/>
        </p:spPr>
        <p:txBody>
          <a:bodyPr wrap="square" anchor="ctr" lIns="0" rIns="0" tIns="0" bIns="0">
            <a:spAutoFit/>
          </a:bodyPr>
          <a:lstStyle/>
          <a:p>
            <a:pPr algn="ctr">
              <a:spcAft>
                <a:spcPts val="200"/>
              </a:spcAft>
            </a:pPr>
            <a:r>
              <a:rPr sz="1400" b="1" i="0">
                <a:solidFill>
                  <a:srgbClr val="1E1E1E"/>
                </a:solidFill>
                <a:latin typeface="Calibri"/>
              </a:rPr>
              <a:t>Azure AI Search</a:t>
            </a:r>
          </a:p>
          <a:p>
            <a:pPr algn="ctr">
              <a:spcAft>
                <a:spcPts val="200"/>
              </a:spcAft>
            </a:pPr>
            <a:r>
              <a:rPr sz="1100" b="0" i="0">
                <a:solidFill>
                  <a:srgbClr val="1E1E1E"/>
                </a:solidFill>
                <a:latin typeface="Calibri"/>
              </a:rPr>
              <a:t>1 · anlamca getir
çözüm · talep · duyuru
vektör + kelime, Türkçe</a:t>
            </a:r>
          </a:p>
        </p:txBody>
      </p:sp>
      <p:sp>
        <p:nvSpPr>
          <p:cNvPr id="16" name="Rounded Rectangle 15"/>
          <p:cNvSpPr/>
          <p:nvPr/>
        </p:nvSpPr>
        <p:spPr>
          <a:xfrm>
            <a:off x="4572000" y="3154680"/>
            <a:ext cx="2103120" cy="1325880"/>
          </a:xfrm>
          <a:prstGeom prst="roundRect">
            <a:avLst>
              <a:gd name="adj" fmla="val 6000"/>
            </a:avLst>
          </a:prstGeom>
          <a:solidFill>
            <a:srgbClr val="F2F5F6"/>
          </a:solidFill>
          <a:ln w="15875">
            <a:solidFill>
              <a:srgbClr val="B4BEC3"/>
            </a:solidFill>
          </a:ln>
          <a:effectLst/>
        </p:spPr>
        <p:txBody>
          <a:bodyPr rtlCol="0" anchor="ctr"/>
          <a:lstStyle/>
          <a:p/>
        </p:txBody>
      </p:sp>
      <p:sp>
        <p:nvSpPr>
          <p:cNvPr id="17" name="TextBox 16"/>
          <p:cNvSpPr txBox="1"/>
          <p:nvPr/>
        </p:nvSpPr>
        <p:spPr>
          <a:xfrm>
            <a:off x="4645152" y="3200400"/>
            <a:ext cx="1956815" cy="1234439"/>
          </a:xfrm>
          <a:prstGeom prst="rect">
            <a:avLst/>
          </a:prstGeom>
          <a:noFill/>
        </p:spPr>
        <p:txBody>
          <a:bodyPr wrap="square" anchor="ctr" lIns="0" rIns="0" tIns="0" bIns="0">
            <a:spAutoFit/>
          </a:bodyPr>
          <a:lstStyle/>
          <a:p>
            <a:pPr algn="ctr">
              <a:spcAft>
                <a:spcPts val="200"/>
              </a:spcAft>
            </a:pPr>
            <a:r>
              <a:rPr sz="1400" b="1" i="0">
                <a:solidFill>
                  <a:srgbClr val="1E1E1E"/>
                </a:solidFill>
                <a:latin typeface="Calibri"/>
              </a:rPr>
              <a:t>Azure SQL</a:t>
            </a:r>
          </a:p>
          <a:p>
            <a:pPr algn="ctr">
              <a:spcAft>
                <a:spcPts val="200"/>
              </a:spcAft>
            </a:pPr>
            <a:r>
              <a:rPr sz="1100" b="0" i="0">
                <a:solidFill>
                  <a:srgbClr val="1E1E1E"/>
                </a:solidFill>
                <a:latin typeface="Calibri"/>
              </a:rPr>
              <a:t>1 · rakamı getir
log · çağrı · portföy · takvim
parametreli sorgu</a:t>
            </a:r>
          </a:p>
        </p:txBody>
      </p:sp>
      <p:sp>
        <p:nvSpPr>
          <p:cNvPr id="18" name="Rounded Rectangle 17"/>
          <p:cNvSpPr/>
          <p:nvPr/>
        </p:nvSpPr>
        <p:spPr>
          <a:xfrm>
            <a:off x="6903720" y="1554480"/>
            <a:ext cx="1143000" cy="2926080"/>
          </a:xfrm>
          <a:prstGeom prst="roundRect">
            <a:avLst>
              <a:gd name="adj" fmla="val 6000"/>
            </a:avLst>
          </a:prstGeom>
          <a:solidFill>
            <a:srgbClr val="E10514"/>
          </a:solidFill>
          <a:ln>
            <a:noFill/>
          </a:ln>
          <a:effectLst/>
        </p:spPr>
        <p:txBody>
          <a:bodyPr rtlCol="0" anchor="ctr"/>
          <a:lstStyle/>
          <a:p/>
        </p:txBody>
      </p:sp>
      <p:sp>
        <p:nvSpPr>
          <p:cNvPr id="19" name="TextBox 18"/>
          <p:cNvSpPr txBox="1"/>
          <p:nvPr/>
        </p:nvSpPr>
        <p:spPr>
          <a:xfrm>
            <a:off x="6976872" y="1600200"/>
            <a:ext cx="996696" cy="2834640"/>
          </a:xfrm>
          <a:prstGeom prst="rect">
            <a:avLst/>
          </a:prstGeom>
          <a:noFill/>
        </p:spPr>
        <p:txBody>
          <a:bodyPr wrap="square" anchor="ctr" lIns="0" rIns="0" tIns="0" bIns="0">
            <a:spAutoFit/>
          </a:bodyPr>
          <a:lstStyle/>
          <a:p>
            <a:pPr algn="ctr">
              <a:spcAft>
                <a:spcPts val="200"/>
              </a:spcAft>
            </a:pPr>
            <a:r>
              <a:rPr sz="1300" b="1" i="0">
                <a:solidFill>
                  <a:srgbClr val="FFFFFF"/>
                </a:solidFill>
                <a:latin typeface="Calibri"/>
              </a:rPr>
              <a:t>Azure AI Foundry</a:t>
            </a:r>
          </a:p>
          <a:p>
            <a:pPr algn="ctr">
              <a:spcAft>
                <a:spcPts val="200"/>
              </a:spcAft>
            </a:pPr>
            <a:r>
              <a:rPr sz="1100" b="0" i="0">
                <a:solidFill>
                  <a:srgbClr val="FFFFFF"/>
                </a:solidFill>
                <a:latin typeface="Calibri"/>
              </a:rPr>
              <a:t>2 · bağlam
3 · chat ile üret
embedding → indeks</a:t>
            </a:r>
          </a:p>
        </p:txBody>
      </p:sp>
      <p:sp>
        <p:nvSpPr>
          <p:cNvPr id="20" name="TextBox 19"/>
          <p:cNvSpPr txBox="1"/>
          <p:nvPr/>
        </p:nvSpPr>
        <p:spPr>
          <a:xfrm>
            <a:off x="4572000" y="4572000"/>
            <a:ext cx="3474720" cy="822960"/>
          </a:xfrm>
          <a:prstGeom prst="rect">
            <a:avLst/>
          </a:prstGeom>
          <a:noFill/>
        </p:spPr>
        <p:txBody>
          <a:bodyPr wrap="square" anchor="ctr" lIns="0" rIns="0" tIns="0" bIns="0">
            <a:spAutoFit/>
          </a:bodyPr>
          <a:lstStyle/>
          <a:p>
            <a:pPr algn="l">
              <a:spcAft>
                <a:spcPts val="400"/>
              </a:spcAft>
            </a:pPr>
            <a:r>
              <a:rPr sz="1100" b="0" i="0">
                <a:solidFill>
                  <a:srgbClr val="1E1E1E"/>
                </a:solidFill>
                <a:latin typeface="Calibri"/>
              </a:rPr>
              <a:t>Benzeri AI Search bulur, rakamı SQL verir; model yalnızca bu kaynaklı bağlamla yazar ve her cevapta kaynak no'su gösterir.</a:t>
            </a:r>
          </a:p>
        </p:txBody>
      </p:sp>
      <p:cxnSp>
        <p:nvCxnSpPr>
          <p:cNvPr id="21" name="Connector 20"/>
          <p:cNvCxnSpPr/>
          <p:nvPr/>
        </p:nvCxnSpPr>
        <p:spPr>
          <a:xfrm flipV="1">
            <a:off x="1874519" y="2057400"/>
            <a:ext cx="228601" cy="68580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54680" y="2834640"/>
            <a:ext cx="0" cy="96012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06240" y="2286000"/>
            <a:ext cx="365760" cy="201168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206240" y="3813048"/>
            <a:ext cx="365760" cy="7589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75120" y="2286000"/>
            <a:ext cx="228600" cy="365760"/>
          </a:xfrm>
          <a:prstGeom prst="line">
            <a:avLst/>
          </a:prstGeom>
          <a:ln w="22225">
            <a:solidFill>
              <a:srgbClr val="E10514"/>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675120" y="3383280"/>
            <a:ext cx="228600" cy="429768"/>
          </a:xfrm>
          <a:prstGeom prst="line">
            <a:avLst/>
          </a:prstGeom>
          <a:ln w="22225">
            <a:solidFill>
              <a:srgbClr val="E10514"/>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11480" y="5577840"/>
            <a:ext cx="7635240" cy="594360"/>
          </a:xfrm>
          <a:prstGeom prst="roundRect">
            <a:avLst>
              <a:gd name="adj" fmla="val 6000"/>
            </a:avLst>
          </a:prstGeom>
          <a:solidFill>
            <a:srgbClr val="F2F5F6"/>
          </a:solidFill>
          <a:ln>
            <a:noFill/>
          </a:ln>
          <a:effectLst/>
        </p:spPr>
        <p:txBody>
          <a:bodyPr rtlCol="0" anchor="ctr"/>
          <a:lstStyle/>
          <a:p/>
        </p:txBody>
      </p:sp>
      <p:pic>
        <p:nvPicPr>
          <p:cNvPr id="28" name="Picture 27" descr="github-g.png"/>
          <p:cNvPicPr>
            <a:picLocks noChangeAspect="1"/>
          </p:cNvPicPr>
          <p:nvPr/>
        </p:nvPicPr>
        <p:blipFill>
          <a:blip r:embed="rId3"/>
          <a:stretch>
            <a:fillRect/>
          </a:stretch>
        </p:blipFill>
        <p:spPr>
          <a:xfrm>
            <a:off x="548640" y="5687568"/>
            <a:ext cx="384048" cy="384048"/>
          </a:xfrm>
          <a:prstGeom prst="rect">
            <a:avLst/>
          </a:prstGeom>
        </p:spPr>
      </p:pic>
      <p:sp>
        <p:nvSpPr>
          <p:cNvPr id="29" name="TextBox 28"/>
          <p:cNvSpPr txBox="1"/>
          <p:nvPr/>
        </p:nvSpPr>
        <p:spPr>
          <a:xfrm>
            <a:off x="1051560" y="5577840"/>
            <a:ext cx="6949440" cy="594360"/>
          </a:xfrm>
          <a:prstGeom prst="rect">
            <a:avLst/>
          </a:prstGeom>
          <a:noFill/>
        </p:spPr>
        <p:txBody>
          <a:bodyPr wrap="square" anchor="ctr" lIns="0" rIns="0" tIns="0" bIns="0">
            <a:spAutoFit/>
          </a:bodyPr>
          <a:lstStyle/>
          <a:p>
            <a:pPr algn="l">
              <a:spcAft>
                <a:spcPts val="400"/>
              </a:spcAft>
            </a:pPr>
            <a:r>
              <a:rPr sz="1200" b="1" i="0">
                <a:solidFill>
                  <a:srgbClr val="1E1E1E"/>
                </a:solidFill>
                <a:latin typeface="Calibri"/>
              </a:rPr>
              <a:t>GitHub Actions: </a:t>
            </a:r>
            <a:r>
              <a:rPr sz="1200" b="0" i="0">
                <a:solidFill>
                  <a:srgbClr val="1E1E1E"/>
                </a:solidFill>
                <a:latin typeface="Calibri"/>
              </a:rPr>
              <a:t>lint · test · audit · gitleaks → build → 2 deploy → smoke test    </a:t>
            </a:r>
            <a:r>
              <a:rPr sz="1200" b="1" i="0">
                <a:solidFill>
                  <a:srgbClr val="1E1E1E"/>
                </a:solidFill>
                <a:latin typeface="Calibri"/>
              </a:rPr>
              <a:t>GHAS: </a:t>
            </a:r>
            <a:r>
              <a:rPr sz="1200" b="0" i="0">
                <a:solidFill>
                  <a:srgbClr val="1E1E1E"/>
                </a:solidFill>
                <a:latin typeface="Calibri"/>
              </a:rPr>
              <a:t>CodeQL · Dependabot · secret scanning</a:t>
            </a:r>
          </a:p>
        </p:txBody>
      </p:sp>
      <p:sp>
        <p:nvSpPr>
          <p:cNvPr id="30" name="Rounded Rectangle 29"/>
          <p:cNvSpPr/>
          <p:nvPr/>
        </p:nvSpPr>
        <p:spPr>
          <a:xfrm>
            <a:off x="8366760" y="1234440"/>
            <a:ext cx="3429000" cy="2331720"/>
          </a:xfrm>
          <a:prstGeom prst="roundRect">
            <a:avLst>
              <a:gd name="adj" fmla="val 6000"/>
            </a:avLst>
          </a:prstGeom>
          <a:solidFill>
            <a:srgbClr val="E10514"/>
          </a:solidFill>
          <a:ln>
            <a:noFill/>
          </a:ln>
          <a:effectLst/>
        </p:spPr>
        <p:txBody>
          <a:bodyPr rtlCol="0" anchor="ctr"/>
          <a:lstStyle/>
          <a:p/>
        </p:txBody>
      </p:sp>
      <p:sp>
        <p:nvSpPr>
          <p:cNvPr id="31" name="TextBox 30"/>
          <p:cNvSpPr txBox="1"/>
          <p:nvPr/>
        </p:nvSpPr>
        <p:spPr>
          <a:xfrm>
            <a:off x="8549640" y="1325880"/>
            <a:ext cx="3108960" cy="219456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AI ne yapar (Foundry)</a:t>
            </a:r>
          </a:p>
          <a:p>
            <a:pPr algn="l">
              <a:spcAft>
                <a:spcPts val="300"/>
              </a:spcAft>
            </a:pPr>
            <a:r>
              <a:rPr sz="1400" b="0" i="0">
                <a:solidFill>
                  <a:srgbClr val="FFFFFF"/>
                </a:solidFill>
                <a:latin typeface="Calibri"/>
              </a:rPr>
              <a:t>Metinden bilgi çıkarma, açıklama</a:t>
            </a:r>
          </a:p>
          <a:p>
            <a:pPr algn="l">
              <a:spcAft>
                <a:spcPts val="300"/>
              </a:spcAft>
            </a:pPr>
            <a:r>
              <a:rPr sz="1400" b="0" i="0">
                <a:solidFill>
                  <a:srgbClr val="FFFFFF"/>
                </a:solidFill>
                <a:latin typeface="Calibri"/>
              </a:rPr>
              <a:t>Çağrı zenginleştirme</a:t>
            </a:r>
          </a:p>
          <a:p>
            <a:pPr algn="l">
              <a:spcAft>
                <a:spcPts val="300"/>
              </a:spcAft>
            </a:pPr>
            <a:r>
              <a:rPr sz="1400" b="0" i="0">
                <a:solidFill>
                  <a:srgbClr val="FFFFFF"/>
                </a:solidFill>
                <a:latin typeface="Calibri"/>
              </a:rPr>
              <a:t>Çözüm uyarlama</a:t>
            </a:r>
          </a:p>
          <a:p>
            <a:pPr algn="l">
              <a:spcAft>
                <a:spcPts val="300"/>
              </a:spcAft>
            </a:pPr>
            <a:r>
              <a:rPr sz="1400" b="0" i="0">
                <a:solidFill>
                  <a:srgbClr val="FFFFFF"/>
                </a:solidFill>
                <a:latin typeface="Calibri"/>
              </a:rPr>
              <a:t>Kod analizi</a:t>
            </a:r>
          </a:p>
          <a:p>
            <a:pPr algn="l">
              <a:spcAft>
                <a:spcPts val="300"/>
              </a:spcAft>
            </a:pPr>
            <a:r>
              <a:rPr sz="1400" b="0" i="0">
                <a:solidFill>
                  <a:srgbClr val="FFFFFF"/>
                </a:solidFill>
                <a:latin typeface="Calibri"/>
              </a:rPr>
              <a:t>Talep bileşenleri ve sorular</a:t>
            </a:r>
          </a:p>
        </p:txBody>
      </p:sp>
      <p:sp>
        <p:nvSpPr>
          <p:cNvPr id="32" name="Rounded Rectangle 31"/>
          <p:cNvSpPr/>
          <p:nvPr/>
        </p:nvSpPr>
        <p:spPr>
          <a:xfrm>
            <a:off x="8366760" y="3749039"/>
            <a:ext cx="3429000" cy="2423160"/>
          </a:xfrm>
          <a:prstGeom prst="roundRect">
            <a:avLst>
              <a:gd name="adj" fmla="val 6000"/>
            </a:avLst>
          </a:prstGeom>
          <a:solidFill>
            <a:srgbClr val="91969B"/>
          </a:solidFill>
          <a:ln>
            <a:noFill/>
          </a:ln>
          <a:effectLst/>
        </p:spPr>
        <p:txBody>
          <a:bodyPr rtlCol="0" anchor="ctr"/>
          <a:lstStyle/>
          <a:p/>
        </p:txBody>
      </p:sp>
      <p:sp>
        <p:nvSpPr>
          <p:cNvPr id="33" name="TextBox 32"/>
          <p:cNvSpPr txBox="1"/>
          <p:nvPr/>
        </p:nvSpPr>
        <p:spPr>
          <a:xfrm>
            <a:off x="8549640" y="3840480"/>
            <a:ext cx="3108960" cy="228600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Kod ne yapar (kurallar)</a:t>
            </a:r>
          </a:p>
          <a:p>
            <a:pPr algn="l">
              <a:spcAft>
                <a:spcPts val="300"/>
              </a:spcAft>
            </a:pPr>
            <a:r>
              <a:rPr sz="1400" b="0" i="0">
                <a:solidFill>
                  <a:srgbClr val="FFFFFF"/>
                </a:solidFill>
                <a:latin typeface="Calibri"/>
              </a:rPr>
              <a:t>Log örüntüsü, kredi hesabı</a:t>
            </a:r>
          </a:p>
          <a:p>
            <a:pPr algn="l">
              <a:spcAft>
                <a:spcPts val="300"/>
              </a:spcAft>
            </a:pPr>
            <a:r>
              <a:rPr sz="1400" b="0" i="0">
                <a:solidFill>
                  <a:srgbClr val="FFFFFF"/>
                </a:solidFill>
                <a:latin typeface="Calibri"/>
              </a:rPr>
              <a:t>Eşik, servis ataması, ana kayıt</a:t>
            </a:r>
          </a:p>
          <a:p>
            <a:pPr algn="l">
              <a:spcAft>
                <a:spcPts val="300"/>
              </a:spcAft>
            </a:pPr>
            <a:r>
              <a:rPr sz="1400" b="0" i="0">
                <a:solidFill>
                  <a:srgbClr val="FFFFFF"/>
                </a:solidFill>
                <a:latin typeface="Calibri"/>
              </a:rPr>
              <a:t>Adam-gün medyanı, takvim</a:t>
            </a:r>
          </a:p>
          <a:p>
            <a:pPr algn="l">
              <a:spcAft>
                <a:spcPts val="300"/>
              </a:spcAft>
            </a:pPr>
            <a:r>
              <a:rPr sz="1400" b="0" i="0">
                <a:solidFill>
                  <a:srgbClr val="FFFFFF"/>
                </a:solidFill>
                <a:latin typeface="Calibri"/>
              </a:rPr>
              <a:t>Köprü sayıları</a:t>
            </a:r>
          </a:p>
          <a:p>
            <a:pPr algn="l">
              <a:spcAft>
                <a:spcPts val="300"/>
              </a:spcAft>
            </a:pPr>
            <a:r>
              <a:rPr sz="1400" b="0" i="0">
                <a:solidFill>
                  <a:srgbClr val="FFFFFF"/>
                </a:solidFill>
                <a:latin typeface="Calibri"/>
              </a:rPr>
              <a:t>AI çıktısındaki sayı ve satırları doğrulama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Altı Kullanım Senaryosu</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7</a:t>
            </a:r>
          </a:p>
        </p:txBody>
      </p:sp>
      <p:sp>
        <p:nvSpPr>
          <p:cNvPr id="6" name="Rounded Rectangle 5"/>
          <p:cNvSpPr/>
          <p:nvPr/>
        </p:nvSpPr>
        <p:spPr>
          <a:xfrm>
            <a:off x="411480" y="1097280"/>
            <a:ext cx="3611880" cy="237744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640080" y="1325880"/>
            <a:ext cx="566928" cy="566928"/>
          </a:xfrm>
          <a:prstGeom prst="ellipse">
            <a:avLst/>
          </a:prstGeom>
          <a:solidFill>
            <a:srgbClr val="E10514"/>
          </a:solidFill>
          <a:ln>
            <a:noFill/>
          </a:ln>
          <a:effectLst/>
        </p:spPr>
        <p:txBody>
          <a:bodyPr rtlCol="0" anchor="ctr"/>
          <a:lstStyle/>
          <a:p/>
        </p:txBody>
      </p:sp>
      <p:sp>
        <p:nvSpPr>
          <p:cNvPr id="8" name="TextBox 7"/>
          <p:cNvSpPr txBox="1"/>
          <p:nvPr/>
        </p:nvSpPr>
        <p:spPr>
          <a:xfrm>
            <a:off x="64008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A</a:t>
            </a:r>
          </a:p>
        </p:txBody>
      </p:sp>
      <p:sp>
        <p:nvSpPr>
          <p:cNvPr id="9" name="TextBox 8"/>
          <p:cNvSpPr txBox="1"/>
          <p:nvPr/>
        </p:nvSpPr>
        <p:spPr>
          <a:xfrm>
            <a:off x="134416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Hata mı, kural mı?</a:t>
            </a:r>
          </a:p>
          <a:p>
            <a:pPr algn="l">
              <a:spcAft>
                <a:spcPts val="100"/>
              </a:spcAft>
            </a:pPr>
            <a:r>
              <a:rPr sz="1200" b="0" i="0">
                <a:solidFill>
                  <a:srgbClr val="91969B"/>
                </a:solidFill>
                <a:latin typeface="Calibri"/>
              </a:rPr>
              <a:t>KRDTKULL · Elif (şube)</a:t>
            </a:r>
          </a:p>
        </p:txBody>
      </p:sp>
      <p:sp>
        <p:nvSpPr>
          <p:cNvPr id="10" name="TextBox 9"/>
          <p:cNvSpPr txBox="1"/>
          <p:nvPr/>
        </p:nvSpPr>
        <p:spPr>
          <a:xfrm>
            <a:off x="64008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İş kuralı açıklandı, uygun tutar ekrana dolduruldu</a:t>
            </a:r>
          </a:p>
        </p:txBody>
      </p:sp>
      <p:sp>
        <p:nvSpPr>
          <p:cNvPr id="11" name="TextBox 10"/>
          <p:cNvSpPr txBox="1"/>
          <p:nvPr/>
        </p:nvSpPr>
        <p:spPr>
          <a:xfrm>
            <a:off x="64008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Çağrı açılmadı</a:t>
            </a:r>
          </a:p>
        </p:txBody>
      </p:sp>
      <p:sp>
        <p:nvSpPr>
          <p:cNvPr id="12" name="Rounded Rectangle 11"/>
          <p:cNvSpPr/>
          <p:nvPr/>
        </p:nvSpPr>
        <p:spPr>
          <a:xfrm>
            <a:off x="2834640" y="2862072"/>
            <a:ext cx="1005840" cy="347472"/>
          </a:xfrm>
          <a:prstGeom prst="roundRect">
            <a:avLst>
              <a:gd name="adj" fmla="val 50000"/>
            </a:avLst>
          </a:prstGeom>
          <a:solidFill>
            <a:srgbClr val="E10514"/>
          </a:solidFill>
          <a:ln>
            <a:noFill/>
          </a:ln>
          <a:effectLst/>
        </p:spPr>
        <p:txBody>
          <a:bodyPr rtlCol="0" anchor="ctr"/>
          <a:lstStyle/>
          <a:p/>
        </p:txBody>
      </p:sp>
      <p:sp>
        <p:nvSpPr>
          <p:cNvPr id="13" name="TextBox 12"/>
          <p:cNvSpPr txBox="1"/>
          <p:nvPr/>
        </p:nvSpPr>
        <p:spPr>
          <a:xfrm>
            <a:off x="283464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14" name="Rounded Rectangle 13"/>
          <p:cNvSpPr/>
          <p:nvPr/>
        </p:nvSpPr>
        <p:spPr>
          <a:xfrm>
            <a:off x="4251960" y="1097280"/>
            <a:ext cx="3611880" cy="237744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4480560" y="1325880"/>
            <a:ext cx="566928" cy="566928"/>
          </a:xfrm>
          <a:prstGeom prst="ellipse">
            <a:avLst/>
          </a:prstGeom>
          <a:solidFill>
            <a:srgbClr val="E10514"/>
          </a:solidFill>
          <a:ln>
            <a:noFill/>
          </a:ln>
          <a:effectLst/>
        </p:spPr>
        <p:txBody>
          <a:bodyPr rtlCol="0" anchor="ctr"/>
          <a:lstStyle/>
          <a:p/>
        </p:txBody>
      </p:sp>
      <p:sp>
        <p:nvSpPr>
          <p:cNvPr id="16" name="TextBox 15"/>
          <p:cNvSpPr txBox="1"/>
          <p:nvPr/>
        </p:nvSpPr>
        <p:spPr>
          <a:xfrm>
            <a:off x="448056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B</a:t>
            </a:r>
          </a:p>
        </p:txBody>
      </p:sp>
      <p:sp>
        <p:nvSpPr>
          <p:cNvPr id="17" name="TextBox 16"/>
          <p:cNvSpPr txBox="1"/>
          <p:nvPr/>
        </p:nvSpPr>
        <p:spPr>
          <a:xfrm>
            <a:off x="518464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Yaygın sorun, bilinen çözüm</a:t>
            </a:r>
          </a:p>
          <a:p>
            <a:pPr algn="l">
              <a:spcAft>
                <a:spcPts val="100"/>
              </a:spcAft>
            </a:pPr>
            <a:r>
              <a:rPr sz="1200" b="0" i="0">
                <a:solidFill>
                  <a:srgbClr val="91969B"/>
                </a:solidFill>
                <a:latin typeface="Calibri"/>
              </a:rPr>
              <a:t>ODMTFATR · Mehmet → Zeynep → Kerem</a:t>
            </a:r>
          </a:p>
        </p:txBody>
      </p:sp>
      <p:sp>
        <p:nvSpPr>
          <p:cNvPr id="18" name="TextBox 17"/>
          <p:cNvSpPr txBox="1"/>
          <p:nvPr/>
        </p:nvSpPr>
        <p:spPr>
          <a:xfrm>
            <a:off x="448056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Müşteriye hazır açıklama, %93 eşleşen çözüm</a:t>
            </a:r>
          </a:p>
        </p:txBody>
      </p:sp>
      <p:sp>
        <p:nvSpPr>
          <p:cNvPr id="19" name="TextBox 18"/>
          <p:cNvSpPr txBox="1"/>
          <p:nvPr/>
        </p:nvSpPr>
        <p:spPr>
          <a:xfrm>
            <a:off x="448056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Onlarca arama tek kayıtta</a:t>
            </a:r>
          </a:p>
        </p:txBody>
      </p:sp>
      <p:sp>
        <p:nvSpPr>
          <p:cNvPr id="20" name="Rounded Rectangle 19"/>
          <p:cNvSpPr/>
          <p:nvPr/>
        </p:nvSpPr>
        <p:spPr>
          <a:xfrm>
            <a:off x="6675120" y="2862072"/>
            <a:ext cx="1005840" cy="347472"/>
          </a:xfrm>
          <a:prstGeom prst="roundRect">
            <a:avLst>
              <a:gd name="adj" fmla="val 50000"/>
            </a:avLst>
          </a:prstGeom>
          <a:solidFill>
            <a:srgbClr val="E10514"/>
          </a:solidFill>
          <a:ln>
            <a:noFill/>
          </a:ln>
          <a:effectLst/>
        </p:spPr>
        <p:txBody>
          <a:bodyPr rtlCol="0" anchor="ctr"/>
          <a:lstStyle/>
          <a:p/>
        </p:txBody>
      </p:sp>
      <p:sp>
        <p:nvSpPr>
          <p:cNvPr id="21" name="TextBox 20"/>
          <p:cNvSpPr txBox="1"/>
          <p:nvPr/>
        </p:nvSpPr>
        <p:spPr>
          <a:xfrm>
            <a:off x="667512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22" name="Rounded Rectangle 21"/>
          <p:cNvSpPr/>
          <p:nvPr/>
        </p:nvSpPr>
        <p:spPr>
          <a:xfrm>
            <a:off x="8092440" y="1097280"/>
            <a:ext cx="3611880" cy="237744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8321040" y="1325880"/>
            <a:ext cx="566928" cy="566928"/>
          </a:xfrm>
          <a:prstGeom prst="ellipse">
            <a:avLst/>
          </a:prstGeom>
          <a:solidFill>
            <a:srgbClr val="E10514"/>
          </a:solidFill>
          <a:ln>
            <a:noFill/>
          </a:ln>
          <a:effectLst/>
        </p:spPr>
        <p:txBody>
          <a:bodyPr rtlCol="0" anchor="ctr"/>
          <a:lstStyle/>
          <a:p/>
        </p:txBody>
      </p:sp>
      <p:sp>
        <p:nvSpPr>
          <p:cNvPr id="24" name="TextBox 23"/>
          <p:cNvSpPr txBox="1"/>
          <p:nvPr/>
        </p:nvSpPr>
        <p:spPr>
          <a:xfrm>
            <a:off x="832104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C</a:t>
            </a:r>
          </a:p>
        </p:txBody>
      </p:sp>
      <p:sp>
        <p:nvSpPr>
          <p:cNvPr id="25" name="TextBox 24"/>
          <p:cNvSpPr txBox="1"/>
          <p:nvPr/>
        </p:nvSpPr>
        <p:spPr>
          <a:xfrm>
            <a:off x="902512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Dış dünya değişti</a:t>
            </a:r>
          </a:p>
          <a:p>
            <a:pPr algn="l">
              <a:spcAft>
                <a:spcPts val="100"/>
              </a:spcAft>
            </a:pPr>
            <a:r>
              <a:rPr sz="1200" b="0" i="0">
                <a:solidFill>
                  <a:srgbClr val="91969B"/>
                </a:solidFill>
                <a:latin typeface="Calibri"/>
              </a:rPr>
              <a:t>ODMTFATR · Elif → Kerem</a:t>
            </a:r>
          </a:p>
        </p:txBody>
      </p:sp>
      <p:sp>
        <p:nvSpPr>
          <p:cNvPr id="26" name="TextBox 25"/>
          <p:cNvSpPr txBox="1"/>
          <p:nvPr/>
        </p:nvSpPr>
        <p:spPr>
          <a:xfrm>
            <a:off x="832104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Log + kurum duyurusu + kod; düzeltme önerisi</a:t>
            </a:r>
          </a:p>
        </p:txBody>
      </p:sp>
      <p:sp>
        <p:nvSpPr>
          <p:cNvPr id="27" name="TextBox 26"/>
          <p:cNvSpPr txBox="1"/>
          <p:nvPr/>
        </p:nvSpPr>
        <p:spPr>
          <a:xfrm>
            <a:off x="832104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187 müşteri · ASKİ önceden</a:t>
            </a:r>
          </a:p>
        </p:txBody>
      </p:sp>
      <p:sp>
        <p:nvSpPr>
          <p:cNvPr id="28" name="Rounded Rectangle 27"/>
          <p:cNvSpPr/>
          <p:nvPr/>
        </p:nvSpPr>
        <p:spPr>
          <a:xfrm>
            <a:off x="10515600" y="2862072"/>
            <a:ext cx="1005840" cy="347472"/>
          </a:xfrm>
          <a:prstGeom prst="roundRect">
            <a:avLst>
              <a:gd name="adj" fmla="val 50000"/>
            </a:avLst>
          </a:prstGeom>
          <a:solidFill>
            <a:srgbClr val="E10514"/>
          </a:solidFill>
          <a:ln>
            <a:noFill/>
          </a:ln>
          <a:effectLst/>
        </p:spPr>
        <p:txBody>
          <a:bodyPr rtlCol="0" anchor="ctr"/>
          <a:lstStyle/>
          <a:p/>
        </p:txBody>
      </p:sp>
      <p:sp>
        <p:nvSpPr>
          <p:cNvPr id="29" name="TextBox 28"/>
          <p:cNvSpPr txBox="1"/>
          <p:nvPr/>
        </p:nvSpPr>
        <p:spPr>
          <a:xfrm>
            <a:off x="1051560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0" name="Rounded Rectangle 29"/>
          <p:cNvSpPr/>
          <p:nvPr/>
        </p:nvSpPr>
        <p:spPr>
          <a:xfrm>
            <a:off x="411480" y="3657600"/>
            <a:ext cx="3611880" cy="2377440"/>
          </a:xfrm>
          <a:prstGeom prst="roundRect">
            <a:avLst>
              <a:gd name="adj" fmla="val 6000"/>
            </a:avLst>
          </a:prstGeom>
          <a:solidFill>
            <a:srgbClr val="F2F5F6"/>
          </a:solidFill>
          <a:ln>
            <a:noFill/>
          </a:ln>
          <a:effectLst/>
        </p:spPr>
        <p:txBody>
          <a:bodyPr rtlCol="0" anchor="ctr"/>
          <a:lstStyle/>
          <a:p/>
        </p:txBody>
      </p:sp>
      <p:sp>
        <p:nvSpPr>
          <p:cNvPr id="31" name="Oval 30"/>
          <p:cNvSpPr/>
          <p:nvPr/>
        </p:nvSpPr>
        <p:spPr>
          <a:xfrm>
            <a:off x="640080" y="3886200"/>
            <a:ext cx="566928" cy="566928"/>
          </a:xfrm>
          <a:prstGeom prst="ellipse">
            <a:avLst/>
          </a:prstGeom>
          <a:solidFill>
            <a:srgbClr val="E10514"/>
          </a:solidFill>
          <a:ln>
            <a:noFill/>
          </a:ln>
          <a:effectLst/>
        </p:spPr>
        <p:txBody>
          <a:bodyPr rtlCol="0" anchor="ctr"/>
          <a:lstStyle/>
          <a:p/>
        </p:txBody>
      </p:sp>
      <p:sp>
        <p:nvSpPr>
          <p:cNvPr id="32" name="TextBox 31"/>
          <p:cNvSpPr txBox="1"/>
          <p:nvPr/>
        </p:nvSpPr>
        <p:spPr>
          <a:xfrm>
            <a:off x="64008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D</a:t>
            </a:r>
          </a:p>
        </p:txBody>
      </p:sp>
      <p:sp>
        <p:nvSpPr>
          <p:cNvPr id="33" name="TextBox 32"/>
          <p:cNvSpPr txBox="1"/>
          <p:nvPr/>
        </p:nvSpPr>
        <p:spPr>
          <a:xfrm>
            <a:off x="134416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Talepten plana</a:t>
            </a:r>
          </a:p>
          <a:p>
            <a:pPr algn="l">
              <a:spcAft>
                <a:spcPts val="100"/>
              </a:spcAft>
            </a:pPr>
            <a:r>
              <a:rPr sz="1200" b="0" i="0">
                <a:solidFill>
                  <a:srgbClr val="91969B"/>
                </a:solidFill>
                <a:latin typeface="Calibri"/>
              </a:rPr>
              <a:t>Talep Yönlendirme · Fatma → Ayşe</a:t>
            </a:r>
          </a:p>
        </p:txBody>
      </p:sp>
      <p:sp>
        <p:nvSpPr>
          <p:cNvPr id="34" name="TextBox 33"/>
          <p:cNvSpPr txBox="1"/>
          <p:nvPr/>
        </p:nvSpPr>
        <p:spPr>
          <a:xfrm>
            <a:off x="64008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Servis, adam-gün, takvim; veriyle kapsam</a:t>
            </a:r>
          </a:p>
        </p:txBody>
      </p:sp>
      <p:sp>
        <p:nvSpPr>
          <p:cNvPr id="35" name="TextBox 34"/>
          <p:cNvSpPr txBox="1"/>
          <p:nvPr/>
        </p:nvSpPr>
        <p:spPr>
          <a:xfrm>
            <a:off x="640080" y="534924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Erişim %58 → %89 · 20 a/g</a:t>
            </a:r>
          </a:p>
        </p:txBody>
      </p:sp>
      <p:sp>
        <p:nvSpPr>
          <p:cNvPr id="36" name="Rounded Rectangle 35"/>
          <p:cNvSpPr/>
          <p:nvPr/>
        </p:nvSpPr>
        <p:spPr>
          <a:xfrm>
            <a:off x="2834640" y="5422392"/>
            <a:ext cx="1005840" cy="347472"/>
          </a:xfrm>
          <a:prstGeom prst="roundRect">
            <a:avLst>
              <a:gd name="adj" fmla="val 50000"/>
            </a:avLst>
          </a:prstGeom>
          <a:solidFill>
            <a:srgbClr val="E10514"/>
          </a:solidFill>
          <a:ln>
            <a:noFill/>
          </a:ln>
          <a:effectLst/>
        </p:spPr>
        <p:txBody>
          <a:bodyPr rtlCol="0" anchor="ctr"/>
          <a:lstStyle/>
          <a:p/>
        </p:txBody>
      </p:sp>
      <p:sp>
        <p:nvSpPr>
          <p:cNvPr id="37" name="TextBox 36"/>
          <p:cNvSpPr txBox="1"/>
          <p:nvPr/>
        </p:nvSpPr>
        <p:spPr>
          <a:xfrm>
            <a:off x="283464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8" name="Rounded Rectangle 37"/>
          <p:cNvSpPr/>
          <p:nvPr/>
        </p:nvSpPr>
        <p:spPr>
          <a:xfrm>
            <a:off x="4251960" y="3657600"/>
            <a:ext cx="3611880" cy="2377440"/>
          </a:xfrm>
          <a:prstGeom prst="roundRect">
            <a:avLst>
              <a:gd name="adj" fmla="val 6000"/>
            </a:avLst>
          </a:prstGeom>
          <a:solidFill>
            <a:srgbClr val="F2F5F6"/>
          </a:solidFill>
          <a:ln>
            <a:noFill/>
          </a:ln>
          <a:effectLst/>
        </p:spPr>
        <p:txBody>
          <a:bodyPr rtlCol="0" anchor="ctr"/>
          <a:lstStyle/>
          <a:p/>
        </p:txBody>
      </p:sp>
      <p:sp>
        <p:nvSpPr>
          <p:cNvPr id="39" name="Oval 38"/>
          <p:cNvSpPr/>
          <p:nvPr/>
        </p:nvSpPr>
        <p:spPr>
          <a:xfrm>
            <a:off x="4480560" y="3886200"/>
            <a:ext cx="566928" cy="566928"/>
          </a:xfrm>
          <a:prstGeom prst="ellipse">
            <a:avLst/>
          </a:prstGeom>
          <a:solidFill>
            <a:srgbClr val="91969B"/>
          </a:solidFill>
          <a:ln>
            <a:noFill/>
          </a:ln>
          <a:effectLst/>
        </p:spPr>
        <p:txBody>
          <a:bodyPr rtlCol="0" anchor="ctr"/>
          <a:lstStyle/>
          <a:p/>
        </p:txBody>
      </p:sp>
      <p:sp>
        <p:nvSpPr>
          <p:cNvPr id="40" name="TextBox 39"/>
          <p:cNvSpPr txBox="1"/>
          <p:nvPr/>
        </p:nvSpPr>
        <p:spPr>
          <a:xfrm>
            <a:off x="448056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E</a:t>
            </a:r>
          </a:p>
        </p:txBody>
      </p:sp>
      <p:sp>
        <p:nvSpPr>
          <p:cNvPr id="41" name="TextBox 40"/>
          <p:cNvSpPr txBox="1"/>
          <p:nvPr/>
        </p:nvSpPr>
        <p:spPr>
          <a:xfrm>
            <a:off x="518464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Acil yeni ekran</a:t>
            </a:r>
          </a:p>
          <a:p>
            <a:pPr algn="l">
              <a:spcAft>
                <a:spcPts val="100"/>
              </a:spcAft>
            </a:pPr>
            <a:r>
              <a:rPr sz="1200" b="0" i="0">
                <a:solidFill>
                  <a:srgbClr val="91969B"/>
                </a:solidFill>
                <a:latin typeface="Calibri"/>
              </a:rPr>
              <a:t>KRDTERTL (yeni) · Hakan → Ayşe</a:t>
            </a:r>
          </a:p>
        </p:txBody>
      </p:sp>
      <p:sp>
        <p:nvSpPr>
          <p:cNvPr id="42" name="TextBox 41"/>
          <p:cNvSpPr txBox="1"/>
          <p:nvPr/>
        </p:nvSpPr>
        <p:spPr>
          <a:xfrm>
            <a:off x="448056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Etkilenen müşteri, riskli sorular, kapasite çatışması</a:t>
            </a:r>
          </a:p>
        </p:txBody>
      </p:sp>
      <p:sp>
        <p:nvSpPr>
          <p:cNvPr id="43" name="TextBox 42"/>
          <p:cNvSpPr txBox="1"/>
          <p:nvPr/>
        </p:nvSpPr>
        <p:spPr>
          <a:xfrm>
            <a:off x="448056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Aynı gün karar · 17 a/g</a:t>
            </a:r>
          </a:p>
        </p:txBody>
      </p:sp>
      <p:sp>
        <p:nvSpPr>
          <p:cNvPr id="44" name="Rounded Rectangle 43"/>
          <p:cNvSpPr/>
          <p:nvPr/>
        </p:nvSpPr>
        <p:spPr>
          <a:xfrm>
            <a:off x="6675120" y="5422392"/>
            <a:ext cx="1005840" cy="347472"/>
          </a:xfrm>
          <a:prstGeom prst="roundRect">
            <a:avLst>
              <a:gd name="adj" fmla="val 50000"/>
            </a:avLst>
          </a:prstGeom>
          <a:solidFill>
            <a:srgbClr val="91969B"/>
          </a:solidFill>
          <a:ln>
            <a:noFill/>
          </a:ln>
          <a:effectLst/>
        </p:spPr>
        <p:txBody>
          <a:bodyPr rtlCol="0" anchor="ctr"/>
          <a:lstStyle/>
          <a:p/>
        </p:txBody>
      </p:sp>
      <p:sp>
        <p:nvSpPr>
          <p:cNvPr id="45" name="TextBox 44"/>
          <p:cNvSpPr txBox="1"/>
          <p:nvPr/>
        </p:nvSpPr>
        <p:spPr>
          <a:xfrm>
            <a:off x="667512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
        <p:nvSpPr>
          <p:cNvPr id="46" name="Rounded Rectangle 45"/>
          <p:cNvSpPr/>
          <p:nvPr/>
        </p:nvSpPr>
        <p:spPr>
          <a:xfrm>
            <a:off x="8092440" y="3657600"/>
            <a:ext cx="3611880" cy="2377440"/>
          </a:xfrm>
          <a:prstGeom prst="roundRect">
            <a:avLst>
              <a:gd name="adj" fmla="val 6000"/>
            </a:avLst>
          </a:prstGeom>
          <a:solidFill>
            <a:srgbClr val="F2F5F6"/>
          </a:solidFill>
          <a:ln>
            <a:noFill/>
          </a:ln>
          <a:effectLst/>
        </p:spPr>
        <p:txBody>
          <a:bodyPr rtlCol="0" anchor="ctr"/>
          <a:lstStyle/>
          <a:p/>
        </p:txBody>
      </p:sp>
      <p:sp>
        <p:nvSpPr>
          <p:cNvPr id="47" name="Oval 46"/>
          <p:cNvSpPr/>
          <p:nvPr/>
        </p:nvSpPr>
        <p:spPr>
          <a:xfrm>
            <a:off x="8321040" y="3886200"/>
            <a:ext cx="566928" cy="566928"/>
          </a:xfrm>
          <a:prstGeom prst="ellipse">
            <a:avLst/>
          </a:prstGeom>
          <a:solidFill>
            <a:srgbClr val="91969B"/>
          </a:solidFill>
          <a:ln>
            <a:noFill/>
          </a:ln>
          <a:effectLst/>
        </p:spPr>
        <p:txBody>
          <a:bodyPr rtlCol="0" anchor="ctr"/>
          <a:lstStyle/>
          <a:p/>
        </p:txBody>
      </p:sp>
      <p:sp>
        <p:nvSpPr>
          <p:cNvPr id="48" name="TextBox 47"/>
          <p:cNvSpPr txBox="1"/>
          <p:nvPr/>
        </p:nvSpPr>
        <p:spPr>
          <a:xfrm>
            <a:off x="832104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F</a:t>
            </a:r>
          </a:p>
        </p:txBody>
      </p:sp>
      <p:sp>
        <p:nvSpPr>
          <p:cNvPr id="49" name="TextBox 48"/>
          <p:cNvSpPr txBox="1"/>
          <p:nvPr/>
        </p:nvSpPr>
        <p:spPr>
          <a:xfrm>
            <a:off x="902512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Günlük durum özeti</a:t>
            </a:r>
          </a:p>
          <a:p>
            <a:pPr algn="l">
              <a:spcAft>
                <a:spcPts val="100"/>
              </a:spcAft>
            </a:pPr>
            <a:r>
              <a:rPr sz="1200" b="0" i="0">
                <a:solidFill>
                  <a:srgbClr val="91969B"/>
                </a:solidFill>
                <a:latin typeface="Calibri"/>
              </a:rPr>
              <a:t>Mercek sohbet · Kerem</a:t>
            </a:r>
          </a:p>
        </p:txBody>
      </p:sp>
      <p:sp>
        <p:nvSpPr>
          <p:cNvPr id="50" name="TextBox 49"/>
          <p:cNvSpPr txBox="1"/>
          <p:nvPr/>
        </p:nvSpPr>
        <p:spPr>
          <a:xfrm>
            <a:off x="832104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Kibana bilgisi gerektirmeden sohbetle özet</a:t>
            </a:r>
          </a:p>
        </p:txBody>
      </p:sp>
      <p:sp>
        <p:nvSpPr>
          <p:cNvPr id="51" name="TextBox 50"/>
          <p:cNvSpPr txBox="1"/>
          <p:nvPr/>
        </p:nvSpPr>
        <p:spPr>
          <a:xfrm>
            <a:off x="832104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En sorunlu ekran: ODMTFATR</a:t>
            </a:r>
          </a:p>
        </p:txBody>
      </p:sp>
      <p:sp>
        <p:nvSpPr>
          <p:cNvPr id="52" name="Rounded Rectangle 51"/>
          <p:cNvSpPr/>
          <p:nvPr/>
        </p:nvSpPr>
        <p:spPr>
          <a:xfrm>
            <a:off x="10515600" y="5422392"/>
            <a:ext cx="1005840" cy="347472"/>
          </a:xfrm>
          <a:prstGeom prst="roundRect">
            <a:avLst>
              <a:gd name="adj" fmla="val 50000"/>
            </a:avLst>
          </a:prstGeom>
          <a:solidFill>
            <a:srgbClr val="91969B"/>
          </a:solidFill>
          <a:ln>
            <a:noFill/>
          </a:ln>
          <a:effectLst/>
        </p:spPr>
        <p:txBody>
          <a:bodyPr rtlCol="0" anchor="ctr"/>
          <a:lstStyle/>
          <a:p/>
        </p:txBody>
      </p:sp>
      <p:sp>
        <p:nvSpPr>
          <p:cNvPr id="53" name="TextBox 52"/>
          <p:cNvSpPr txBox="1"/>
          <p:nvPr/>
        </p:nvSpPr>
        <p:spPr>
          <a:xfrm>
            <a:off x="1051560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Canlı Demo: Dört Sahne</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8</a:t>
            </a:r>
          </a:p>
        </p:txBody>
      </p:sp>
      <p:sp>
        <p:nvSpPr>
          <p:cNvPr id="6" name="Rounded Rectangle 5"/>
          <p:cNvSpPr/>
          <p:nvPr/>
        </p:nvSpPr>
        <p:spPr>
          <a:xfrm>
            <a:off x="411480" y="1051560"/>
            <a:ext cx="5577840" cy="2377440"/>
          </a:xfrm>
          <a:prstGeom prst="roundRect">
            <a:avLst>
              <a:gd name="adj" fmla="val 6000"/>
            </a:avLst>
          </a:prstGeom>
          <a:solidFill>
            <a:srgbClr val="F2F5F6"/>
          </a:solidFill>
          <a:ln>
            <a:noFill/>
          </a:ln>
          <a:effectLst/>
        </p:spPr>
        <p:txBody>
          <a:bodyPr rtlCol="0" anchor="ctr"/>
          <a:lstStyle/>
          <a:p/>
        </p:txBody>
      </p:sp>
      <p:pic>
        <p:nvPicPr>
          <p:cNvPr id="7" name="Picture 6" descr="m-a-panel.png"/>
          <p:cNvPicPr>
            <a:picLocks noChangeAspect="1"/>
          </p:cNvPicPr>
          <p:nvPr/>
        </p:nvPicPr>
        <p:blipFill>
          <a:blip r:embed="rId3"/>
          <a:stretch>
            <a:fillRect/>
          </a:stretch>
        </p:blipFill>
        <p:spPr>
          <a:xfrm>
            <a:off x="594360" y="1234439"/>
            <a:ext cx="3397032" cy="2011680"/>
          </a:xfrm>
          <a:prstGeom prst="rect">
            <a:avLst/>
          </a:prstGeom>
          <a:ln>
            <a:solidFill>
              <a:srgbClr val="B4BEC3"/>
            </a:solidFill>
          </a:ln>
        </p:spPr>
      </p:pic>
      <p:sp>
        <p:nvSpPr>
          <p:cNvPr id="8" name="Rounded Rectangle 7"/>
          <p:cNvSpPr/>
          <p:nvPr/>
        </p:nvSpPr>
        <p:spPr>
          <a:xfrm>
            <a:off x="4174272" y="1234439"/>
            <a:ext cx="868680" cy="310896"/>
          </a:xfrm>
          <a:prstGeom prst="roundRect">
            <a:avLst>
              <a:gd name="adj" fmla="val 50000"/>
            </a:avLst>
          </a:prstGeom>
          <a:solidFill>
            <a:srgbClr val="E10514"/>
          </a:solidFill>
          <a:ln>
            <a:noFill/>
          </a:ln>
          <a:effectLst/>
        </p:spPr>
        <p:txBody>
          <a:bodyPr rtlCol="0" anchor="ctr"/>
          <a:lstStyle/>
          <a:p/>
        </p:txBody>
      </p:sp>
      <p:sp>
        <p:nvSpPr>
          <p:cNvPr id="9" name="TextBox 8"/>
          <p:cNvSpPr txBox="1"/>
          <p:nvPr/>
        </p:nvSpPr>
        <p:spPr>
          <a:xfrm>
            <a:off x="417427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10" name="TextBox 9"/>
          <p:cNvSpPr txBox="1"/>
          <p:nvPr/>
        </p:nvSpPr>
        <p:spPr>
          <a:xfrm>
            <a:off x="417427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 · Hata mı, kural mı?</a:t>
            </a:r>
          </a:p>
        </p:txBody>
      </p:sp>
      <p:sp>
        <p:nvSpPr>
          <p:cNvPr id="11" name="TextBox 10"/>
          <p:cNvSpPr txBox="1"/>
          <p:nvPr/>
        </p:nvSpPr>
        <p:spPr>
          <a:xfrm>
            <a:off x="417427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Elif yazmadan Mercek iş kuralını açıklıyor, 'Bana göster' ile 330.000 TL / 36 ay dolduruluyor. Çağrı açılmıyor.</a:t>
            </a:r>
          </a:p>
        </p:txBody>
      </p:sp>
      <p:sp>
        <p:nvSpPr>
          <p:cNvPr id="12" name="Rounded Rectangle 11"/>
          <p:cNvSpPr/>
          <p:nvPr/>
        </p:nvSpPr>
        <p:spPr>
          <a:xfrm>
            <a:off x="6172200" y="1051560"/>
            <a:ext cx="5577840" cy="2377440"/>
          </a:xfrm>
          <a:prstGeom prst="roundRect">
            <a:avLst>
              <a:gd name="adj" fmla="val 6000"/>
            </a:avLst>
          </a:prstGeom>
          <a:solidFill>
            <a:srgbClr val="F2F5F6"/>
          </a:solidFill>
          <a:ln>
            <a:noFill/>
          </a:ln>
          <a:effectLst/>
        </p:spPr>
        <p:txBody>
          <a:bodyPr rtlCol="0" anchor="ctr"/>
          <a:lstStyle/>
          <a:p/>
        </p:txBody>
      </p:sp>
      <p:pic>
        <p:nvPicPr>
          <p:cNvPr id="13" name="Picture 12" descr="m-b-callcenter.png"/>
          <p:cNvPicPr>
            <a:picLocks noChangeAspect="1"/>
          </p:cNvPicPr>
          <p:nvPr/>
        </p:nvPicPr>
        <p:blipFill>
          <a:blip r:embed="rId4"/>
          <a:stretch>
            <a:fillRect/>
          </a:stretch>
        </p:blipFill>
        <p:spPr>
          <a:xfrm>
            <a:off x="6355080" y="1234439"/>
            <a:ext cx="3397032" cy="2011680"/>
          </a:xfrm>
          <a:prstGeom prst="rect">
            <a:avLst/>
          </a:prstGeom>
          <a:ln>
            <a:solidFill>
              <a:srgbClr val="B4BEC3"/>
            </a:solidFill>
          </a:ln>
        </p:spPr>
      </p:pic>
      <p:sp>
        <p:nvSpPr>
          <p:cNvPr id="14" name="Rounded Rectangle 13"/>
          <p:cNvSpPr/>
          <p:nvPr/>
        </p:nvSpPr>
        <p:spPr>
          <a:xfrm>
            <a:off x="9934992" y="1234439"/>
            <a:ext cx="868680" cy="310896"/>
          </a:xfrm>
          <a:prstGeom prst="roundRect">
            <a:avLst>
              <a:gd name="adj" fmla="val 50000"/>
            </a:avLst>
          </a:prstGeom>
          <a:solidFill>
            <a:srgbClr val="E10514"/>
          </a:solidFill>
          <a:ln>
            <a:noFill/>
          </a:ln>
          <a:effectLst/>
        </p:spPr>
        <p:txBody>
          <a:bodyPr rtlCol="0" anchor="ctr"/>
          <a:lstStyle/>
          <a:p/>
        </p:txBody>
      </p:sp>
      <p:sp>
        <p:nvSpPr>
          <p:cNvPr id="15" name="TextBox 14"/>
          <p:cNvSpPr txBox="1"/>
          <p:nvPr/>
        </p:nvSpPr>
        <p:spPr>
          <a:xfrm>
            <a:off x="993499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~50 sn</a:t>
            </a:r>
          </a:p>
        </p:txBody>
      </p:sp>
      <p:sp>
        <p:nvSpPr>
          <p:cNvPr id="16" name="TextBox 15"/>
          <p:cNvSpPr txBox="1"/>
          <p:nvPr/>
        </p:nvSpPr>
        <p:spPr>
          <a:xfrm>
            <a:off x="993499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B · Bilinen çözüm</a:t>
            </a:r>
          </a:p>
        </p:txBody>
      </p:sp>
      <p:sp>
        <p:nvSpPr>
          <p:cNvPr id="17" name="TextBox 16"/>
          <p:cNvSpPr txBox="1"/>
          <p:nvPr/>
        </p:nvSpPr>
        <p:spPr>
          <a:xfrm>
            <a:off x="993499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Zeynep'e müşteriye söylenecek metin; vaka CAG-2051'e bağlanıyor; Kerem'e %93 eşleşen çözüm.</a:t>
            </a:r>
          </a:p>
        </p:txBody>
      </p:sp>
      <p:sp>
        <p:nvSpPr>
          <p:cNvPr id="18" name="Rounded Rectangle 17"/>
          <p:cNvSpPr/>
          <p:nvPr/>
        </p:nvSpPr>
        <p:spPr>
          <a:xfrm>
            <a:off x="411480" y="3566160"/>
            <a:ext cx="5577840" cy="2377440"/>
          </a:xfrm>
          <a:prstGeom prst="roundRect">
            <a:avLst>
              <a:gd name="adj" fmla="val 6000"/>
            </a:avLst>
          </a:prstGeom>
          <a:solidFill>
            <a:srgbClr val="F2F5F6"/>
          </a:solidFill>
          <a:ln>
            <a:noFill/>
          </a:ln>
          <a:effectLst/>
        </p:spPr>
        <p:txBody>
          <a:bodyPr rtlCol="0" anchor="ctr"/>
          <a:lstStyle/>
          <a:p/>
        </p:txBody>
      </p:sp>
      <p:pic>
        <p:nvPicPr>
          <p:cNvPr id="19" name="Picture 18" descr="m-c-code.png"/>
          <p:cNvPicPr>
            <a:picLocks noChangeAspect="1"/>
          </p:cNvPicPr>
          <p:nvPr/>
        </p:nvPicPr>
        <p:blipFill>
          <a:blip r:embed="rId5"/>
          <a:stretch>
            <a:fillRect/>
          </a:stretch>
        </p:blipFill>
        <p:spPr>
          <a:xfrm>
            <a:off x="594360" y="3749039"/>
            <a:ext cx="3397032" cy="2011680"/>
          </a:xfrm>
          <a:prstGeom prst="rect">
            <a:avLst/>
          </a:prstGeom>
          <a:ln>
            <a:solidFill>
              <a:srgbClr val="B4BEC3"/>
            </a:solidFill>
          </a:ln>
        </p:spPr>
      </p:pic>
      <p:sp>
        <p:nvSpPr>
          <p:cNvPr id="20" name="Rounded Rectangle 19"/>
          <p:cNvSpPr/>
          <p:nvPr/>
        </p:nvSpPr>
        <p:spPr>
          <a:xfrm>
            <a:off x="4174272" y="3749039"/>
            <a:ext cx="868680" cy="310896"/>
          </a:xfrm>
          <a:prstGeom prst="roundRect">
            <a:avLst>
              <a:gd name="adj" fmla="val 50000"/>
            </a:avLst>
          </a:prstGeom>
          <a:solidFill>
            <a:srgbClr val="E10514"/>
          </a:solidFill>
          <a:ln>
            <a:noFill/>
          </a:ln>
          <a:effectLst/>
        </p:spPr>
        <p:txBody>
          <a:bodyPr rtlCol="0" anchor="ctr"/>
          <a:lstStyle/>
          <a:p/>
        </p:txBody>
      </p:sp>
      <p:sp>
        <p:nvSpPr>
          <p:cNvPr id="21" name="TextBox 20"/>
          <p:cNvSpPr txBox="1"/>
          <p:nvPr/>
        </p:nvSpPr>
        <p:spPr>
          <a:xfrm>
            <a:off x="417427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~35 sn</a:t>
            </a:r>
          </a:p>
        </p:txBody>
      </p:sp>
      <p:sp>
        <p:nvSpPr>
          <p:cNvPr id="22" name="TextBox 21"/>
          <p:cNvSpPr txBox="1"/>
          <p:nvPr/>
        </p:nvSpPr>
        <p:spPr>
          <a:xfrm>
            <a:off x="417427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C · Dış dünya değişti</a:t>
            </a:r>
          </a:p>
        </p:txBody>
      </p:sp>
      <p:sp>
        <p:nvSpPr>
          <p:cNvPr id="23" name="TextBox 22"/>
          <p:cNvSpPr txBox="1"/>
          <p:nvPr/>
        </p:nvSpPr>
        <p:spPr>
          <a:xfrm>
            <a:off x="417427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412 hata, %97 İSKİ, 13 hane; İSKİ duyurusu; kuralın koddaki iki yeri ve düzeltme; ASKİ uyarısı.</a:t>
            </a:r>
          </a:p>
        </p:txBody>
      </p:sp>
      <p:sp>
        <p:nvSpPr>
          <p:cNvPr id="24" name="Rounded Rectangle 23"/>
          <p:cNvSpPr/>
          <p:nvPr/>
        </p:nvSpPr>
        <p:spPr>
          <a:xfrm>
            <a:off x="6172200" y="3566160"/>
            <a:ext cx="5577840" cy="2377440"/>
          </a:xfrm>
          <a:prstGeom prst="roundRect">
            <a:avLst>
              <a:gd name="adj" fmla="val 6000"/>
            </a:avLst>
          </a:prstGeom>
          <a:solidFill>
            <a:srgbClr val="F2F5F6"/>
          </a:solidFill>
          <a:ln>
            <a:noFill/>
          </a:ln>
          <a:effectLst/>
        </p:spPr>
        <p:txBody>
          <a:bodyPr rtlCol="0" anchor="ctr"/>
          <a:lstStyle/>
          <a:p/>
        </p:txBody>
      </p:sp>
      <p:pic>
        <p:nvPicPr>
          <p:cNvPr id="25" name="Picture 24" descr="m-d-request.png"/>
          <p:cNvPicPr>
            <a:picLocks noChangeAspect="1"/>
          </p:cNvPicPr>
          <p:nvPr/>
        </p:nvPicPr>
        <p:blipFill>
          <a:blip r:embed="rId6"/>
          <a:stretch>
            <a:fillRect/>
          </a:stretch>
        </p:blipFill>
        <p:spPr>
          <a:xfrm>
            <a:off x="6355080" y="3749039"/>
            <a:ext cx="3397032" cy="2011680"/>
          </a:xfrm>
          <a:prstGeom prst="rect">
            <a:avLst/>
          </a:prstGeom>
          <a:ln>
            <a:solidFill>
              <a:srgbClr val="B4BEC3"/>
            </a:solidFill>
          </a:ln>
        </p:spPr>
      </p:pic>
      <p:sp>
        <p:nvSpPr>
          <p:cNvPr id="26" name="Rounded Rectangle 25"/>
          <p:cNvSpPr/>
          <p:nvPr/>
        </p:nvSpPr>
        <p:spPr>
          <a:xfrm>
            <a:off x="9934992" y="3749039"/>
            <a:ext cx="868680" cy="310896"/>
          </a:xfrm>
          <a:prstGeom prst="roundRect">
            <a:avLst>
              <a:gd name="adj" fmla="val 50000"/>
            </a:avLst>
          </a:prstGeom>
          <a:solidFill>
            <a:srgbClr val="E10514"/>
          </a:solidFill>
          <a:ln>
            <a:noFill/>
          </a:ln>
          <a:effectLst/>
        </p:spPr>
        <p:txBody>
          <a:bodyPr rtlCol="0" anchor="ctr"/>
          <a:lstStyle/>
          <a:p/>
        </p:txBody>
      </p:sp>
      <p:sp>
        <p:nvSpPr>
          <p:cNvPr id="27" name="TextBox 26"/>
          <p:cNvSpPr txBox="1"/>
          <p:nvPr/>
        </p:nvSpPr>
        <p:spPr>
          <a:xfrm>
            <a:off x="993499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28" name="TextBox 27"/>
          <p:cNvSpPr txBox="1"/>
          <p:nvPr/>
        </p:nvSpPr>
        <p:spPr>
          <a:xfrm>
            <a:off x="993499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D · Talepten plana</a:t>
            </a:r>
          </a:p>
        </p:txBody>
      </p:sp>
      <p:sp>
        <p:nvSpPr>
          <p:cNvPr id="29" name="TextBox 28"/>
          <p:cNvSpPr txBox="1"/>
          <p:nvPr/>
        </p:nvSpPr>
        <p:spPr>
          <a:xfrm>
            <a:off x="993499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KRDRTKSR'ye buton + batch işi, 18 a/g; SMS ile erişim %58 → %89, 20 a/g, 4 Aralık.</a:t>
            </a:r>
          </a:p>
        </p:txBody>
      </p:sp>
      <p:sp>
        <p:nvSpPr>
          <p:cNvPr id="30" name="TextBox 29"/>
          <p:cNvSpPr txBox="1"/>
          <p:nvPr/>
        </p:nvSpPr>
        <p:spPr>
          <a:xfrm>
            <a:off x="411480" y="6108192"/>
            <a:ext cx="6400800" cy="256032"/>
          </a:xfrm>
          <a:prstGeom prst="rect">
            <a:avLst/>
          </a:prstGeom>
          <a:noFill/>
        </p:spPr>
        <p:txBody>
          <a:bodyPr wrap="square" anchor="t" lIns="0" rIns="0" tIns="0" bIns="0">
            <a:spAutoFit/>
          </a:bodyPr>
          <a:lstStyle/>
          <a:p>
            <a:pPr algn="l">
              <a:spcAft>
                <a:spcPts val="400"/>
              </a:spcAft>
            </a:pPr>
            <a:r>
              <a:rPr sz="1100" b="0" i="1">
                <a:solidFill>
                  <a:srgbClr val="91969B"/>
                </a:solidFill>
                <a:latin typeface="Calibri"/>
              </a:rPr>
              <a:t>Taslak görsel — gerçek ekran görüntüsüyle değiştirilecek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İş Değeri: Önce ve Sonra</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9</a:t>
            </a:r>
          </a:p>
        </p:txBody>
      </p:sp>
      <p:sp>
        <p:nvSpPr>
          <p:cNvPr id="6" name="Rounded Rectangle 5"/>
          <p:cNvSpPr/>
          <p:nvPr/>
        </p:nvSpPr>
        <p:spPr>
          <a:xfrm>
            <a:off x="411480" y="1097280"/>
            <a:ext cx="3611880" cy="137160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685800" y="1097280"/>
            <a:ext cx="3108960" cy="1371600"/>
          </a:xfrm>
          <a:prstGeom prst="rect">
            <a:avLst/>
          </a:prstGeom>
          <a:noFill/>
        </p:spPr>
        <p:txBody>
          <a:bodyPr wrap="square" anchor="ctr" lIns="0" rIns="0" tIns="0" bIns="0">
            <a:spAutoFit/>
          </a:bodyPr>
          <a:lstStyle/>
          <a:p>
            <a:pPr algn="l">
              <a:spcAft>
                <a:spcPts val="200"/>
              </a:spcAft>
            </a:pPr>
            <a:r>
              <a:rPr sz="2200" b="1" i="0">
                <a:solidFill>
                  <a:srgbClr val="E10514"/>
                </a:solidFill>
                <a:latin typeface="Calibri"/>
              </a:rPr>
              <a:t>Çağrı hiç açılmıyor</a:t>
            </a:r>
          </a:p>
          <a:p>
            <a:pPr algn="l">
              <a:spcAft>
                <a:spcPts val="200"/>
              </a:spcAft>
            </a:pPr>
            <a:r>
              <a:rPr sz="1400" b="0" i="0">
                <a:solidFill>
                  <a:srgbClr val="91969B"/>
                </a:solidFill>
                <a:latin typeface="Calibri"/>
              </a:rPr>
              <a:t>İş kuralı reddinde (A)</a:t>
            </a:r>
          </a:p>
        </p:txBody>
      </p:sp>
      <p:sp>
        <p:nvSpPr>
          <p:cNvPr id="8" name="Rounded Rectangle 7"/>
          <p:cNvSpPr/>
          <p:nvPr/>
        </p:nvSpPr>
        <p:spPr>
          <a:xfrm>
            <a:off x="4251960" y="1097280"/>
            <a:ext cx="3611880" cy="1371600"/>
          </a:xfrm>
          <a:prstGeom prst="roundRect">
            <a:avLst>
              <a:gd name="adj" fmla="val 6000"/>
            </a:avLst>
          </a:prstGeom>
          <a:solidFill>
            <a:srgbClr val="F2F5F6"/>
          </a:solidFill>
          <a:ln>
            <a:noFill/>
          </a:ln>
          <a:effectLst/>
        </p:spPr>
        <p:txBody>
          <a:bodyPr rtlCol="0" anchor="ctr"/>
          <a:lstStyle/>
          <a:p/>
        </p:txBody>
      </p:sp>
      <p:sp>
        <p:nvSpPr>
          <p:cNvPr id="9" name="TextBox 8"/>
          <p:cNvSpPr txBox="1"/>
          <p:nvPr/>
        </p:nvSpPr>
        <p:spPr>
          <a:xfrm>
            <a:off x="4526280" y="1097280"/>
            <a:ext cx="3108960" cy="1371600"/>
          </a:xfrm>
          <a:prstGeom prst="rect">
            <a:avLst/>
          </a:prstGeom>
          <a:noFill/>
        </p:spPr>
        <p:txBody>
          <a:bodyPr wrap="square" anchor="ctr" lIns="0" rIns="0" tIns="0" bIns="0">
            <a:spAutoFit/>
          </a:bodyPr>
          <a:lstStyle/>
          <a:p>
            <a:pPr algn="l">
              <a:spcAft>
                <a:spcPts val="200"/>
              </a:spcAft>
            </a:pPr>
            <a:r>
              <a:rPr sz="2200" b="1" i="0">
                <a:solidFill>
                  <a:srgbClr val="B90F0A"/>
                </a:solidFill>
                <a:latin typeface="Calibri"/>
              </a:rPr>
              <a:t>Onlarca arama → tek kayıt</a:t>
            </a:r>
          </a:p>
          <a:p>
            <a:pPr algn="l">
              <a:spcAft>
                <a:spcPts val="200"/>
              </a:spcAft>
            </a:pPr>
            <a:r>
              <a:rPr sz="1400" b="0" i="0">
                <a:solidFill>
                  <a:srgbClr val="91969B"/>
                </a:solidFill>
                <a:latin typeface="Calibri"/>
              </a:rPr>
              <a:t>Kurum kaynaklı sorunda (B)</a:t>
            </a:r>
          </a:p>
        </p:txBody>
      </p:sp>
      <p:sp>
        <p:nvSpPr>
          <p:cNvPr id="10" name="Rounded Rectangle 9"/>
          <p:cNvSpPr/>
          <p:nvPr/>
        </p:nvSpPr>
        <p:spPr>
          <a:xfrm>
            <a:off x="8092440" y="1097280"/>
            <a:ext cx="3611880" cy="1371600"/>
          </a:xfrm>
          <a:prstGeom prst="roundRect">
            <a:avLst>
              <a:gd name="adj" fmla="val 6000"/>
            </a:avLst>
          </a:prstGeom>
          <a:solidFill>
            <a:srgbClr val="F2F5F6"/>
          </a:solidFill>
          <a:ln>
            <a:noFill/>
          </a:ln>
          <a:effectLst/>
        </p:spPr>
        <p:txBody>
          <a:bodyPr rtlCol="0" anchor="ctr"/>
          <a:lstStyle/>
          <a:p/>
        </p:txBody>
      </p:sp>
      <p:sp>
        <p:nvSpPr>
          <p:cNvPr id="11" name="TextBox 10"/>
          <p:cNvSpPr txBox="1"/>
          <p:nvPr/>
        </p:nvSpPr>
        <p:spPr>
          <a:xfrm>
            <a:off x="8366760" y="1097280"/>
            <a:ext cx="3108960" cy="1371600"/>
          </a:xfrm>
          <a:prstGeom prst="rect">
            <a:avLst/>
          </a:prstGeom>
          <a:noFill/>
        </p:spPr>
        <p:txBody>
          <a:bodyPr wrap="square" anchor="ctr" lIns="0" rIns="0" tIns="0" bIns="0">
            <a:spAutoFit/>
          </a:bodyPr>
          <a:lstStyle/>
          <a:p>
            <a:pPr algn="l">
              <a:spcAft>
                <a:spcPts val="200"/>
              </a:spcAft>
            </a:pPr>
            <a:r>
              <a:rPr sz="2200" b="1" i="0">
                <a:solidFill>
                  <a:srgbClr val="870F00"/>
                </a:solidFill>
                <a:latin typeface="Calibri"/>
              </a:rPr>
              <a:t>Toplantı → dakikalar</a:t>
            </a:r>
          </a:p>
          <a:p>
            <a:pPr algn="l">
              <a:spcAft>
                <a:spcPts val="200"/>
              </a:spcAft>
            </a:pPr>
            <a:r>
              <a:rPr sz="1400" b="0" i="0">
                <a:solidFill>
                  <a:srgbClr val="91969B"/>
                </a:solidFill>
                <a:latin typeface="Calibri"/>
              </a:rPr>
              <a:t>Talep analizi ve planı (D)</a:t>
            </a:r>
          </a:p>
        </p:txBody>
      </p:sp>
      <p:graphicFrame>
        <p:nvGraphicFramePr>
          <p:cNvPr id="12" name="Table 11"/>
          <p:cNvGraphicFramePr>
            <a:graphicFrameLocks noGrp="1"/>
          </p:cNvGraphicFramePr>
          <p:nvPr/>
        </p:nvGraphicFramePr>
        <p:xfrm>
          <a:off x="411480" y="2697480"/>
          <a:ext cx="11338560" cy="3017520"/>
        </p:xfrm>
        <a:graphic>
          <a:graphicData uri="http://schemas.openxmlformats.org/drawingml/2006/table">
            <a:tbl>
              <a:tblPr firstRow="1" bandRow="1"/>
              <a:tblGrid>
                <a:gridCol w="2651760"/>
                <a:gridCol w="3931920"/>
                <a:gridCol w="4754880"/>
              </a:tblGrid>
              <a:tr h="502920">
                <a:tc>
                  <a:txBody>
                    <a:bodyPr/>
                    <a:lstStyle/>
                    <a:p>
                      <a:r>
                        <a:rPr sz="1400" b="1" i="0">
                          <a:solidFill>
                            <a:srgbClr val="FFFFFF"/>
                          </a:solidFill>
                          <a:latin typeface="Calibri"/>
                        </a:rPr>
                        <a:t>Ölçü</a:t>
                      </a:r>
                    </a:p>
                  </a:txBody>
                  <a:tcPr marL="109728" marR="109728" anchor="ctr">
                    <a:solidFill>
                      <a:srgbClr val="B90F0A"/>
                    </a:solidFill>
                  </a:tcPr>
                </a:tc>
                <a:tc>
                  <a:txBody>
                    <a:bodyPr/>
                    <a:lstStyle/>
                    <a:p>
                      <a:r>
                        <a:rPr sz="1400" b="1" i="0">
                          <a:solidFill>
                            <a:srgbClr val="FFFFFF"/>
                          </a:solidFill>
                          <a:latin typeface="Calibri"/>
                        </a:rPr>
                        <a:t>Bugün</a:t>
                      </a:r>
                    </a:p>
                  </a:txBody>
                  <a:tcPr marL="109728" marR="109728" anchor="ctr">
                    <a:solidFill>
                      <a:srgbClr val="B90F0A"/>
                    </a:solidFill>
                  </a:tcPr>
                </a:tc>
                <a:tc>
                  <a:txBody>
                    <a:bodyPr/>
                    <a:lstStyle/>
                    <a:p>
                      <a:r>
                        <a:rPr sz="1400" b="1" i="0">
                          <a:solidFill>
                            <a:srgbClr val="FFFFFF"/>
                          </a:solidFill>
                          <a:latin typeface="Calibri"/>
                        </a:rPr>
                        <a:t>Mercek ile</a:t>
                      </a:r>
                    </a:p>
                  </a:txBody>
                  <a:tcPr marL="109728" marR="109728" anchor="ctr">
                    <a:solidFill>
                      <a:srgbClr val="B90F0A"/>
                    </a:solidFill>
                  </a:tcPr>
                </a:tc>
              </a:tr>
              <a:tr h="502920">
                <a:tc>
                  <a:txBody>
                    <a:bodyPr/>
                    <a:lstStyle/>
                    <a:p>
                      <a:r>
                        <a:rPr sz="1400" b="1" i="0">
                          <a:solidFill>
                            <a:srgbClr val="1E1E1E"/>
                          </a:solidFill>
                          <a:latin typeface="Calibri"/>
                        </a:rPr>
                        <a:t>İş kuralı reddi</a:t>
                      </a:r>
                    </a:p>
                  </a:txBody>
                  <a:tcPr marL="109728" marR="109728" anchor="ctr">
                    <a:solidFill>
                      <a:srgbClr val="FFFFFF"/>
                    </a:solidFill>
                  </a:tcPr>
                </a:tc>
                <a:tc>
                  <a:txBody>
                    <a:bodyPr/>
                    <a:lstStyle/>
                    <a:p>
                      <a:r>
                        <a:rPr sz="1400" b="0" i="0">
                          <a:solidFill>
                            <a:srgbClr val="1E1E1E"/>
                          </a:solidFill>
                          <a:latin typeface="Calibri"/>
                        </a:rPr>
                        <a:t>Çağrı açılır, L1 kuralı açıklar</a:t>
                      </a:r>
                    </a:p>
                  </a:txBody>
                  <a:tcPr marL="109728" marR="109728" anchor="ctr">
                    <a:solidFill>
                      <a:srgbClr val="FFFFFF"/>
                    </a:solidFill>
                  </a:tcPr>
                </a:tc>
                <a:tc>
                  <a:txBody>
                    <a:bodyPr/>
                    <a:lstStyle/>
                    <a:p>
                      <a:r>
                        <a:rPr sz="1400" b="0" i="0">
                          <a:solidFill>
                            <a:srgbClr val="1E1E1E"/>
                          </a:solidFill>
                          <a:latin typeface="Calibri"/>
                        </a:rPr>
                        <a:t>Ekranda açıklanır, uygun alternatif hesaplanır</a:t>
                      </a:r>
                    </a:p>
                  </a:txBody>
                  <a:tcPr marL="109728" marR="109728" anchor="ctr">
                    <a:solidFill>
                      <a:srgbClr val="FFFFFF"/>
                    </a:solidFill>
                  </a:tcPr>
                </a:tc>
              </a:tr>
              <a:tr h="502920">
                <a:tc>
                  <a:txBody>
                    <a:bodyPr/>
                    <a:lstStyle/>
                    <a:p>
                      <a:r>
                        <a:rPr sz="1400" b="1" i="0">
                          <a:solidFill>
                            <a:srgbClr val="1E1E1E"/>
                          </a:solidFill>
                          <a:latin typeface="Calibri"/>
                        </a:rPr>
                        <a:t>Yaygın kurum sorunu</a:t>
                      </a:r>
                    </a:p>
                  </a:txBody>
                  <a:tcPr marL="109728" marR="109728" anchor="ctr">
                    <a:solidFill>
                      <a:srgbClr val="F2F5F6"/>
                    </a:solidFill>
                  </a:tcPr>
                </a:tc>
                <a:tc>
                  <a:txBody>
                    <a:bodyPr/>
                    <a:lstStyle/>
                    <a:p>
                      <a:r>
                        <a:rPr sz="1400" b="0" i="0">
                          <a:solidFill>
                            <a:srgbClr val="1E1E1E"/>
                          </a:solidFill>
                          <a:latin typeface="Calibri"/>
                        </a:rPr>
                        <a:t>Her arama ayrı çağrı</a:t>
                      </a:r>
                    </a:p>
                  </a:txBody>
                  <a:tcPr marL="109728" marR="109728" anchor="ctr">
                    <a:solidFill>
                      <a:srgbClr val="F2F5F6"/>
                    </a:solidFill>
                  </a:tcPr>
                </a:tc>
                <a:tc>
                  <a:txBody>
                    <a:bodyPr/>
                    <a:lstStyle/>
                    <a:p>
                      <a:r>
                        <a:rPr sz="1400" b="0" i="0">
                          <a:solidFill>
                            <a:srgbClr val="1E1E1E"/>
                          </a:solidFill>
                          <a:latin typeface="Calibri"/>
                        </a:rPr>
                        <a:t>Tek ana kayıt, temsilciye hazır müşteri açıklaması</a:t>
                      </a:r>
                    </a:p>
                  </a:txBody>
                  <a:tcPr marL="109728" marR="109728" anchor="ctr">
                    <a:solidFill>
                      <a:srgbClr val="F2F5F6"/>
                    </a:solidFill>
                  </a:tcPr>
                </a:tc>
              </a:tr>
              <a:tr h="502920">
                <a:tc>
                  <a:txBody>
                    <a:bodyPr/>
                    <a:lstStyle/>
                    <a:p>
                      <a:r>
                        <a:rPr sz="1400" b="1" i="0">
                          <a:solidFill>
                            <a:srgbClr val="1E1E1E"/>
                          </a:solidFill>
                          <a:latin typeface="Calibri"/>
                        </a:rPr>
                        <a:t>Bilinen sorun</a:t>
                      </a:r>
                    </a:p>
                  </a:txBody>
                  <a:tcPr marL="109728" marR="109728" anchor="ctr">
                    <a:solidFill>
                      <a:srgbClr val="FFFFFF"/>
                    </a:solidFill>
                  </a:tcPr>
                </a:tc>
                <a:tc>
                  <a:txBody>
                    <a:bodyPr/>
                    <a:lstStyle/>
                    <a:p>
                      <a:r>
                        <a:rPr sz="1400" b="0" i="0">
                          <a:solidFill>
                            <a:srgbClr val="1E1E1E"/>
                          </a:solidFill>
                          <a:latin typeface="Calibri"/>
                        </a:rPr>
                        <a:t>L2 log arar, çözüm kişide</a:t>
                      </a:r>
                    </a:p>
                  </a:txBody>
                  <a:tcPr marL="109728" marR="109728" anchor="ctr">
                    <a:solidFill>
                      <a:srgbClr val="FFFFFF"/>
                    </a:solidFill>
                  </a:tcPr>
                </a:tc>
                <a:tc>
                  <a:txBody>
                    <a:bodyPr/>
                    <a:lstStyle/>
                    <a:p>
                      <a:r>
                        <a:rPr sz="1400" b="0" i="0">
                          <a:solidFill>
                            <a:srgbClr val="1E1E1E"/>
                          </a:solidFill>
                          <a:latin typeface="Calibri"/>
                        </a:rPr>
                        <a:t>Kaynaklı eşleşen çözüm, saniyeler içinde</a:t>
                      </a:r>
                    </a:p>
                  </a:txBody>
                  <a:tcPr marL="109728" marR="109728" anchor="ctr">
                    <a:solidFill>
                      <a:srgbClr val="FFFFFF"/>
                    </a:solidFill>
                  </a:tcPr>
                </a:tc>
              </a:tr>
              <a:tr h="502920">
                <a:tc>
                  <a:txBody>
                    <a:bodyPr/>
                    <a:lstStyle/>
                    <a:p>
                      <a:r>
                        <a:rPr sz="1400" b="1" i="0">
                          <a:solidFill>
                            <a:srgbClr val="1E1E1E"/>
                          </a:solidFill>
                          <a:latin typeface="Calibri"/>
                        </a:rPr>
                        <a:t>Yeni sorun</a:t>
                      </a:r>
                    </a:p>
                  </a:txBody>
                  <a:tcPr marL="109728" marR="109728" anchor="ctr">
                    <a:solidFill>
                      <a:srgbClr val="F2F5F6"/>
                    </a:solidFill>
                  </a:tcPr>
                </a:tc>
                <a:tc>
                  <a:txBody>
                    <a:bodyPr/>
                    <a:lstStyle/>
                    <a:p>
                      <a:r>
                        <a:rPr sz="1400" b="0" i="0">
                          <a:solidFill>
                            <a:srgbClr val="1E1E1E"/>
                          </a:solidFill>
                          <a:latin typeface="Calibri"/>
                        </a:rPr>
                        <a:t>Kök neden günlerce aranır</a:t>
                      </a:r>
                    </a:p>
                  </a:txBody>
                  <a:tcPr marL="109728" marR="109728" anchor="ctr">
                    <a:solidFill>
                      <a:srgbClr val="F2F5F6"/>
                    </a:solidFill>
                  </a:tcPr>
                </a:tc>
                <a:tc>
                  <a:txBody>
                    <a:bodyPr/>
                    <a:lstStyle/>
                    <a:p>
                      <a:r>
                        <a:rPr sz="1400" b="0" i="0">
                          <a:solidFill>
                            <a:srgbClr val="1E1E1E"/>
                          </a:solidFill>
                          <a:latin typeface="Calibri"/>
                        </a:rPr>
                        <a:t>Log + duyuru + kod; sonraki olay önceden görülür</a:t>
                      </a:r>
                    </a:p>
                  </a:txBody>
                  <a:tcPr marL="109728" marR="109728" anchor="ctr">
                    <a:solidFill>
                      <a:srgbClr val="F2F5F6"/>
                    </a:solidFill>
                  </a:tcPr>
                </a:tc>
              </a:tr>
              <a:tr h="502920">
                <a:tc>
                  <a:txBody>
                    <a:bodyPr/>
                    <a:lstStyle/>
                    <a:p>
                      <a:r>
                        <a:rPr sz="1400" b="1" i="0">
                          <a:solidFill>
                            <a:srgbClr val="1E1E1E"/>
                          </a:solidFill>
                          <a:latin typeface="Calibri"/>
                        </a:rPr>
                        <a:t>Talep planı</a:t>
                      </a:r>
                    </a:p>
                  </a:txBody>
                  <a:tcPr marL="109728" marR="109728" anchor="ctr">
                    <a:solidFill>
                      <a:srgbClr val="FFFFFF"/>
                    </a:solidFill>
                  </a:tcPr>
                </a:tc>
                <a:tc>
                  <a:txBody>
                    <a:bodyPr/>
                    <a:lstStyle/>
                    <a:p>
                      <a:r>
                        <a:rPr sz="1400" b="0" i="0">
                          <a:solidFill>
                            <a:srgbClr val="1E1E1E"/>
                          </a:solidFill>
                          <a:latin typeface="Calibri"/>
                        </a:rPr>
                        <a:t>Servisler ve erişim sorunu geç fark edilir</a:t>
                      </a:r>
                    </a:p>
                  </a:txBody>
                  <a:tcPr marL="109728" marR="109728" anchor="ctr">
                    <a:solidFill>
                      <a:srgbClr val="FFFFFF"/>
                    </a:solidFill>
                  </a:tcPr>
                </a:tc>
                <a:tc>
                  <a:txBody>
                    <a:bodyPr/>
                    <a:lstStyle/>
                    <a:p>
                      <a:r>
                        <a:rPr sz="1400" b="0" i="0">
                          <a:solidFill>
                            <a:srgbClr val="1E1E1E"/>
                          </a:solidFill>
                          <a:latin typeface="Calibri"/>
                        </a:rPr>
                        <a:t>Servis bazlı a/g ve takvim; kapsam veriyle düzeltilir</a:t>
                      </a:r>
                    </a:p>
                  </a:txBody>
                  <a:tcPr marL="109728" marR="109728" anchor="ctr">
                    <a:solidFill>
                      <a:srgbClr val="FFFFFF"/>
                    </a:solidFill>
                  </a:tcPr>
                </a:tc>
              </a:tr>
            </a:tbl>
          </a:graphicData>
        </a:graphic>
      </p:graphicFrame>
      <p:sp>
        <p:nvSpPr>
          <p:cNvPr id="13" name="TextBox 12"/>
          <p:cNvSpPr txBox="1"/>
          <p:nvPr/>
        </p:nvSpPr>
        <p:spPr>
          <a:xfrm>
            <a:off x="411480" y="5852160"/>
            <a:ext cx="11338560" cy="274320"/>
          </a:xfrm>
          <a:prstGeom prst="rect">
            <a:avLst/>
          </a:prstGeom>
          <a:noFill/>
        </p:spPr>
        <p:txBody>
          <a:bodyPr wrap="square" anchor="t" lIns="0" rIns="0" tIns="0" bIns="0">
            <a:spAutoFit/>
          </a:bodyPr>
          <a:lstStyle/>
          <a:p>
            <a:pPr algn="l">
              <a:spcAft>
                <a:spcPts val="400"/>
              </a:spcAft>
            </a:pPr>
            <a:r>
              <a:rPr sz="1200" b="0" i="1">
                <a:solidFill>
                  <a:srgbClr val="91969B"/>
                </a:solidFill>
                <a:latin typeface="Calibri"/>
              </a:rPr>
              <a:t>Rakamlar sentetik veriye dayanır; demo sırasında Mercek'in sayaçları (önlenen çağrı, bağlanan vaka, analiz süresi) gösterilir.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Neredeyiz, Sırada Ne Var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10</a:t>
            </a:r>
          </a:p>
        </p:txBody>
      </p:sp>
      <p:sp>
        <p:nvSpPr>
          <p:cNvPr id="6" name="Rounded Rectangle 5"/>
          <p:cNvSpPr/>
          <p:nvPr/>
        </p:nvSpPr>
        <p:spPr>
          <a:xfrm>
            <a:off x="411480" y="1097280"/>
            <a:ext cx="3611880" cy="493776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685800" y="1325880"/>
            <a:ext cx="685800" cy="685800"/>
          </a:xfrm>
          <a:prstGeom prst="ellipse">
            <a:avLst/>
          </a:prstGeom>
          <a:solidFill>
            <a:srgbClr val="E10514"/>
          </a:solidFill>
          <a:ln>
            <a:noFill/>
          </a:ln>
          <a:effectLst/>
        </p:spPr>
        <p:txBody>
          <a:bodyPr rtlCol="0" anchor="ctr"/>
          <a:lstStyle/>
          <a:p/>
        </p:txBody>
      </p:sp>
      <p:pic>
        <p:nvPicPr>
          <p:cNvPr id="8" name="Picture 7" descr="check-w.png"/>
          <p:cNvPicPr>
            <a:picLocks noChangeAspect="1"/>
          </p:cNvPicPr>
          <p:nvPr/>
        </p:nvPicPr>
        <p:blipFill>
          <a:blip r:embed="rId3"/>
          <a:stretch>
            <a:fillRect/>
          </a:stretch>
        </p:blipFill>
        <p:spPr>
          <a:xfrm>
            <a:off x="857250" y="1497330"/>
            <a:ext cx="342900" cy="342900"/>
          </a:xfrm>
          <a:prstGeom prst="rect">
            <a:avLst/>
          </a:prstGeom>
        </p:spPr>
      </p:pic>
      <p:sp>
        <p:nvSpPr>
          <p:cNvPr id="9" name="TextBox 8"/>
          <p:cNvSpPr txBox="1"/>
          <p:nvPr/>
        </p:nvSpPr>
        <p:spPr>
          <a:xfrm>
            <a:off x="150876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Tamamlanan</a:t>
            </a:r>
          </a:p>
        </p:txBody>
      </p:sp>
      <p:sp>
        <p:nvSpPr>
          <p:cNvPr id="10" name="TextBox 9"/>
          <p:cNvSpPr txBox="1"/>
          <p:nvPr/>
        </p:nvSpPr>
        <p:spPr>
          <a:xfrm>
            <a:off x="68580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M1: bağlam, log örüntüsü, servis ataması, ana kayıt, eşleştirme, kod analizi</a:t>
            </a:r>
          </a:p>
          <a:p>
            <a:pPr algn="l" marL="228600" indent="-228600">
              <a:spcAft>
                <a:spcPts val="1000"/>
              </a:spcAft>
              <a:buClr>
                <a:srgbClr val="E10514"/>
              </a:buClr>
              <a:buFont typeface="Arial"/>
              <a:buChar char="•"/>
            </a:pPr>
            <a:r>
              <a:rPr sz="1500" b="0" i="0">
                <a:solidFill>
                  <a:srgbClr val="1E1E1E"/>
                </a:solidFill>
                <a:latin typeface="Calibri"/>
              </a:rPr>
              <a:t>M2: talep analizi, servis etkisi, adam-gün, takvim, köprü</a:t>
            </a:r>
          </a:p>
          <a:p>
            <a:pPr algn="l" marL="228600" indent="-228600">
              <a:spcAft>
                <a:spcPts val="1000"/>
              </a:spcAft>
              <a:buClr>
                <a:srgbClr val="E10514"/>
              </a:buClr>
              <a:buFont typeface="Arial"/>
              <a:buChar char="•"/>
            </a:pPr>
            <a:r>
              <a:rPr sz="1500" b="0" i="0">
                <a:solidFill>
                  <a:srgbClr val="1E1E1E"/>
                </a:solidFill>
                <a:latin typeface="Calibri"/>
              </a:rPr>
              <a:t>Azure: 2 App Service, Foundry, hibrit RAG (AI Search + SQL)</a:t>
            </a:r>
          </a:p>
          <a:p>
            <a:pPr algn="l" marL="228600" indent="-228600">
              <a:spcAft>
                <a:spcPts val="1000"/>
              </a:spcAft>
              <a:buClr>
                <a:srgbClr val="E10514"/>
              </a:buClr>
              <a:buFont typeface="Arial"/>
              <a:buChar char="•"/>
            </a:pPr>
            <a:r>
              <a:rPr sz="1500" b="0" i="0">
                <a:solidFill>
                  <a:srgbClr val="1E1E1E"/>
                </a:solidFill>
                <a:latin typeface="Calibri"/>
              </a:rPr>
              <a:t>CI/CD ve PR'da güvenlik taraması</a:t>
            </a:r>
          </a:p>
        </p:txBody>
      </p:sp>
      <p:sp>
        <p:nvSpPr>
          <p:cNvPr id="11" name="Rounded Rectangle 10"/>
          <p:cNvSpPr/>
          <p:nvPr/>
        </p:nvSpPr>
        <p:spPr>
          <a:xfrm>
            <a:off x="4251960" y="1097280"/>
            <a:ext cx="3611880" cy="4937760"/>
          </a:xfrm>
          <a:prstGeom prst="roundRect">
            <a:avLst>
              <a:gd name="adj" fmla="val 6000"/>
            </a:avLst>
          </a:prstGeom>
          <a:solidFill>
            <a:srgbClr val="F2F5F6"/>
          </a:solidFill>
          <a:ln>
            <a:noFill/>
          </a:ln>
          <a:effectLst/>
        </p:spPr>
        <p:txBody>
          <a:bodyPr rtlCol="0" anchor="ctr"/>
          <a:lstStyle/>
          <a:p/>
        </p:txBody>
      </p:sp>
      <p:sp>
        <p:nvSpPr>
          <p:cNvPr id="12" name="Oval 11"/>
          <p:cNvSpPr/>
          <p:nvPr/>
        </p:nvSpPr>
        <p:spPr>
          <a:xfrm>
            <a:off x="4526280" y="1325880"/>
            <a:ext cx="685800" cy="685800"/>
          </a:xfrm>
          <a:prstGeom prst="ellipse">
            <a:avLst/>
          </a:prstGeom>
          <a:solidFill>
            <a:srgbClr val="91969B"/>
          </a:solidFill>
          <a:ln>
            <a:noFill/>
          </a:ln>
          <a:effectLst/>
        </p:spPr>
        <p:txBody>
          <a:bodyPr rtlCol="0" anchor="ctr"/>
          <a:lstStyle/>
          <a:p/>
        </p:txBody>
      </p:sp>
      <p:pic>
        <p:nvPicPr>
          <p:cNvPr id="13" name="Picture 12" descr="warn-w.png"/>
          <p:cNvPicPr>
            <a:picLocks noChangeAspect="1"/>
          </p:cNvPicPr>
          <p:nvPr/>
        </p:nvPicPr>
        <p:blipFill>
          <a:blip r:embed="rId4"/>
          <a:stretch>
            <a:fillRect/>
          </a:stretch>
        </p:blipFill>
        <p:spPr>
          <a:xfrm>
            <a:off x="4697730" y="1497330"/>
            <a:ext cx="342900" cy="342900"/>
          </a:xfrm>
          <a:prstGeom prst="rect">
            <a:avLst/>
          </a:prstGeom>
        </p:spPr>
      </p:pic>
      <p:sp>
        <p:nvSpPr>
          <p:cNvPr id="14" name="TextBox 13"/>
          <p:cNvSpPr txBox="1"/>
          <p:nvPr/>
        </p:nvSpPr>
        <p:spPr>
          <a:xfrm>
            <a:off x="534924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Sınırlamalar</a:t>
            </a:r>
          </a:p>
        </p:txBody>
      </p:sp>
      <p:sp>
        <p:nvSpPr>
          <p:cNvPr id="15" name="TextBox 14"/>
          <p:cNvSpPr txBox="1"/>
          <p:nvPr/>
        </p:nvSpPr>
        <p:spPr>
          <a:xfrm>
            <a:off x="452628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Veri tamamen sentetik</a:t>
            </a:r>
          </a:p>
          <a:p>
            <a:pPr algn="l" marL="228600" indent="-228600">
              <a:spcAft>
                <a:spcPts val="1000"/>
              </a:spcAft>
              <a:buClr>
                <a:srgbClr val="E10514"/>
              </a:buClr>
              <a:buFont typeface="Arial"/>
              <a:buChar char="•"/>
            </a:pPr>
            <a:r>
              <a:rPr sz="1500" b="0" i="0">
                <a:solidFill>
                  <a:srgbClr val="1E1E1E"/>
                </a:solidFill>
                <a:latin typeface="Calibri"/>
              </a:rPr>
              <a:t>Gerçek log, çağrı ve kod entegrasyonu yok</a:t>
            </a:r>
          </a:p>
          <a:p>
            <a:pPr algn="l" marL="228600" indent="-228600">
              <a:spcAft>
                <a:spcPts val="1000"/>
              </a:spcAft>
              <a:buClr>
                <a:srgbClr val="E10514"/>
              </a:buClr>
              <a:buFont typeface="Arial"/>
              <a:buChar char="•"/>
            </a:pPr>
            <a:r>
              <a:rPr sz="1500" b="0" i="0">
                <a:solidFill>
                  <a:srgbClr val="1E1E1E"/>
                </a:solidFill>
                <a:latin typeface="Calibri"/>
              </a:rPr>
              <a:t>Kod düzeltmeleri öneri; uygulama insan onaylı</a:t>
            </a:r>
          </a:p>
          <a:p>
            <a:pPr algn="l" marL="228600" indent="-228600">
              <a:spcAft>
                <a:spcPts val="1000"/>
              </a:spcAft>
              <a:buClr>
                <a:srgbClr val="E10514"/>
              </a:buClr>
              <a:buFont typeface="Arial"/>
              <a:buChar char="•"/>
            </a:pPr>
            <a:r>
              <a:rPr sz="1500" b="0" i="0">
                <a:solidFill>
                  <a:srgbClr val="1E1E1E"/>
                </a:solidFill>
                <a:latin typeface="Calibri"/>
              </a:rPr>
              <a:t>E-posta ve SMS gönderimi simülasyon</a:t>
            </a:r>
          </a:p>
        </p:txBody>
      </p:sp>
      <p:sp>
        <p:nvSpPr>
          <p:cNvPr id="16" name="Rounded Rectangle 15"/>
          <p:cNvSpPr/>
          <p:nvPr/>
        </p:nvSpPr>
        <p:spPr>
          <a:xfrm>
            <a:off x="8092440" y="1097280"/>
            <a:ext cx="3611880" cy="493776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8366760" y="1325880"/>
            <a:ext cx="685800" cy="685800"/>
          </a:xfrm>
          <a:prstGeom prst="ellipse">
            <a:avLst/>
          </a:prstGeom>
          <a:solidFill>
            <a:srgbClr val="870F00"/>
          </a:solidFill>
          <a:ln>
            <a:noFill/>
          </a:ln>
          <a:effectLst/>
        </p:spPr>
        <p:txBody>
          <a:bodyPr rtlCol="0" anchor="ctr"/>
          <a:lstStyle/>
          <a:p/>
        </p:txBody>
      </p:sp>
      <p:pic>
        <p:nvPicPr>
          <p:cNvPr id="18" name="Picture 17" descr="route-w.png"/>
          <p:cNvPicPr>
            <a:picLocks noChangeAspect="1"/>
          </p:cNvPicPr>
          <p:nvPr/>
        </p:nvPicPr>
        <p:blipFill>
          <a:blip r:embed="rId5"/>
          <a:stretch>
            <a:fillRect/>
          </a:stretch>
        </p:blipFill>
        <p:spPr>
          <a:xfrm>
            <a:off x="8538210" y="1497330"/>
            <a:ext cx="342900" cy="342900"/>
          </a:xfrm>
          <a:prstGeom prst="rect">
            <a:avLst/>
          </a:prstGeom>
        </p:spPr>
      </p:pic>
      <p:sp>
        <p:nvSpPr>
          <p:cNvPr id="19" name="TextBox 18"/>
          <p:cNvSpPr txBox="1"/>
          <p:nvPr/>
        </p:nvSpPr>
        <p:spPr>
          <a:xfrm>
            <a:off x="9189719"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Canlıya geçiş</a:t>
            </a:r>
          </a:p>
        </p:txBody>
      </p:sp>
      <p:sp>
        <p:nvSpPr>
          <p:cNvPr id="20" name="TextBox 19"/>
          <p:cNvSpPr txBox="1"/>
          <p:nvPr/>
        </p:nvSpPr>
        <p:spPr>
          <a:xfrm>
            <a:off x="836676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Log kaynağı: Kibana / Elasticsearch</a:t>
            </a:r>
          </a:p>
          <a:p>
            <a:pPr algn="l" marL="228600" indent="-228600">
              <a:spcAft>
                <a:spcPts val="1000"/>
              </a:spcAft>
              <a:buClr>
                <a:srgbClr val="E10514"/>
              </a:buClr>
              <a:buFont typeface="Arial"/>
              <a:buChar char="•"/>
            </a:pPr>
            <a:r>
              <a:rPr sz="1500" b="0" i="0">
                <a:solidFill>
                  <a:srgbClr val="1E1E1E"/>
                </a:solidFill>
                <a:latin typeface="Calibri"/>
              </a:rPr>
              <a:t>Çağrı sistemi ve kod reposu için salt-okur entegrasyon</a:t>
            </a:r>
          </a:p>
          <a:p>
            <a:pPr algn="l" marL="228600" indent="-228600">
              <a:spcAft>
                <a:spcPts val="1000"/>
              </a:spcAft>
              <a:buClr>
                <a:srgbClr val="E10514"/>
              </a:buClr>
              <a:buFont typeface="Arial"/>
              <a:buChar char="•"/>
            </a:pPr>
            <a:r>
              <a:rPr sz="1500" b="0" i="0">
                <a:solidFill>
                  <a:srgbClr val="1E1E1E"/>
                </a:solidFill>
                <a:latin typeface="Calibri"/>
              </a:rPr>
              <a:t>KVKK: loglarda maskeleme</a:t>
            </a:r>
          </a:p>
          <a:p>
            <a:pPr algn="l" marL="228600" indent="-228600">
              <a:spcAft>
                <a:spcPts val="1000"/>
              </a:spcAft>
              <a:buClr>
                <a:srgbClr val="E10514"/>
              </a:buClr>
              <a:buFont typeface="Arial"/>
              <a:buChar char="•"/>
            </a:pPr>
            <a:r>
              <a:rPr sz="1500" b="0" i="0">
                <a:solidFill>
                  <a:srgbClr val="1E1E1E"/>
                </a:solidFill>
                <a:latin typeface="Calibri"/>
              </a:rPr>
              <a:t>Pilot: şube kanalı, KRDTKULL ve ODMTFATR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Ekler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11</a:t>
            </a:r>
          </a:p>
        </p:txBody>
      </p:sp>
      <p:sp>
        <p:nvSpPr>
          <p:cNvPr id="6" name="Oval 5"/>
          <p:cNvSpPr/>
          <p:nvPr/>
        </p:nvSpPr>
        <p:spPr>
          <a:xfrm>
            <a:off x="548640" y="1371600"/>
            <a:ext cx="731520" cy="731520"/>
          </a:xfrm>
          <a:prstGeom prst="ellipse">
            <a:avLst/>
          </a:prstGeom>
          <a:solidFill>
            <a:srgbClr val="B90F0A"/>
          </a:solidFill>
          <a:ln>
            <a:noFill/>
          </a:ln>
          <a:effectLst/>
        </p:spPr>
        <p:txBody>
          <a:bodyPr rtlCol="0" anchor="ctr"/>
          <a:lstStyle/>
          <a:p/>
        </p:txBody>
      </p:sp>
      <p:pic>
        <p:nvPicPr>
          <p:cNvPr id="7" name="Picture 6" descr="github-w.png"/>
          <p:cNvPicPr>
            <a:picLocks noChangeAspect="1"/>
          </p:cNvPicPr>
          <p:nvPr/>
        </p:nvPicPr>
        <p:blipFill>
          <a:blip r:embed="rId3"/>
          <a:stretch>
            <a:fillRect/>
          </a:stretch>
        </p:blipFill>
        <p:spPr>
          <a:xfrm>
            <a:off x="731520" y="1554480"/>
            <a:ext cx="365760" cy="365760"/>
          </a:xfrm>
          <a:prstGeom prst="rect">
            <a:avLst/>
          </a:prstGeom>
        </p:spPr>
      </p:pic>
      <p:sp>
        <p:nvSpPr>
          <p:cNvPr id="8" name="TextBox 7"/>
          <p:cNvSpPr txBox="1"/>
          <p:nvPr/>
        </p:nvSpPr>
        <p:spPr>
          <a:xfrm>
            <a:off x="1508760" y="135331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GitHub repository</a:t>
            </a:r>
          </a:p>
          <a:p>
            <a:pPr algn="l">
              <a:spcAft>
                <a:spcPts val="200"/>
              </a:spcAft>
            </a:pPr>
            <a:r>
              <a:rPr sz="1600" b="0" i="0">
                <a:solidFill>
                  <a:srgbClr val="E10514"/>
                </a:solidFill>
                <a:latin typeface="Calibri"/>
              </a:rPr>
              <a:t>[repo bağlantısı]</a:t>
            </a:r>
          </a:p>
        </p:txBody>
      </p:sp>
      <p:sp>
        <p:nvSpPr>
          <p:cNvPr id="9" name="Oval 8"/>
          <p:cNvSpPr/>
          <p:nvPr/>
        </p:nvSpPr>
        <p:spPr>
          <a:xfrm>
            <a:off x="548640" y="2468880"/>
            <a:ext cx="731520" cy="731520"/>
          </a:xfrm>
          <a:prstGeom prst="ellipse">
            <a:avLst/>
          </a:prstGeom>
          <a:solidFill>
            <a:srgbClr val="B90F0A"/>
          </a:solidFill>
          <a:ln>
            <a:noFill/>
          </a:ln>
          <a:effectLst/>
        </p:spPr>
        <p:txBody>
          <a:bodyPr rtlCol="0" anchor="ctr"/>
          <a:lstStyle/>
          <a:p/>
        </p:txBody>
      </p:sp>
      <p:pic>
        <p:nvPicPr>
          <p:cNvPr id="10" name="Picture 9" descr="globe-w.png"/>
          <p:cNvPicPr>
            <a:picLocks noChangeAspect="1"/>
          </p:cNvPicPr>
          <p:nvPr/>
        </p:nvPicPr>
        <p:blipFill>
          <a:blip r:embed="rId4"/>
          <a:stretch>
            <a:fillRect/>
          </a:stretch>
        </p:blipFill>
        <p:spPr>
          <a:xfrm>
            <a:off x="731520" y="2651760"/>
            <a:ext cx="365760" cy="365760"/>
          </a:xfrm>
          <a:prstGeom prst="rect">
            <a:avLst/>
          </a:prstGeom>
        </p:spPr>
      </p:pic>
      <p:sp>
        <p:nvSpPr>
          <p:cNvPr id="11" name="TextBox 10"/>
          <p:cNvSpPr txBox="1"/>
          <p:nvPr/>
        </p:nvSpPr>
        <p:spPr>
          <a:xfrm>
            <a:off x="1508760" y="245059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Web uygulaması</a:t>
            </a:r>
          </a:p>
          <a:p>
            <a:pPr algn="l">
              <a:spcAft>
                <a:spcPts val="200"/>
              </a:spcAft>
            </a:pPr>
            <a:r>
              <a:rPr sz="1600" b="0" i="0">
                <a:solidFill>
                  <a:srgbClr val="E10514"/>
                </a:solidFill>
                <a:latin typeface="Calibri"/>
              </a:rPr>
              <a:t>[mercek-web adresi]</a:t>
            </a:r>
          </a:p>
        </p:txBody>
      </p:sp>
      <p:sp>
        <p:nvSpPr>
          <p:cNvPr id="12" name="Oval 11"/>
          <p:cNvSpPr/>
          <p:nvPr/>
        </p:nvSpPr>
        <p:spPr>
          <a:xfrm>
            <a:off x="548640" y="3566160"/>
            <a:ext cx="731520" cy="731520"/>
          </a:xfrm>
          <a:prstGeom prst="ellipse">
            <a:avLst/>
          </a:prstGeom>
          <a:solidFill>
            <a:srgbClr val="B90F0A"/>
          </a:solidFill>
          <a:ln>
            <a:noFill/>
          </a:ln>
          <a:effectLst/>
        </p:spPr>
        <p:txBody>
          <a:bodyPr rtlCol="0" anchor="ctr"/>
          <a:lstStyle/>
          <a:p/>
        </p:txBody>
      </p:sp>
      <p:pic>
        <p:nvPicPr>
          <p:cNvPr id="13" name="Picture 12" descr="video-w.png"/>
          <p:cNvPicPr>
            <a:picLocks noChangeAspect="1"/>
          </p:cNvPicPr>
          <p:nvPr/>
        </p:nvPicPr>
        <p:blipFill>
          <a:blip r:embed="rId5"/>
          <a:stretch>
            <a:fillRect/>
          </a:stretch>
        </p:blipFill>
        <p:spPr>
          <a:xfrm>
            <a:off x="731520" y="3749039"/>
            <a:ext cx="365760" cy="365760"/>
          </a:xfrm>
          <a:prstGeom prst="rect">
            <a:avLst/>
          </a:prstGeom>
        </p:spPr>
      </p:pic>
      <p:sp>
        <p:nvSpPr>
          <p:cNvPr id="14" name="TextBox 13"/>
          <p:cNvSpPr txBox="1"/>
          <p:nvPr/>
        </p:nvSpPr>
        <p:spPr>
          <a:xfrm>
            <a:off x="1508760" y="354787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Senaryo videoları</a:t>
            </a:r>
          </a:p>
          <a:p>
            <a:pPr algn="l">
              <a:spcAft>
                <a:spcPts val="200"/>
              </a:spcAft>
            </a:pPr>
            <a:r>
              <a:rPr sz="1600" b="0" i="0">
                <a:solidFill>
                  <a:srgbClr val="E10514"/>
                </a:solidFill>
                <a:latin typeface="Calibri"/>
              </a:rPr>
              <a:t>[video bağlantısı]</a:t>
            </a:r>
          </a:p>
        </p:txBody>
      </p:sp>
      <p:pic>
        <p:nvPicPr>
          <p:cNvPr id="15" name="Picture 14" descr="mercek-logo.png"/>
          <p:cNvPicPr>
            <a:picLocks noChangeAspect="1"/>
          </p:cNvPicPr>
          <p:nvPr/>
        </p:nvPicPr>
        <p:blipFill>
          <a:blip r:embed="rId6"/>
          <a:stretch>
            <a:fillRect/>
          </a:stretch>
        </p:blipFill>
        <p:spPr>
          <a:xfrm>
            <a:off x="7726679" y="1143000"/>
            <a:ext cx="3017520" cy="3017520"/>
          </a:xfrm>
          <a:prstGeom prst="rect">
            <a:avLst/>
          </a:prstGeom>
        </p:spPr>
      </p:pic>
      <p:sp>
        <p:nvSpPr>
          <p:cNvPr id="16" name="TextBox 15"/>
          <p:cNvSpPr txBox="1"/>
          <p:nvPr/>
        </p:nvSpPr>
        <p:spPr>
          <a:xfrm>
            <a:off x="6949440" y="4434840"/>
            <a:ext cx="4572000" cy="914400"/>
          </a:xfrm>
          <a:prstGeom prst="rect">
            <a:avLst/>
          </a:prstGeom>
          <a:noFill/>
        </p:spPr>
        <p:txBody>
          <a:bodyPr wrap="square" anchor="t" lIns="0" rIns="0" tIns="0" bIns="0">
            <a:spAutoFit/>
          </a:bodyPr>
          <a:lstStyle/>
          <a:p>
            <a:pPr algn="ctr">
              <a:spcAft>
                <a:spcPts val="400"/>
              </a:spcAft>
            </a:pPr>
            <a:r>
              <a:rPr sz="3200" b="1" i="0">
                <a:solidFill>
                  <a:srgbClr val="1E1E1E"/>
                </a:solidFill>
                <a:latin typeface="Calibri"/>
              </a:rPr>
              <a:t>MERCEK</a:t>
            </a:r>
          </a:p>
          <a:p>
            <a:pPr algn="ctr">
              <a:spcAft>
                <a:spcPts val="400"/>
              </a:spcAft>
            </a:pPr>
            <a:r>
              <a:rPr sz="1800" b="0" i="1">
                <a:solidFill>
                  <a:srgbClr val="B90F0A"/>
                </a:solidFill>
                <a:latin typeface="Calibri"/>
              </a:rPr>
              <a:t>Soruna odaklanır, çözümü netleştirir.</a:t>
            </a:r>
          </a:p>
        </p:txBody>
      </p:sp>
      <p:sp>
        <p:nvSpPr>
          <p:cNvPr id="17" name="TextBox 16"/>
          <p:cNvSpPr txBox="1"/>
          <p:nvPr/>
        </p:nvSpPr>
        <p:spPr>
          <a:xfrm>
            <a:off x="548640" y="4937760"/>
            <a:ext cx="10972800" cy="457200"/>
          </a:xfrm>
          <a:prstGeom prst="rect">
            <a:avLst/>
          </a:prstGeom>
          <a:noFill/>
        </p:spPr>
        <p:txBody>
          <a:bodyPr wrap="square" anchor="t" lIns="0" rIns="0" tIns="0" bIns="0">
            <a:spAutoFit/>
          </a:bodyPr>
          <a:lstStyle/>
          <a:p>
            <a:pPr algn="l">
              <a:spcAft>
                <a:spcPts val="400"/>
              </a:spcAft>
            </a:pPr>
            <a:r>
              <a:rPr sz="2000" b="1" i="0">
                <a:solidFill>
                  <a:srgbClr val="B90F0A"/>
                </a:solidFill>
                <a:latin typeface="Calibri"/>
              </a:rPr>
              <a:t>Teşekkürler · AI Overflow</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7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12&quot;&gt;&lt;elem m_fUsage=&quot;6.75167633144312073767E+00&quot;&gt;&lt;m_msothmcolidx val=&quot;0&quot;/&gt;&lt;m_rgb r=&quot;E1&quot; g=&quot;05&quot; b=&quot;14&quot;/&gt;&lt;m_nBrightness val=&quot;0&quot;/&gt;&lt;/elem&gt;&lt;elem m_fUsage=&quot;1.45937761194624893157E+00&quot;&gt;&lt;m_msothmcolidx val=&quot;0&quot;/&gt;&lt;m_rgb r=&quot;00&quot; g=&quot;B0&quot; b=&quot;50&quot;/&gt;&lt;m_nBrightness val=&quot;0&quot;/&gt;&lt;/elem&gt;&lt;elem m_fUsage=&quot;1.27632002757554285921E+00&quot;&gt;&lt;m_msothmcolidx val=&quot;0&quot;/&gt;&lt;m_rgb r=&quot;E6&quot; g=&quot;A8&quot; b=&quot;26&quot;/&gt;&lt;m_nBrightness val=&quot;0&quot;/&gt;&lt;/elem&gt;&lt;elem m_fUsage=&quot;2.28951097719494012228E-01&quot;&gt;&lt;m_msothmcolidx val=&quot;0&quot;/&gt;&lt;m_rgb r=&quot;C0&quot; g=&quot;00&quot; b=&quot;00&quot;/&gt;&lt;m_nBrightness val=&quot;0&quot;/&gt;&lt;/elem&gt;&lt;elem m_fUsage=&quot;1.22629232194560094937E-01&quot;&gt;&lt;m_msothmcolidx val=&quot;0&quot;/&gt;&lt;m_rgb r=&quot;12&quot; g=&quot;8E&quot; b=&quot;EB&quot;/&gt;&lt;m_nBrightness val=&quot;0&quot;/&gt;&lt;/elem&gt;&lt;elem m_fUsage=&quot;1.13496234317806241054E-01&quot;&gt;&lt;m_msothmcolidx val=&quot;0&quot;/&gt;&lt;m_rgb r=&quot;70&quot; g=&quot;E0&quot; b=&quot;2C&quot;/&gt;&lt;m_nBrightness val=&quot;0&quot;/&gt;&lt;/elem&gt;&lt;elem m_fUsage=&quot;4.10177351476903456762E-02&quot;&gt;&lt;m_msothmcolidx val=&quot;0&quot;/&gt;&lt;m_rgb r=&quot;10&quot; g=&quot;09&quot; b=&quot;9B&quot;/&gt;&lt;m_nBrightness val=&quot;0&quot;/&gt;&lt;/elem&gt;&lt;elem m_fUsage=&quot;3.97557662666475717522E-03&quot;&gt;&lt;m_msothmcolidx val=&quot;0&quot;/&gt;&lt;m_rgb r=&quot;EA&quot; g=&quot;2D&quot; b=&quot;0B&quot;/&gt;&lt;m_nBrightness val=&quot;0&quot;/&gt;&lt;/elem&gt;&lt;elem m_fUsage=&quot;2.50147009437863034054E-03&quot;&gt;&lt;m_msothmcolidx val=&quot;0&quot;/&gt;&lt;m_rgb r=&quot;33&quot; g=&quot;88&quot; b=&quot;40&quot;/&gt;&lt;m_nBrightness val=&quot;0&quot;/&gt;&lt;/elem&gt;&lt;elem m_fUsage=&quot;2.65613988875875437802E-05&quot;&gt;&lt;m_msothmcolidx val=&quot;0&quot;/&gt;&lt;m_rgb r=&quot;93&quot; g=&quot;77&quot; b=&quot;95&quot;/&gt;&lt;m_nBrightness val=&quot;0&quot;/&gt;&lt;/elem&gt;&lt;elem m_fUsage=&quot;1.95845728732013649631E-05&quot;&gt;&lt;m_msothmcolidx val=&quot;0&quot;/&gt;&lt;m_rgb r=&quot;02&quot; g=&quot;7D&quot; b=&quot;27&quot;/&gt;&lt;m_nBrightness val=&quot;0&quot;/&gt;&lt;/elem&gt;&lt;elem m_fUsage=&quot;4.61095345797014455319E-06&quot;&gt;&lt;m_msothmcolidx val=&quot;0&quot;/&gt;&lt;m_rgb r=&quot;39&quot; g=&quot;D6&quot; b=&quot;F7&quot;/&gt;&lt;m_nBrightness val=&quot;0&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7f2a2c318ea48f8bf2be12c7bb49163 xmlns="872b0e65-a850-4256-91a8-a543885a32f9">
      <Terms xmlns="http://schemas.microsoft.com/office/infopath/2007/PartnerControls"/>
    </d7f2a2c318ea48f8bf2be12c7bb49163>
    <TaxCatchAll xmlns="872b0e65-a850-4256-91a8-a543885a32f9"/>
  </documentManagement>
</p:properties>
</file>

<file path=customXml/item2.xml><?xml version="1.0" encoding="utf-8"?>
<ct:contentTypeSchema xmlns:ct="http://schemas.microsoft.com/office/2006/metadata/contentType" xmlns:ma="http://schemas.microsoft.com/office/2006/metadata/properties/metaAttributes" ct:_="" ma:_="" ma:contentTypeName="Belge" ma:contentTypeID="0x0101007FDE9DE898099B47AD53ECDD9E193140" ma:contentTypeVersion="4" ma:contentTypeDescription="Yeni belge oluşturun." ma:contentTypeScope="" ma:versionID="b70f0c76d93e25033cf4db8f120587fe">
  <xsd:schema xmlns:xsd="http://www.w3.org/2001/XMLSchema" xmlns:xs="http://www.w3.org/2001/XMLSchema" xmlns:p="http://schemas.microsoft.com/office/2006/metadata/properties" xmlns:ns2="872b0e65-a850-4256-91a8-a543885a32f9" targetNamespace="http://schemas.microsoft.com/office/2006/metadata/properties" ma:root="true" ma:fieldsID="dced2f8ce83e1d5451651c4c1899820e" ns2:_="">
    <xsd:import namespace="872b0e65-a850-4256-91a8-a543885a32f9"/>
    <xsd:element name="properties">
      <xsd:complexType>
        <xsd:sequence>
          <xsd:element name="documentManagement">
            <xsd:complexType>
              <xsd:all>
                <xsd:element ref="ns2:d7f2a2c318ea48f8bf2be12c7bb49163" minOccurs="0"/>
                <xsd:element ref="ns2: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72b0e65-a850-4256-91a8-a543885a32f9" elementFormDefault="qualified">
    <xsd:import namespace="http://schemas.microsoft.com/office/2006/documentManagement/types"/>
    <xsd:import namespace="http://schemas.microsoft.com/office/infopath/2007/PartnerControls"/>
    <xsd:element name="d7f2a2c318ea48f8bf2be12c7bb49163" ma:index="9" nillable="true" ma:taxonomy="true" ma:internalName="d7f2a2c318ea48f8bf2be12c7bb49163" ma:taxonomyFieldName="DokumanEtiketleri" ma:displayName="Doküman Etiketi" ma:default="" ma:fieldId="{d7f2a2c3-18ea-48f8-bf2b-e12c7bb49163}" ma:taxonomyMulti="true" ma:sspId="9d946acd-f3a8-48c7-babb-734644f09d3c" ma:termSetId="5a1bfb8a-42d9-4784-bb29-cd70e36b4b18" ma:anchorId="00000000-0000-0000-0000-000000000000" ma:open="false" ma:isKeyword="false">
      <xsd:complexType>
        <xsd:sequence>
          <xsd:element ref="pc:Terms" minOccurs="0" maxOccurs="1"/>
        </xsd:sequence>
      </xsd:complexType>
    </xsd:element>
    <xsd:element name="TaxCatchAll" ma:index="10" nillable="true" ma:displayName="Taxonomy Catch All Column" ma:hidden="true" ma:list="{27ac4545-5272-484c-bb21-a940ae5d9a4e}" ma:internalName="TaxCatchAll" ma:showField="CatchAllData" ma:web="872b0e65-a850-4256-91a8-a543885a32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çerik Türü"/>
        <xsd:element ref="dc:title" minOccurs="0" maxOccurs="1" ma:index="4" ma:displayName="Başlı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576518-83F3-4DEE-BF44-94473B43FD62}">
  <ds:schemaRefs>
    <ds:schemaRef ds:uri="http://schemas.microsoft.com/office/infopath/2007/PartnerControls"/>
    <ds:schemaRef ds:uri="http://purl.org/dc/terms/"/>
    <ds:schemaRef ds:uri="http://schemas.microsoft.com/office/2006/documentManagement/types"/>
    <ds:schemaRef ds:uri="http://purl.org/dc/dcmitype/"/>
    <ds:schemaRef ds:uri="872b0e65-a850-4256-91a8-a543885a32f9"/>
    <ds:schemaRef ds:uri="http://schemas.openxmlformats.org/package/2006/metadata/core-properties"/>
    <ds:schemaRef ds:uri="http://purl.org/dc/elements/1.1/"/>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478170A8-355B-4F3A-8ADC-EE20A1FFDB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72b0e65-a850-4256-91a8-a543885a32f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B5AB58-5B87-4770-808D-12108CC49C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16465</TotalTime>
  <Words>1060</Words>
  <Application>Microsoft Office PowerPoint</Application>
  <PresentationFormat>Widescreen</PresentationFormat>
  <Paragraphs>275</Paragraphs>
  <Slides>24</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24</vt:i4>
      </vt:variant>
    </vt:vector>
  </HeadingPairs>
  <TitlesOfParts>
    <vt:vector size="36" baseType="lpstr">
      <vt:lpstr>Amatic SC</vt:lpstr>
      <vt:lpstr>Arial</vt:lpstr>
      <vt:lpstr>Calibri</vt:lpstr>
      <vt:lpstr>Calibri Light</vt:lpstr>
      <vt:lpstr>Gabriola</vt:lpstr>
      <vt:lpstr>Helvetica</vt:lpstr>
      <vt:lpstr>Roboto Medium</vt:lpstr>
      <vt:lpstr>Tahoma</vt:lpstr>
      <vt:lpstr>Wingdings</vt:lpstr>
      <vt:lpstr>Office Teması</vt:lpstr>
      <vt:lpstr>think-cell Slide</vt:lpstr>
      <vt:lpstr>Çizelge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SEO &amp; Marketing Icons</vt:lpstr>
    </vt:vector>
  </TitlesOfParts>
  <Company>T.C. Ziraat Bankası A.Ş.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Mustafa Alper Aydın (Kurumsal Mimari Grup Başkanlığı)</dc:creator>
  <cp:lastModifiedBy>Elif EREN GÜRSOY (Dijital Bankacılık Portföy)</cp:lastModifiedBy>
  <cp:revision>678</cp:revision>
  <cp:lastPrinted>2017-10-06T11:42:26Z</cp:lastPrinted>
  <dcterms:created xsi:type="dcterms:W3CDTF">2017-01-25T08:39:48Z</dcterms:created>
  <dcterms:modified xsi:type="dcterms:W3CDTF">2025-10-03T13:04:48Z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0x0101007FDE9DE898099B47AD53ECDD9E193140</vt:lpwstr>
  </property>
  <property fmtid="{D5CDD505-2E9C-101B-9397-08002B2CF9AE}" pid="3" name="DokumanEtiketleri">
    <vt:lpwstr/>
  </property>
</Properties>
</file>